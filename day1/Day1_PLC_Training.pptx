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685800" cy="685800"/>
          </a:xfrm>
          <a:prstGeom prst="rect">
            <a:avLst/>
          </a:prstGeom>
          <a:solidFill>
            <a:srgbClr val="2A2F35"/>
          </a:solidFill>
          <a:ln w="12700">
            <a:solidFill>
              <a:srgbClr val="3338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1005840"/>
            <a:ext cx="685800" cy="685800"/>
          </a:xfrm>
          <a:prstGeom prst="rect">
            <a:avLst/>
          </a:prstGeom>
          <a:solidFill>
            <a:srgbClr val="2A2F35"/>
          </a:solidFill>
          <a:ln w="12700">
            <a:solidFill>
              <a:srgbClr val="3338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1005840"/>
            <a:ext cx="685800" cy="685800"/>
          </a:xfrm>
          <a:prstGeom prst="rect">
            <a:avLst/>
          </a:prstGeom>
          <a:solidFill>
            <a:srgbClr val="2A2F35"/>
          </a:solidFill>
          <a:ln w="12700">
            <a:solidFill>
              <a:srgbClr val="3338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1965960"/>
            <a:ext cx="685800" cy="685800"/>
          </a:xfrm>
          <a:prstGeom prst="rect">
            <a:avLst/>
          </a:prstGeom>
          <a:solidFill>
            <a:srgbClr val="2A2F35"/>
          </a:solidFill>
          <a:ln w="12700">
            <a:solidFill>
              <a:srgbClr val="3338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1965960"/>
            <a:ext cx="685800" cy="685800"/>
          </a:xfrm>
          <a:prstGeom prst="rect">
            <a:avLst/>
          </a:prstGeom>
          <a:solidFill>
            <a:srgbClr val="2A2F35"/>
          </a:solidFill>
          <a:ln w="12700">
            <a:solidFill>
              <a:srgbClr val="3338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0" y="1965960"/>
            <a:ext cx="685800" cy="685800"/>
          </a:xfrm>
          <a:prstGeom prst="rect">
            <a:avLst/>
          </a:prstGeom>
          <a:solidFill>
            <a:srgbClr val="2A2F35"/>
          </a:solidFill>
          <a:ln w="12700">
            <a:solidFill>
              <a:srgbClr val="333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1005840"/>
            <a:ext cx="685800" cy="685800"/>
          </a:xfrm>
          <a:prstGeom prst="rect">
            <a:avLst/>
          </a:prstGeom>
          <a:solidFill>
            <a:srgbClr val="1C8C99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0" y="1965960"/>
            <a:ext cx="685800" cy="6858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TRAINING PROGRAM  ·  5-DAY INDUSTRIAL AUTOMATION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96596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Foundations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Instructor Teaching Material — Technical Edition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29260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776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9776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017520" y="4572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blocks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39776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394960" y="4572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conventions covered: IEC 61131-3 generic (%I/%Q/%M) · Allen-Bradley tag-based · Siemens (I/Q/M)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Blocks, 210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23272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1965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Basics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architecture, why it replaced relay panels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83794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A2F3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3794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69164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23272C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1920240"/>
            <a:ext cx="502920" cy="50292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12280" y="181965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Hardware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12280" y="214884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power supply, input &amp; output modules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966960" y="183794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A2F35"/>
          </a:solidFill>
          <a:ln/>
        </p:spPr>
      </p:sp>
      <p:sp>
        <p:nvSpPr>
          <p:cNvPr id="17" name="Text 15"/>
          <p:cNvSpPr/>
          <p:nvPr/>
        </p:nvSpPr>
        <p:spPr>
          <a:xfrm>
            <a:off x="9966960" y="183794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23272C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319125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Scan Cycle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352044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scan → logic solve → output update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320954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A2F3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20954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306324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23272C"/>
          </a:solidFill>
          <a:ln/>
        </p:spPr>
      </p:sp>
      <p:sp>
        <p:nvSpPr>
          <p:cNvPr id="26" name="Shape 24"/>
          <p:cNvSpPr/>
          <p:nvPr/>
        </p:nvSpPr>
        <p:spPr>
          <a:xfrm>
            <a:off x="6172200" y="329184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12280" y="319125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 + NO/NC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12280" y="352044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Wiring, live monitoring, fail-safe contacts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966960" y="320954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A2F35"/>
          </a:solidFill>
          <a:ln/>
        </p:spPr>
      </p:sp>
      <p:sp>
        <p:nvSpPr>
          <p:cNvPr id="31" name="Text 29"/>
          <p:cNvSpPr/>
          <p:nvPr/>
        </p:nvSpPr>
        <p:spPr>
          <a:xfrm>
            <a:off x="9966960" y="320954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43484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23272C"/>
          </a:solidFill>
          <a:ln/>
        </p:spPr>
      </p:sp>
      <p:sp>
        <p:nvSpPr>
          <p:cNvPr id="33" name="Shape 31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417320" y="456285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Logic + Tag Naming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417320" y="489204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Rungs, AND/OR/NOT, symbolic addressing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0" y="458114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A2F35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0" y="458114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43600" y="443484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23272C"/>
          </a:solidFill>
          <a:ln/>
        </p:spPr>
      </p:sp>
      <p:sp>
        <p:nvSpPr>
          <p:cNvPr id="40" name="Shape 38"/>
          <p:cNvSpPr/>
          <p:nvPr/>
        </p:nvSpPr>
        <p:spPr>
          <a:xfrm>
            <a:off x="6172200" y="4663440"/>
            <a:ext cx="502920" cy="502920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812280" y="456285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Project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812280" y="489204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start/stop with seal-in circuit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966960" y="458114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A2F35"/>
          </a:solidFill>
          <a:ln/>
        </p:spPr>
      </p:sp>
      <p:sp>
        <p:nvSpPr>
          <p:cNvPr id="45" name="Text 43"/>
          <p:cNvSpPr/>
          <p:nvPr/>
        </p:nvSpPr>
        <p:spPr>
          <a:xfrm>
            <a:off x="9966960" y="458114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PLC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PLC Actually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73152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A2F35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731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23272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industrial computer executing a single control program in a deterministic, cyclic loop — reading digital/analog inputs and driving digital/analog outputs each cycle.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120640" cy="2651760"/>
          </a:xfrm>
          <a:prstGeom prst="roundRect">
            <a:avLst>
              <a:gd name="adj" fmla="val 2069"/>
            </a:avLst>
          </a:prstGeom>
          <a:solidFill>
            <a:srgbClr val="23272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PLC is not a general-purpose multitasking OS. It runs one control program in a tight, predictable, repeating loop — hardened against vibration, temperature extremes, and electrical noise via galvanic isolation and conformal-coated boards. A general-purpose PC is not designed or certified for this environment.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01168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2A2F35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084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450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24V DC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201168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C8C99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2084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92440" y="2450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backplane bus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324612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2A2F35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3192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Modules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0" y="3685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wiring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92440" y="324612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2A2F35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33192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Modules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92440" y="3685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 / lamps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95160" y="2788920"/>
            <a:ext cx="0" cy="457200"/>
          </a:xfrm>
          <a:prstGeom prst="line">
            <a:avLst/>
          </a:prstGeom>
          <a:noFill/>
          <a:ln w="19050">
            <a:solidFill>
              <a:srgbClr val="9AA2A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052560" y="2788920"/>
            <a:ext cx="0" cy="457200"/>
          </a:xfrm>
          <a:prstGeom prst="line">
            <a:avLst/>
          </a:prstGeom>
          <a:noFill/>
          <a:ln w="19050">
            <a:solidFill>
              <a:srgbClr val="9AA2AB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35040" y="4206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sensors / switches </a:t>
            </a:r>
            <a:pPr indent="0" marL="0">
              <a:buNone/>
            </a:pPr>
            <a:r>
              <a:rPr lang="en-US" sz="105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input terminals
</a:t>
            </a:r>
            <a:pPr indent="0" marL="0">
              <a:buNone/>
            </a:pPr>
            <a:r>
              <a:rPr lang="en-US" sz="105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terminals </a:t>
            </a:r>
            <a:pPr indent="0" marL="0">
              <a:buNone/>
            </a:pPr>
            <a:r>
              <a:rPr lang="en-US" sz="105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actuators / motors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4892040"/>
            <a:ext cx="5532120" cy="1051560"/>
          </a:xfrm>
          <a:prstGeom prst="roundRect">
            <a:avLst>
              <a:gd name="adj" fmla="val 5217"/>
            </a:avLst>
          </a:prstGeom>
          <a:solidFill>
            <a:srgbClr val="23272C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501091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replaced relay panels: relay logic lives in physical wiring — re-wiring a rack for new logic. A PLC's CPU executes the same logic as stored program instructions against an I/O image table in RAM; only the program changes, downloadable in minutes.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PLC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&amp; Where PLCs Show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126480" cy="658368"/>
          </a:xfrm>
          <a:prstGeom prst="roundRect">
            <a:avLst>
              <a:gd name="adj" fmla="val 6944"/>
            </a:avLst>
          </a:prstGeom>
          <a:solidFill>
            <a:srgbClr val="23272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14600" y="169164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signal (digital or analog) read into the CPU's input image table each scan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6126480" cy="658368"/>
          </a:xfrm>
          <a:prstGeom prst="roundRect">
            <a:avLst>
              <a:gd name="adj" fmla="val 6944"/>
            </a:avLst>
          </a:prstGeom>
          <a:solidFill>
            <a:srgbClr val="23272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14600" y="24688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signal written from the CPU's output image table to a physical terminal each scan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6126480" cy="658368"/>
          </a:xfrm>
          <a:prstGeom prst="roundRect">
            <a:avLst>
              <a:gd name="adj" fmla="val 6944"/>
            </a:avLst>
          </a:prstGeom>
          <a:solidFill>
            <a:srgbClr val="23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461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/ Logic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324612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stored instructions (ladder, structured text, function block) solved each scan against the frozen input image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6126480" cy="658368"/>
          </a:xfrm>
          <a:prstGeom prst="roundRect">
            <a:avLst>
              <a:gd name="adj" fmla="val 6944"/>
            </a:avLst>
          </a:prstGeom>
          <a:solidFill>
            <a:srgbClr val="23272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2336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402336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input-scan / logic-solve / output-update cycle — unpacked fully in Block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2057400"/>
            <a:ext cx="146304" cy="146304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belts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0" y="227685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Start/stop, jam detection via timed no-motion on a speed sensor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40880" y="3017520"/>
            <a:ext cx="146304" cy="146304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lines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0" y="323697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/ seal / count cycles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40880" y="3977640"/>
            <a:ext cx="146304" cy="146304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0" y="419709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sequencing with door interlocks — previews today's interlocking logic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40880" y="4937760"/>
            <a:ext cx="146304" cy="146304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4846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0" y="515721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State-sequenced timing — the full subject of Day 2's project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PLC HARDWARE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&amp; Power Supply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73152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A2F35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731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 converts mains AC (100–240V, 50/60Hz) to 24V DC — the near-universal standard for PLC I/O-side power.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24V DC, SPECIFICALLY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23272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16352"/>
            <a:ext cx="411480" cy="41148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margin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6393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enough that accidental contact is not lethal under normal conditions, versus mains voltage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260604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23272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2816352"/>
            <a:ext cx="411480" cy="41148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33101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standard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36393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24V DC sensor from one vendor plugs directly into a PLC input module from any other vendor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260604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23272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75320" y="2816352"/>
            <a:ext cx="411480" cy="41148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33101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tolerance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75320" y="36393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Voltage-drop issues stay manageable at typical field run lengths, unlike lower voltages such as 5V/12V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0835640" cy="1371600"/>
          </a:xfrm>
          <a:prstGeom prst="roundRect">
            <a:avLst>
              <a:gd name="adj" fmla="val 4000"/>
            </a:avLst>
          </a:prstGeom>
          <a:solidFill>
            <a:srgbClr val="23272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736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EXECUTION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50292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input-scan / logic-solve / output-update loop (full detail in Block 3), and typically exposes onboard diagnostic LEDs: RUN, STOP, FAULT, FORCE.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4800600"/>
            <a:ext cx="164592" cy="164592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4754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92640" y="4800600"/>
            <a:ext cx="164592" cy="164592"/>
          </a:xfrm>
          <a:prstGeom prst="ellipse">
            <a:avLst/>
          </a:prstGeom>
          <a:solidFill>
            <a:srgbClr val="9AA2AB"/>
          </a:solidFill>
          <a:ln/>
        </p:spPr>
      </p:sp>
      <p:sp>
        <p:nvSpPr>
          <p:cNvPr id="29" name="Text 27"/>
          <p:cNvSpPr/>
          <p:nvPr/>
        </p:nvSpPr>
        <p:spPr>
          <a:xfrm>
            <a:off x="9966960" y="4754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5303520"/>
            <a:ext cx="164592" cy="164592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52578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FAULT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92640" y="5303520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3" name="Text 31"/>
          <p:cNvSpPr/>
          <p:nvPr/>
        </p:nvSpPr>
        <p:spPr>
          <a:xfrm>
            <a:off x="9966960" y="52578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PLC HARDWARE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Modules — Reading the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2743200"/>
          </a:xfrm>
          <a:prstGeom prst="roundRect">
            <a:avLst>
              <a:gd name="adj" fmla="val 2000"/>
            </a:avLst>
          </a:prstGeom>
          <a:solidFill>
            <a:srgbClr val="2327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THRESHOLDS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input module reads 24V DC at a terminal as logic “1” (true); 0V, or below a defined threshold, as logic “0.”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5394960" cy="320040"/>
          </a:xfrm>
          <a:prstGeom prst="rect">
            <a:avLst/>
          </a:prstGeom>
          <a:solidFill>
            <a:srgbClr val="2A2F35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743200"/>
            <a:ext cx="1554480" cy="320040"/>
          </a:xfrm>
          <a:prstGeom prst="rect">
            <a:avLst/>
          </a:prstGeom>
          <a:solidFill>
            <a:srgbClr val="3A3F45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0" y="2743200"/>
            <a:ext cx="2377440" cy="320040"/>
          </a:xfrm>
          <a:prstGeom prst="rect">
            <a:avLst/>
          </a:prstGeom>
          <a:solidFill>
            <a:srgbClr val="4CC38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~0-5V = “0”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0" y="3108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~15-24V = “1”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threshold-based reading — not a clean binary switch — is why proper wiring practice matters: a marginal voltage from a poor connection can produce unreliable, chattering logic state.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23272C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7373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HAS NO WIRING AWARENESS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214884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reports raw voltage-derived state — it has no knowledge of whether that terminal is wired to a Normally Open or Normally Closed field switch. That interpretation is entirely a function of field wiring choice (Block 4d) plus how the programmer writes the logic against that bit.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0835640" cy="1417320"/>
          </a:xfrm>
          <a:prstGeom prst="roundRect">
            <a:avLst>
              <a:gd name="adj" fmla="val 3871"/>
            </a:avLst>
          </a:prstGeom>
          <a:solidFill>
            <a:srgbClr val="2A2F3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45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VS. ANALOG — NAME ONLY TODAY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inputs read a continuous voltage/current range rather than a two-state signal. Full coverage on Day 3.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PLC HARDWARE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Modules — Three Types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0835640" cy="2286000"/>
        </p:xfrm>
        <a:graphic>
          <a:graphicData uri="http://schemas.openxmlformats.org/drawingml/2006/table">
            <a:tbl>
              <a:tblPr/>
              <a:tblGrid>
                <a:gridCol w="1554480"/>
                <a:gridCol w="1508760"/>
                <a:gridCol w="2011680"/>
                <a:gridCol w="2606040"/>
                <a:gridCol w="315468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8C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8C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8C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8C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8C9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or DC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(ms, mechanical)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Electromechanical contact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Robust, galvanically isolates PLC from load; finite mechanical life (~10^5-10^6 cycles)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Transistor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(µs-ms)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Solid-state switching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mechanical wear, suited to high-frequency switching (PWM-style); cannot switch 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solid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Solid-state AC switching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for lamps/solenoids on AC circuits, no mechanical wear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14800"/>
            <a:ext cx="10835640" cy="1828800"/>
          </a:xfrm>
          <a:prstGeom prst="roundRect">
            <a:avLst>
              <a:gd name="adj" fmla="val 3000"/>
            </a:avLst>
          </a:prstGeom>
          <a:solidFill>
            <a:srgbClr val="2A2F35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461772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spec sheet says “transistor output module,” that module physically cannot drive an AC contactor coil. Attempting to do so does not simply fail safely — it can damage the output stage. Module type must match the load's electrical requirements before wiring, not after.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PLC SCAN 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That Explains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73152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A2F35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731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429000" cy="2148840"/>
          </a:xfrm>
          <a:prstGeom prst="roundRect">
            <a:avLst>
              <a:gd name="adj" fmla="val 2553"/>
            </a:avLst>
          </a:prstGeom>
          <a:solidFill>
            <a:srgbClr val="23272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8105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physical input terminals, latch values into Input Image Table (IIT). Frozen until next cycle.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23360" y="2651760"/>
            <a:ext cx="228600" cy="0"/>
          </a:xfrm>
          <a:prstGeom prst="line">
            <a:avLst/>
          </a:prstGeom>
          <a:noFill/>
          <a:ln w="25400">
            <a:solidFill>
              <a:srgbClr val="9AA2A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51960" y="1600200"/>
            <a:ext cx="3429000" cy="2148840"/>
          </a:xfrm>
          <a:prstGeom prst="roundRect">
            <a:avLst>
              <a:gd name="adj" fmla="val 2553"/>
            </a:avLst>
          </a:prstGeom>
          <a:solidFill>
            <a:srgbClr val="23272C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810512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74920" y="18105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SOLVE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242316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entire program top-to-bottom against the frozen IIT, writing results to Output Image Table (OIT) — not to physical terminals yet.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26680" y="2651760"/>
            <a:ext cx="228600" cy="0"/>
          </a:xfrm>
          <a:prstGeom prst="line">
            <a:avLst/>
          </a:prstGeom>
          <a:noFill/>
          <a:ln w="25400">
            <a:solidFill>
              <a:srgbClr val="9AA2A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55280" y="1600200"/>
            <a:ext cx="3429000" cy="2148840"/>
          </a:xfrm>
          <a:prstGeom prst="roundRect">
            <a:avLst>
              <a:gd name="adj" fmla="val 2553"/>
            </a:avLst>
          </a:prstGeom>
          <a:solidFill>
            <a:srgbClr val="23272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83880" y="1810512"/>
            <a:ext cx="457200" cy="457200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778240" y="18105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UPDATE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83880" y="242316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entire OIT to physical output terminals, all at once.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52560" y="3767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5303520" cy="1965960"/>
          </a:xfrm>
          <a:prstGeom prst="roundRect">
            <a:avLst>
              <a:gd name="adj" fmla="val 2791"/>
            </a:avLst>
          </a:prstGeom>
          <a:solidFill>
            <a:srgbClr val="2A2F35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187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SCAN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498848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low single-digit milliseconds for a small-to-medium program (e.g., 1-10ms), varying with program size, instruction complexity, and CPU class. Not fixed to an exact constant — it shifts cycle to cycle depending on which branches execute.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4023360"/>
            <a:ext cx="5303520" cy="1965960"/>
          </a:xfrm>
          <a:prstGeom prst="roundRect">
            <a:avLst>
              <a:gd name="adj" fmla="val 2791"/>
            </a:avLst>
          </a:prstGeom>
          <a:solidFill>
            <a:srgbClr val="2A2F35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4187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4498848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most load-bearing mental model for all debugging this week. Trace one rung through all three phases on the board before moving 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PLC SCAN 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Scan Time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35640" cy="1737360"/>
          </a:xfrm>
          <a:prstGeom prst="roundRect">
            <a:avLst>
              <a:gd name="adj" fmla="val 3158"/>
            </a:avLst>
          </a:prstGeom>
          <a:solidFill>
            <a:srgbClr val="2327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GENUINE, QUANTIFIABLE FAILURE MODE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9966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physical input pulse (e.g., from a fast-moving proximity sensor) is shorter in duration than one scan time, the PLC can miss it entirely — the signal can go true and false again between two input-scan phases and never appear in the Input Image Table at all.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0835640" cy="2651760"/>
          </a:xfrm>
          <a:prstGeom prst="roundRect">
            <a:avLst>
              <a:gd name="adj" fmla="val 2069"/>
            </a:avLst>
          </a:prstGeom>
          <a:solidFill>
            <a:srgbClr val="2A2F3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DEBUGGING RULE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output that “didn't update when expected” is explained by exactly one of two things: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480560"/>
            <a:ext cx="320040" cy="320040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443484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hadn't been re-scanned yet when you expected it to reflect a new state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166360"/>
            <a:ext cx="320040" cy="320040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66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512064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hadn't been written to the physical terminal yet, because the logic-solve phase for that scan hadn't completed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8064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third category of “the PLC just didn't notice.”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INPUTS / 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&amp; Verifying I/O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73152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A2F35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731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474720" cy="4297680"/>
          </a:xfrm>
          <a:prstGeom prst="roundRect">
            <a:avLst>
              <a:gd name="adj" fmla="val 1579"/>
            </a:avLst>
          </a:prstGeom>
          <a:solidFill>
            <a:srgbClr val="23272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810512"/>
            <a:ext cx="365760" cy="36576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1810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Push-Button Input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450592"/>
            <a:ext cx="82296" cy="82296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237744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terminal strip — channel numbers match module addressing (e.g., channel 0 = %I0.0)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40"/>
            <a:ext cx="82296" cy="82296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3447288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vs. signal wire — sourcing/sinking (PNP/NPN) determines what the common terminal references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4590288"/>
            <a:ext cx="82296" cy="82296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4517136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a wire without confirming it in software's I/O monitor first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51960" y="1600200"/>
            <a:ext cx="3474720" cy="4297680"/>
          </a:xfrm>
          <a:prstGeom prst="roundRect">
            <a:avLst>
              <a:gd name="adj" fmla="val 1579"/>
            </a:avLst>
          </a:prstGeom>
          <a:solidFill>
            <a:srgbClr val="23272C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1810512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65192" y="1810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Output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80560" y="245059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4690872" y="23774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module type matches load — relay / transistor / triac per Block 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80560" y="3246120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3" name="Text 21"/>
          <p:cNvSpPr/>
          <p:nvPr/>
        </p:nvSpPr>
        <p:spPr>
          <a:xfrm>
            <a:off x="4690872" y="317296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“could a transistor-output module drive an AC-rated lamp?” — No, DC only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1600200"/>
            <a:ext cx="3474720" cy="4297680"/>
          </a:xfrm>
          <a:prstGeom prst="roundRect">
            <a:avLst>
              <a:gd name="adj" fmla="val 1579"/>
            </a:avLst>
          </a:prstGeom>
          <a:solidFill>
            <a:srgbClr val="23272C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3880" y="1810512"/>
            <a:ext cx="365760" cy="365760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68512" y="1810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Monitoring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83880" y="2450592"/>
            <a:ext cx="82296" cy="82296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29" name="Text 27"/>
          <p:cNvSpPr/>
          <p:nvPr/>
        </p:nvSpPr>
        <p:spPr>
          <a:xfrm>
            <a:off x="8394192" y="23774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software's online/monitor view — live I/O state, highlighted per bit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83880" y="3246120"/>
            <a:ext cx="82296" cy="82296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317296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most-used debugging tool for the rest of the week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83880" y="4041648"/>
            <a:ext cx="82296" cy="82296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33" name="Text 31"/>
          <p:cNvSpPr/>
          <p:nvPr/>
        </p:nvSpPr>
        <p:spPr>
          <a:xfrm>
            <a:off x="8394192" y="3968496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navigates to it themselves, unprompted, before moving 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INPUTS / 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vs. NC in Real Circuits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2148840"/>
          </a:xfrm>
          <a:prstGeom prst="roundRect">
            <a:avLst>
              <a:gd name="adj" fmla="val 2553"/>
            </a:avLst>
          </a:prstGeom>
          <a:solidFill>
            <a:srgbClr val="23272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10512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4CC3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6596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Open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open (no continuity) at rest; closes when actuated.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 logic “0” until actuated, “1” while actuated.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212080" cy="2148840"/>
          </a:xfrm>
          <a:prstGeom prst="roundRect">
            <a:avLst>
              <a:gd name="adj" fmla="val 2553"/>
            </a:avLst>
          </a:prstGeom>
          <a:solidFill>
            <a:srgbClr val="23272C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810512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E85D5D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8105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5236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Closed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closed (continuity) at rest; opens when actuated.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 logic “1” until actuated, “0” while actuated.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0789920" cy="1920240"/>
          </a:xfrm>
          <a:prstGeom prst="roundRect">
            <a:avLst>
              <a:gd name="adj" fmla="val 2857"/>
            </a:avLst>
          </a:prstGeom>
          <a:solidFill>
            <a:srgbClr val="2A2F3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DISTINCTION IS ABOUT TO MATTER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and NC aren't just wiring trivia — the choice between them is a safety decision. The next block walks through why safety-critical inputs like emergency stops are deliberately wired NC, and what happens electrically when that convention is violated.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INPUTS / 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E-Stops Are Wired NC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23272C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NC-WIRED E-STOP  (correct)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wire is cut, the connector unplugged, or the switch fails open — the input reads logic “0,” identical to “button pressed.”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4709160" cy="822960"/>
          </a:xfrm>
          <a:prstGeom prst="roundRect">
            <a:avLst>
              <a:gd name="adj" fmla="val 5556"/>
            </a:avLst>
          </a:prstGeom>
          <a:solidFill>
            <a:srgbClr val="2A2F3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15468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logic responds exactly as if someone pressed the E-stop: the machine stops. The fault produces the same safe outcome as intentional actuation.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23272C"/>
          </a:solidFill>
          <a:ln w="19050">
            <a:solidFill>
              <a:srgbClr val="E85D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NO-WIRED E-STOP  (dangerous)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1488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wire is cut, the input reads logic “0” — electrically indistinguishable from “not pressed.”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3063240"/>
            <a:ext cx="4709160" cy="822960"/>
          </a:xfrm>
          <a:prstGeom prst="roundRect">
            <a:avLst>
              <a:gd name="adj" fmla="val 5556"/>
            </a:avLst>
          </a:prstGeom>
          <a:solidFill>
            <a:srgbClr val="2A2F35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15468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wiring fault would go completely undetected while the machine keeps running under a false assumption of safety.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2A2F3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3035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formal, mandated industrial safety design principle — fail-safe design — not a stylistic convention.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 · LADDER LOGIC + TAG NAMING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Rungs: AND, OR,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73152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A2F35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731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(input conditions, evaluated left to right) sit on the left of a rung; a coil (the result) sits on the right. “Power flow” left to right represents the Boolean evaluation.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0835640" cy="868680"/>
          </a:xfrm>
          <a:prstGeom prst="roundRect">
            <a:avLst>
              <a:gd name="adj" fmla="val 5263"/>
            </a:avLst>
          </a:prstGeom>
          <a:solidFill>
            <a:srgbClr val="23272C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286000"/>
            <a:ext cx="777240" cy="365760"/>
          </a:xfrm>
          <a:prstGeom prst="roundRect">
            <a:avLst>
              <a:gd name="adj" fmla="val 37500"/>
            </a:avLst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860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2240280"/>
            <a:ext cx="5394960" cy="685800"/>
          </a:xfrm>
          <a:prstGeom prst="rect">
            <a:avLst/>
          </a:prstGeom>
          <a:solidFill>
            <a:srgbClr val="121417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2267712"/>
            <a:ext cx="51663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ContactA 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ContactB 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 Coil  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--|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3760" y="2240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ST:  </a:t>
            </a:r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Coil </a:t>
            </a:r>
            <a:pPr indent="0" marL="0">
              <a:buNone/>
            </a:pPr>
            <a:r>
              <a:rPr lang="en-US" sz="1050" dirty="0">
                <a:solidFill>
                  <a:srgbClr val="E87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ContactA </a:t>
            </a:r>
            <a:pPr indent="0" marL="0">
              <a:buNone/>
            </a:pPr>
            <a:r>
              <a:rPr lang="en-US" sz="1050" dirty="0">
                <a:solidFill>
                  <a:srgbClr val="E87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ContactB;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23760" y="25603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must be true for current to “flow” to the coil.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10835640" cy="1051560"/>
          </a:xfrm>
          <a:prstGeom prst="roundRect">
            <a:avLst>
              <a:gd name="adj" fmla="val 4348"/>
            </a:avLst>
          </a:prstGeom>
          <a:solidFill>
            <a:srgbClr val="23272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319272"/>
            <a:ext cx="777240" cy="365760"/>
          </a:xfrm>
          <a:prstGeom prst="roundRect">
            <a:avLst>
              <a:gd name="adj" fmla="val 37500"/>
            </a:avLst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927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45920" y="3273552"/>
            <a:ext cx="5394960" cy="868680"/>
          </a:xfrm>
          <a:prstGeom prst="rect">
            <a:avLst/>
          </a:prstGeom>
          <a:solidFill>
            <a:srgbClr val="121417"/>
          </a:solidFill>
          <a:ln/>
        </p:spPr>
      </p:sp>
      <p:sp>
        <p:nvSpPr>
          <p:cNvPr id="18" name="Text 16"/>
          <p:cNvSpPr/>
          <p:nvPr/>
        </p:nvSpPr>
        <p:spPr>
          <a:xfrm>
            <a:off x="1783080" y="3300984"/>
            <a:ext cx="51663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ContactA 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 Coil  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--|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ContactB 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---------------------------|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3273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ST:  </a:t>
            </a:r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Coil </a:t>
            </a:r>
            <a:pPr indent="0" marL="0">
              <a:buNone/>
            </a:pPr>
            <a:r>
              <a:rPr lang="en-US" sz="1050" dirty="0">
                <a:solidFill>
                  <a:srgbClr val="E87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ContactA </a:t>
            </a:r>
            <a:pPr indent="0" marL="0">
              <a:buNone/>
            </a:pPr>
            <a:r>
              <a:rPr lang="en-US" sz="1050" dirty="0">
                <a:solidFill>
                  <a:srgbClr val="E87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ContactB;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23760" y="359359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branch being true energizes the coil.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398264"/>
            <a:ext cx="10835640" cy="868680"/>
          </a:xfrm>
          <a:prstGeom prst="roundRect">
            <a:avLst>
              <a:gd name="adj" fmla="val 5263"/>
            </a:avLst>
          </a:prstGeom>
          <a:solidFill>
            <a:srgbClr val="23272C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535424"/>
            <a:ext cx="777240" cy="365760"/>
          </a:xfrm>
          <a:prstGeom prst="roundRect">
            <a:avLst>
              <a:gd name="adj" fmla="val 37500"/>
            </a:avLst>
          </a:prstGeom>
          <a:solidFill>
            <a:srgbClr val="F2A54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53542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0" y="4489704"/>
            <a:ext cx="5394960" cy="685800"/>
          </a:xfrm>
          <a:prstGeom prst="rect">
            <a:avLst/>
          </a:prstGeom>
          <a:solidFill>
            <a:srgbClr val="121417"/>
          </a:solidFill>
          <a:ln/>
        </p:spPr>
      </p:sp>
      <p:sp>
        <p:nvSpPr>
          <p:cNvPr id="25" name="Text 23"/>
          <p:cNvSpPr/>
          <p:nvPr/>
        </p:nvSpPr>
        <p:spPr>
          <a:xfrm>
            <a:off x="1783080" y="4517136"/>
            <a:ext cx="51663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[/ ContactA 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 Coil  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--|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44897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ST:  </a:t>
            </a:r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Coil </a:t>
            </a:r>
            <a:pPr indent="0" marL="0">
              <a:buNone/>
            </a:pPr>
            <a:r>
              <a:rPr lang="en-US" sz="1050" dirty="0">
                <a:solidFill>
                  <a:srgbClr val="E87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7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ContactA;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23760" y="4809744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Represented with an NC-style contact symbol on the rung, not a separate instruction.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 · LADDER LOGIC + TAG NAMING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Symbolic Addressing &amp; Tag Naming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2327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ADDRESSING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4709160" cy="548640"/>
          </a:xfrm>
          <a:prstGeom prst="rect">
            <a:avLst/>
          </a:prstGeom>
          <a:solidFill>
            <a:srgbClr val="12141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031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%I0.0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%Q0.1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literal physical terminal address — encodes module/channel position, but carries no semantic meaning six months later.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23272C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TAGS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2103120"/>
            <a:ext cx="4709160" cy="548640"/>
          </a:xfrm>
          <a:prstGeom prst="rect">
            <a:avLst/>
          </a:prstGeom>
          <a:solidFill>
            <a:srgbClr val="121417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1031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Start_PB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Motor_Run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7889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tag mapped internally to the same physical address, but referenced by name throughout all logic.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2A2F3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NORM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programs are almost never written with raw addresses visible in the logic body. %I0.3 tells a future maintainer nothing about what's physically wired there.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0789920" cy="1188720"/>
          </a:xfrm>
          <a:prstGeom prst="roundRect">
            <a:avLst>
              <a:gd name="adj" fmla="val 4615"/>
            </a:avLst>
          </a:prstGeom>
          <a:solidFill>
            <a:srgbClr val="23272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DISTINCTION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41324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rung's structure shows 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logic evaluates. A comment records 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e.g. “Motor_Run requires seal-in per motor start/stop pattern; see Block 6.”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6 · DAY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Start/Stop with Seal-In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73152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A2F35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731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momentary Start button must energize an output that stays energized after the button releases — the output's own contact wires in parallel with Start, so it “holdes itself in.”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0835640" cy="1417320"/>
          </a:xfrm>
          <a:prstGeom prst="rect">
            <a:avLst/>
          </a:prstGeom>
          <a:solidFill>
            <a:srgbClr val="12141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774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</a:t>
            </a:r>
            <a:pPr indent="0" marL="0">
              <a:buNone/>
            </a:pPr>
            <a:r>
              <a:rPr lang="en-US" sz="110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Start_PB ]</a:t>
            </a:r>
            <a:pPr indent="0" marL="0">
              <a:buNone/>
            </a:pPr>
            <a:r>
              <a:rPr lang="en-US" sz="11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----+----------------</a:t>
            </a:r>
            <a:pPr indent="0" marL="0">
              <a:buNone/>
            </a:pPr>
            <a:r>
              <a:rPr lang="en-US" sz="110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[/ Stop_PB ]</a:t>
            </a:r>
            <a:pPr indent="0" marL="0">
              <a:buNone/>
            </a:pPr>
            <a:r>
              <a:rPr lang="en-US" sz="11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</a:t>
            </a:r>
            <a:pPr indent="0" marL="0">
              <a:buNone/>
            </a:pPr>
            <a:r>
              <a:rPr lang="en-US" sz="11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 Motor_Run  )</a:t>
            </a:r>
            <a:pPr indent="0" marL="0">
              <a:buNone/>
            </a:pPr>
            <a:r>
              <a:rPr lang="en-US" sz="11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--|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</a:t>
            </a:r>
            <a:pPr indent="0" marL="0">
              <a:buNone/>
            </a:pPr>
            <a:r>
              <a:rPr lang="en-US" sz="110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Motor_Run ]</a:t>
            </a:r>
            <a:pPr indent="0" marL="0">
              <a:buNone/>
            </a:pPr>
            <a:r>
              <a:rPr lang="en-US" sz="11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---+   </a:t>
            </a:r>
            <a:pPr indent="0" marL="0">
              <a:buNone/>
            </a:pPr>
            <a:r>
              <a:rPr lang="en-US" sz="11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(seal-in contact, in parallel with Start_PB)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23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23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ST:  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Motor_Run </a:t>
            </a:r>
            <a:pPr indent="0" marL="0">
              <a:buNone/>
            </a:pPr>
            <a:r>
              <a:rPr lang="en-US" sz="1100" dirty="0">
                <a:solidFill>
                  <a:srgbClr val="E87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(Start_PB </a:t>
            </a:r>
            <a:pPr indent="0" marL="0">
              <a:buNone/>
            </a:pPr>
            <a:r>
              <a:rPr lang="en-US" sz="1100" dirty="0">
                <a:solidFill>
                  <a:srgbClr val="E87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Motor_Run) </a:t>
            </a:r>
            <a:pPr indent="0" marL="0">
              <a:buNone/>
            </a:pPr>
            <a:r>
              <a:rPr lang="en-US" sz="1100" dirty="0">
                <a:solidFill>
                  <a:srgbClr val="E87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7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Stop_PB;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38404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2A2F35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4279392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scan Start_PB is pressed, Motor_Run's coil energizes. Next scan, Motor_Run's own contact is now true — the rung stays true even after Start_PB releases. This depends directly on the scan-cycle behavior from Block 3.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5257800" cy="868680"/>
          </a:xfrm>
          <a:prstGeom prst="roundRect">
            <a:avLst>
              <a:gd name="adj" fmla="val 6316"/>
            </a:avLst>
          </a:prstGeom>
          <a:solidFill>
            <a:srgbClr val="2A2F3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377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wired NC per Block 4d's fail-safe principle — it can break the circuit regardless of Start's state.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6 · DAY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Walkthrough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48256" cy="2331720"/>
          </a:xfrm>
          <a:prstGeom prst="roundRect">
            <a:avLst>
              <a:gd name="adj" fmla="val 2679"/>
            </a:avLst>
          </a:prstGeom>
          <a:solidFill>
            <a:srgbClr val="23272C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874520"/>
            <a:ext cx="402336" cy="402336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874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301752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seal-in rung on paper first — reasoning about the pattern, not trial-and-error clicking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2075688"/>
            <a:ext cx="64008" cy="0"/>
          </a:xfrm>
          <a:prstGeom prst="line">
            <a:avLst/>
          </a:prstGeom>
          <a:noFill/>
          <a:ln w="19050">
            <a:solidFill>
              <a:srgbClr val="9AA2A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79192" y="1691640"/>
            <a:ext cx="2048256" cy="2331720"/>
          </a:xfrm>
          <a:prstGeom prst="roundRect">
            <a:avLst>
              <a:gd name="adj" fmla="val 2679"/>
            </a:avLst>
          </a:prstGeom>
          <a:solidFill>
            <a:srgbClr val="23272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02152" y="1874520"/>
            <a:ext cx="402336" cy="402336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1874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70632" y="235915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I/O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70632" y="269748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88920" y="301752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(NO), Stop (NC per 4d), motor output — module type per Block 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36592" y="2075688"/>
            <a:ext cx="64008" cy="0"/>
          </a:xfrm>
          <a:prstGeom prst="line">
            <a:avLst/>
          </a:prstGeom>
          <a:noFill/>
          <a:ln w="19050">
            <a:solidFill>
              <a:srgbClr val="9AA2A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09744" y="1691640"/>
            <a:ext cx="2048256" cy="2331720"/>
          </a:xfrm>
          <a:prstGeom prst="roundRect">
            <a:avLst>
              <a:gd name="adj" fmla="val 2679"/>
            </a:avLst>
          </a:prstGeom>
          <a:solidFill>
            <a:srgbClr val="23272C"/>
          </a:solidFill>
          <a:ln/>
        </p:spPr>
      </p:sp>
      <p:sp>
        <p:nvSpPr>
          <p:cNvPr id="19" name="Shape 17"/>
          <p:cNvSpPr/>
          <p:nvPr/>
        </p:nvSpPr>
        <p:spPr>
          <a:xfrm>
            <a:off x="5632704" y="1874520"/>
            <a:ext cx="402336" cy="40233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32704" y="1874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01184" y="235915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rung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01184" y="269748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19472" y="301752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exactly from the paper sketch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67144" y="2075688"/>
            <a:ext cx="64008" cy="0"/>
          </a:xfrm>
          <a:prstGeom prst="line">
            <a:avLst/>
          </a:prstGeom>
          <a:noFill/>
          <a:ln w="19050">
            <a:solidFill>
              <a:srgbClr val="9AA2A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40296" y="1691640"/>
            <a:ext cx="2048256" cy="2331720"/>
          </a:xfrm>
          <a:prstGeom prst="roundRect">
            <a:avLst>
              <a:gd name="adj" fmla="val 2679"/>
            </a:avLst>
          </a:prstGeom>
          <a:solidFill>
            <a:srgbClr val="23272C"/>
          </a:solidFill>
          <a:ln/>
        </p:spPr>
      </p:sp>
      <p:sp>
        <p:nvSpPr>
          <p:cNvPr id="26" name="Shape 24"/>
          <p:cNvSpPr/>
          <p:nvPr/>
        </p:nvSpPr>
        <p:spPr>
          <a:xfrm>
            <a:off x="7763256" y="1874520"/>
            <a:ext cx="402336" cy="402336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7" name="Text 25"/>
          <p:cNvSpPr/>
          <p:nvPr/>
        </p:nvSpPr>
        <p:spPr>
          <a:xfrm>
            <a:off x="7763256" y="1874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31736" y="235915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debug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31736" y="269748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50024" y="301752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the common failure: omitting the seal-in contact — motor runs only while Start is held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997696" y="2075688"/>
            <a:ext cx="64008" cy="0"/>
          </a:xfrm>
          <a:prstGeom prst="line">
            <a:avLst/>
          </a:prstGeom>
          <a:noFill/>
          <a:ln w="19050">
            <a:solidFill>
              <a:srgbClr val="9AA2A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70848" y="1691640"/>
            <a:ext cx="2048256" cy="2331720"/>
          </a:xfrm>
          <a:prstGeom prst="roundRect">
            <a:avLst>
              <a:gd name="adj" fmla="val 2679"/>
            </a:avLst>
          </a:prstGeom>
          <a:solidFill>
            <a:srgbClr val="23272C"/>
          </a:solidFill>
          <a:ln/>
        </p:spPr>
      </p:sp>
      <p:sp>
        <p:nvSpPr>
          <p:cNvPr id="33" name="Shape 31"/>
          <p:cNvSpPr/>
          <p:nvPr/>
        </p:nvSpPr>
        <p:spPr>
          <a:xfrm>
            <a:off x="9893808" y="1874520"/>
            <a:ext cx="402336" cy="402336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34" name="Text 32"/>
          <p:cNvSpPr/>
          <p:nvPr/>
        </p:nvSpPr>
        <p:spPr>
          <a:xfrm>
            <a:off x="9893808" y="1874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62288" y="235915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review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62288" y="269748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180576" y="301752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2-3 most common mistakes actually observed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4297680"/>
            <a:ext cx="10835640" cy="1737360"/>
          </a:xfrm>
          <a:prstGeom prst="roundRect">
            <a:avLst>
              <a:gd name="adj" fmla="val 3158"/>
            </a:avLst>
          </a:prstGeom>
          <a:solidFill>
            <a:srgbClr val="2A2F35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4453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FINISHED EARLY — FORWARD/REVERSE INTERLOCK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" y="4754880"/>
            <a:ext cx="10241280" cy="685800"/>
          </a:xfrm>
          <a:prstGeom prst="rect">
            <a:avLst/>
          </a:prstGeom>
          <a:solidFill>
            <a:srgbClr val="121417"/>
          </a:solidFill>
          <a:ln/>
        </p:spPr>
      </p:sp>
      <p:sp>
        <p:nvSpPr>
          <p:cNvPr id="41" name="Text 39"/>
          <p:cNvSpPr/>
          <p:nvPr/>
        </p:nvSpPr>
        <p:spPr>
          <a:xfrm>
            <a:off x="960120" y="480060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Fwd_Run</a:t>
            </a:r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:= (Fwd_PB OR Fwd_Run) AND NOT Stop_PB AND NOT Rev_Run;
</a:t>
            </a:r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Rev_Run</a:t>
            </a:r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:= (Rev_PB OR Rev_Run) AND NOT Stop_PB AND NOT Fwd_Run;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2960" y="54864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direction's rung includes a NOT of the other's own output — whichever energizes first locks out the other on the very next scan. Reappears formally in Day 5's safety-circuit content.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2026-08-04T07:10:07Z</dcterms:created>
  <dcterms:modified xsi:type="dcterms:W3CDTF">2026-08-04T07:10:07Z</dcterms:modified>
</cp:coreProperties>
</file>
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95" r:id="rId30"/>
    <p:sldId id="284" r:id="rId31"/>
    <p:sldId id="294" r:id="rId32"/>
    <p:sldId id="285" r:id="rId33"/>
    <p:sldId id="286" r:id="rId34"/>
    <p:sldId id="290" r:id="rId35"/>
    <p:sldId id="291" r:id="rId36"/>
    <p:sldId id="292" r:id="rId37"/>
    <p:sldId id="289" r:id="rId38"/>
    <p:sldId id="288" r:id="rId39"/>
    <p:sldId id="293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90F5F1-681C-4AB4-B1C1-E9831D162275}" v="1754" dt="2026-08-04T16:02:16.868"/>
    <p1510:client id="{292B9ECA-57C6-E5B8-B095-6DFBB8A65DEE}" v="57" dt="2026-08-05T07:47:36.306"/>
    <p1510:client id="{31156501-A690-B81F-9291-4CE818A0304B}" v="725" dt="2026-08-04T19:22:23.824"/>
    <p1510:client id="{327F22D2-E10C-A692-A969-2BAD3DD913D0}" v="696" dt="2026-08-05T06:39:54.057"/>
    <p1510:client id="{34561FFB-271C-49A8-9636-D69B837111BC}" v="240" dt="2026-08-04T16:23:18.825"/>
    <p1510:client id="{636A4312-CB28-4AD9-B8B1-8657140F76A2}" v="705" dt="2026-08-04T13:08:52.913"/>
    <p1510:client id="{67B8B26F-FD36-B084-CA5E-8D102E650875}" v="264" dt="2026-08-04T17:51:50.331"/>
    <p1510:client id="{B0950EF6-DB9A-6FA7-46B3-5575374E4BA0}" v="820" dt="2026-08-05T07:40:00.557"/>
    <p1510:client id="{DE4DF999-1A14-91B4-6169-16936711BCB6}" v="97" dt="2026-08-06T06:12:15.569"/>
    <p1510:client id="{F00CF9BC-975C-354F-171E-C6570857B285}" v="8" dt="2026-08-05T06:59:13.1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B7C6-8D9F-9C3A-6BAC-1E4343159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17AB80-6700-B8F9-7849-35DAFDAC18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B3B65-23FD-14AC-F635-3B33CFC4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62B79-D387-D246-5FA3-FBC28D7A7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71838-8B7B-249A-5FA4-E0DEBB0BF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446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FC38D-1FE1-ACB2-C2E9-DE03C3C8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E9BD3-CCDA-2981-A4A1-C5015436C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46942-CB9F-1EA0-C1C8-349455D9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AFFA0-6234-0123-4038-F1562B5B6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3DB04-91C4-557F-1998-D060D4B0C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40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2CC2D-8948-8BF5-E46A-C065C9EF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D1091E-2852-8EC0-EB11-DA789C8D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1B6E1-182D-5FCC-B2F5-8DEFC45E4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F74D0-8247-00B0-DA9D-342F9D687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4ACCA-355F-D813-C5AB-D1A86451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269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3CD3E-1AA0-E84F-D6F3-83FF5025B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BA3B3-01FC-64FA-CE69-9ADB8A909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FDDCBF-1620-CD0C-4936-8930A31265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43DE6-4BFB-3FFF-8E26-B7076408E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0F239-9206-538F-E9BD-A81CE1AEE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6E49C0-DA6C-2741-8459-944AB0D4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958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2BB6-AB0C-5E0B-037B-E8BBDEB39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D834B-1B14-F10F-9BBA-B04652AB8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A0261-F155-64E8-30CE-D152AD9FC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FF236D-D60D-5E6C-6FA0-CEAD095F4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10CB3E-21DD-7F41-3544-25CC30409A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B968E0-9AFB-2EA1-285B-ACEDAAA2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44EFC4-449C-35D8-EF2D-83308A1B6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2A9BF-EB96-2756-8D2F-1B19DBF6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89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BF816-7390-D286-A3D4-8F0066AC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8C690-3BE1-30A0-2F79-776B4D1E4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90B4B-F8DB-D718-8D41-AE11324D7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6A842-32B0-0C59-E956-B571A6448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8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FB48E-3684-FB3E-19DA-FC93FBD83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6E114B-F887-0451-7118-C68D5B71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ECBE3-D397-F6A0-CAB3-7E9F9328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845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7BF1C-ED7B-BD37-60D9-5830F1E8E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1D961-7E5D-7B87-E0C5-8499EEB5D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6AC5AB-A084-D599-BEAC-4DB66077B8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4F8B5-679B-304B-6AA8-F5D34F7E3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5ACD3-EE0A-6D2F-71F1-ECEAD5A32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16C278-BA80-3CBB-29A8-187E129EA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39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02A66-5A0D-03B7-FF2E-CC516B0C5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AFC1E-DB38-F922-69C0-58008451D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418796-AE97-70B3-50EC-1192B2803F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4E2B58-9D7A-526C-1275-A79D23889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B175A2-7EB7-6DEB-6721-769398A6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9758B-BE7D-E16E-A7D6-5B423518F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7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55AD8-5657-E19A-7AD9-789B3C993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FCB6A8-DD19-121D-28CB-29979E61A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6AB19-8946-AF2D-B0F9-E633F280C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7D564-6340-24CD-FB77-9DC9718D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5AA94-5EF0-FDD4-3A99-5EA660FC9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1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0FB9E2-9133-71C7-7844-CF16455A1D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67ACFB-01F5-2EA3-D7E4-6B4FF21E7C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59944-3F32-917B-2C02-B32F03994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1EC69-64BE-F030-2B55-F47621C0F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1E656-473F-0FEC-01CC-C30894C7D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94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B41F51-47BA-8B6D-42F8-61805619C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62100-6E29-E73D-078A-E68A7B97E8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FCD14-FD7D-B345-4E9A-23F7E465E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9D33C-D3E2-A326-2349-B4DC099B72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AE93FC-D2EF-5E2B-EFDA-6F2F1F663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2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dtkgtec.blogspot.com/2011/12/bai-1-tong-quan-ve-plc-s7200_25.html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nofaq.org/posts/2018/05/how-conveyor-systems-have-changed-the-functioning-of-our-factories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dimyun.space/blog/education-ChSU-automation-system.html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electronics.stackexchange.com/questions/30952/can-you-clarify-what-an-1no1nc-switch-is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199" y="1093788"/>
            <a:ext cx="10506455" cy="2967208"/>
          </a:xfrm>
        </p:spPr>
        <p:txBody>
          <a:bodyPr>
            <a:normAutofit/>
          </a:bodyPr>
          <a:lstStyle/>
          <a:p>
            <a:pPr algn="l"/>
            <a:r>
              <a:rPr lang="en-US"/>
              <a:t>Day 1: PLC Fundamentals and Basic Ladder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1">
                <a:ea typeface="+mn-lt"/>
                <a:cs typeface="+mn-lt"/>
              </a:rPr>
              <a:t>Presented by: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D5022-A6B4-5004-400A-1E7DB1D89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 to PLC and Ladder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97B9C-C3E2-4187-7E3E-72D30891C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340" y="2364378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PLC fundamentals 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Hardware components 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Input and output devices 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Basic ladder-logic instructions 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Latching and SET/RESET operations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60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EF6BA-2624-D354-DE66-760A4030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123" y="406939"/>
            <a:ext cx="9839591" cy="821351"/>
          </a:xfrm>
        </p:spPr>
        <p:txBody>
          <a:bodyPr anchor="b">
            <a:normAutofit fontScale="90000"/>
          </a:bodyPr>
          <a:lstStyle/>
          <a:p>
            <a:r>
              <a:rPr lang="en-US" sz="5400">
                <a:ea typeface="+mj-lt"/>
                <a:cs typeface="+mj-lt"/>
              </a:rPr>
              <a:t>Learning Outcomes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0A40D-1EBF-BEF8-BA1F-3F1ECE3DE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1042446"/>
            <a:ext cx="9829959" cy="4892635"/>
          </a:xfrm>
        </p:spPr>
        <p:txBody>
          <a:bodyPr anchor="ctr">
            <a:normAutofit/>
          </a:bodyPr>
          <a:lstStyle/>
          <a:p>
            <a:r>
              <a:rPr lang="en-US" sz="2400" dirty="0">
                <a:ea typeface="+mn-lt"/>
                <a:cs typeface="+mn-lt"/>
              </a:rPr>
              <a:t>Define a PLC and explain its purpose 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Identify the main parts of a PLC </a:t>
            </a:r>
            <a:endParaRPr lang="en-US" sz="3200" dirty="0"/>
          </a:p>
          <a:p>
            <a:r>
              <a:rPr lang="en-US" sz="2400" dirty="0">
                <a:ea typeface="+mn-lt"/>
                <a:cs typeface="+mn-lt"/>
              </a:rPr>
              <a:t>Differentiate input and output devices </a:t>
            </a:r>
            <a:endParaRPr lang="en-US" sz="3200" dirty="0"/>
          </a:p>
          <a:p>
            <a:r>
              <a:rPr lang="en-US" sz="2400" dirty="0">
                <a:ea typeface="+mn-lt"/>
                <a:cs typeface="+mn-lt"/>
              </a:rPr>
              <a:t>Explain the PLC scan cycle </a:t>
            </a:r>
            <a:endParaRPr lang="en-US" sz="3200" dirty="0"/>
          </a:p>
          <a:p>
            <a:r>
              <a:rPr lang="en-US" sz="2400" dirty="0">
                <a:ea typeface="+mn-lt"/>
                <a:cs typeface="+mn-lt"/>
              </a:rPr>
              <a:t>Understand NO and NC instructions </a:t>
            </a:r>
            <a:endParaRPr lang="en-US" sz="3200" dirty="0"/>
          </a:p>
          <a:p>
            <a:r>
              <a:rPr lang="en-US" sz="2400" dirty="0">
                <a:ea typeface="+mn-lt"/>
                <a:cs typeface="+mn-lt"/>
              </a:rPr>
              <a:t>Develop basic ladder-logic programs </a:t>
            </a:r>
            <a:endParaRPr lang="en-US" sz="3200" dirty="0"/>
          </a:p>
          <a:p>
            <a:r>
              <a:rPr lang="en-US" sz="2400" dirty="0">
                <a:ea typeface="+mn-lt"/>
                <a:cs typeface="+mn-lt"/>
              </a:rPr>
              <a:t>Create start–stop and latching circuits </a:t>
            </a:r>
            <a:endParaRPr lang="en-US" sz="3200" dirty="0"/>
          </a:p>
          <a:p>
            <a:r>
              <a:rPr lang="en-US" sz="2400" dirty="0">
                <a:ea typeface="+mn-lt"/>
                <a:cs typeface="+mn-lt"/>
              </a:rPr>
              <a:t>Understand SET and RESET instructions</a:t>
            </a:r>
            <a:endParaRPr lang="en-US" sz="3200" dirty="0"/>
          </a:p>
          <a:p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6080BA-0023-5768-23E8-FD6CC62F2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21501" y="1401205"/>
            <a:ext cx="50958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689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B56F-19D1-29E0-98CB-C52EFC93F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3123" y="120480"/>
            <a:ext cx="9839591" cy="699431"/>
          </a:xfrm>
        </p:spPr>
        <p:txBody>
          <a:bodyPr anchor="b">
            <a:normAutofit/>
          </a:bodyPr>
          <a:lstStyle/>
          <a:p>
            <a:r>
              <a:rPr lang="en-US"/>
              <a:t>What Is Automation?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C2272A4-F013-7E7B-4D7B-64D643961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615" y="4078982"/>
            <a:ext cx="10395295" cy="2262093"/>
          </a:xfrm>
        </p:spPr>
        <p:txBody>
          <a:bodyPr anchor="ctr">
            <a:normAutofit fontScale="77500" lnSpcReduction="20000"/>
          </a:bodyPr>
          <a:lstStyle/>
          <a:p>
            <a:endParaRPr lang="en-US" sz="1600" b="1" dirty="0">
              <a:ea typeface="+mn-lt"/>
              <a:cs typeface="+mn-lt"/>
            </a:endParaRPr>
          </a:p>
          <a:p>
            <a:endParaRPr lang="en-US" sz="1600" dirty="0">
              <a:ea typeface="+mn-lt"/>
              <a:cs typeface="+mn-lt"/>
            </a:endParaRPr>
          </a:p>
          <a:p>
            <a:r>
              <a:rPr lang="en-US" sz="2600" b="1" dirty="0">
                <a:ea typeface="+mn-lt"/>
                <a:cs typeface="+mn-lt"/>
              </a:rPr>
              <a:t>Real-life example: Automatic water tank</a:t>
            </a:r>
            <a:endParaRPr lang="en-US" sz="2600" b="1" dirty="0"/>
          </a:p>
          <a:p>
            <a:endParaRPr lang="en-US" sz="1600" b="1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300" dirty="0">
                <a:ea typeface="+mn-lt"/>
                <a:cs typeface="+mn-lt"/>
              </a:rPr>
              <a:t>1.  A sensor detects a low water level</a:t>
            </a:r>
            <a:r>
              <a:rPr lang="en-US" sz="3100" dirty="0">
                <a:ea typeface="+mn-lt"/>
                <a:cs typeface="+mn-lt"/>
              </a:rPr>
              <a:t>.                 </a:t>
            </a:r>
            <a:r>
              <a:rPr lang="en-US" sz="2300" dirty="0">
                <a:ea typeface="+mn-lt"/>
                <a:cs typeface="+mn-lt"/>
              </a:rPr>
              <a:t>4.  The high-level sensor detects that the tank is full.</a:t>
            </a:r>
            <a:endParaRPr lang="en-US" sz="1900" dirty="0"/>
          </a:p>
          <a:p>
            <a:pPr marL="0" indent="0">
              <a:buNone/>
            </a:pPr>
            <a:r>
              <a:rPr lang="en-US" sz="2100" dirty="0">
                <a:ea typeface="+mn-lt"/>
                <a:cs typeface="+mn-lt"/>
              </a:rPr>
              <a:t>2. </a:t>
            </a:r>
            <a:r>
              <a:rPr lang="en-US" sz="2300" dirty="0">
                <a:ea typeface="+mn-lt"/>
                <a:cs typeface="+mn-lt"/>
              </a:rPr>
              <a:t>The controller switches ON the pump.                  5. The controller switches OFF the pump.</a:t>
            </a:r>
            <a:endParaRPr lang="en-US" sz="3100" dirty="0"/>
          </a:p>
          <a:p>
            <a:pPr marL="0" indent="0">
              <a:buNone/>
            </a:pPr>
            <a:r>
              <a:rPr lang="en-US" sz="2300" dirty="0">
                <a:ea typeface="+mn-lt"/>
                <a:cs typeface="+mn-lt"/>
              </a:rPr>
              <a:t>3. The tank fills with water.</a:t>
            </a:r>
            <a:endParaRPr lang="en-US" sz="23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pPr marL="0" indent="0">
              <a:buNone/>
            </a:pPr>
            <a:endParaRPr lang="en-US" sz="16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84F19C1-F3E1-DAA5-3A58-79E23F80D78F}"/>
              </a:ext>
            </a:extLst>
          </p:cNvPr>
          <p:cNvCxnSpPr/>
          <p:nvPr/>
        </p:nvCxnSpPr>
        <p:spPr>
          <a:xfrm>
            <a:off x="5673277" y="4793262"/>
            <a:ext cx="9896" cy="989610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24FED4D-161F-93EF-607A-DA5693ED0D26}"/>
              </a:ext>
            </a:extLst>
          </p:cNvPr>
          <p:cNvSpPr/>
          <p:nvPr/>
        </p:nvSpPr>
        <p:spPr>
          <a:xfrm>
            <a:off x="1167167" y="4501327"/>
            <a:ext cx="10753490" cy="15734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FE9260-5EF2-353C-4F73-8095FA5BA211}"/>
              </a:ext>
            </a:extLst>
          </p:cNvPr>
          <p:cNvSpPr txBox="1"/>
          <p:nvPr/>
        </p:nvSpPr>
        <p:spPr>
          <a:xfrm>
            <a:off x="1059286" y="739606"/>
            <a:ext cx="10861371" cy="3062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100" b="1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Automation</a:t>
            </a:r>
            <a:r>
              <a:rPr lang="en-US" sz="2000" dirty="0">
                <a:ea typeface="+mn-lt"/>
                <a:cs typeface="+mn-lt"/>
              </a:rPr>
              <a:t> is the use of control systems to operate machines or processes with minimal human</a:t>
            </a:r>
            <a:endParaRPr lang="en-US" sz="44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      involvement.</a:t>
            </a:r>
            <a:endParaRPr lang="en-US" sz="4400" dirty="0"/>
          </a:p>
          <a:p>
            <a:endParaRPr lang="en-US" sz="1400" dirty="0">
              <a:ea typeface="+mn-lt"/>
              <a:cs typeface="+mn-lt"/>
            </a:endParaRPr>
          </a:p>
          <a:p>
            <a:r>
              <a:rPr lang="en-US" sz="2000" b="1" dirty="0">
                <a:ea typeface="+mn-lt"/>
                <a:cs typeface="+mn-lt"/>
              </a:rPr>
              <a:t>Main purposes:</a:t>
            </a: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Reduce manual work 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Improve production speed </a:t>
            </a:r>
            <a:endParaRPr lang="en-US" sz="3600" dirty="0"/>
          </a:p>
          <a:p>
            <a:r>
              <a:rPr lang="en-US" dirty="0">
                <a:ea typeface="+mn-lt"/>
                <a:cs typeface="+mn-lt"/>
              </a:rPr>
              <a:t>Increase accuracy </a:t>
            </a:r>
          </a:p>
          <a:p>
            <a:r>
              <a:rPr lang="en-US" dirty="0">
                <a:ea typeface="+mn-lt"/>
                <a:cs typeface="+mn-lt"/>
              </a:rPr>
              <a:t>Maintain consistent quality </a:t>
            </a:r>
            <a:endParaRPr lang="en-US" sz="3600" dirty="0"/>
          </a:p>
          <a:p>
            <a:r>
              <a:rPr lang="en-US" dirty="0">
                <a:ea typeface="+mn-lt"/>
                <a:cs typeface="+mn-lt"/>
              </a:rPr>
              <a:t>Improve worker safety </a:t>
            </a:r>
            <a:endParaRPr lang="en-US" sz="3600" dirty="0"/>
          </a:p>
          <a:p>
            <a:r>
              <a:rPr lang="en-US" dirty="0">
                <a:ea typeface="+mn-lt"/>
                <a:cs typeface="+mn-lt"/>
              </a:rPr>
              <a:t>Reduce human error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7392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FC104-AA95-6950-AD75-FF635C3F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159658"/>
            <a:ext cx="9942716" cy="2357120"/>
          </a:xfrm>
        </p:spPr>
        <p:txBody>
          <a:bodyPr anchor="ctr">
            <a:normAutofit/>
          </a:bodyPr>
          <a:lstStyle/>
          <a:p>
            <a:r>
              <a:rPr lang="en-US" sz="3200">
                <a:ea typeface="+mj-lt"/>
                <a:cs typeface="+mj-lt"/>
              </a:rPr>
              <a:t>What Is a PLC?</a:t>
            </a:r>
            <a:br>
              <a:rPr lang="en-US" sz="3200">
                <a:ea typeface="+mj-lt"/>
                <a:cs typeface="+mj-lt"/>
              </a:rPr>
            </a:br>
            <a:r>
              <a:rPr lang="en-US" sz="3200" b="1">
                <a:ea typeface="+mj-lt"/>
                <a:cs typeface="+mj-lt"/>
              </a:rPr>
              <a:t>PLC stands for Programmable Logic Controller.</a:t>
            </a:r>
            <a:br>
              <a:rPr lang="en-US" sz="3200" b="1">
                <a:ea typeface="+mj-lt"/>
                <a:cs typeface="+mj-lt"/>
              </a:rPr>
            </a:br>
            <a:br>
              <a:rPr lang="en-US" sz="3200" b="1">
                <a:ea typeface="+mj-lt"/>
                <a:cs typeface="+mj-lt"/>
              </a:rPr>
            </a:br>
            <a:r>
              <a:rPr lang="en-US" sz="3200">
                <a:ea typeface="+mj-lt"/>
                <a:cs typeface="+mj-lt"/>
              </a:rPr>
              <a:t>A PLC is a rugged industrial computer designed to: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BFA98-7866-2E10-87F8-CF486DE1A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288" y="2641471"/>
            <a:ext cx="10911136" cy="350070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>
                <a:ea typeface="+mn-lt"/>
                <a:cs typeface="+mn-lt"/>
              </a:rPr>
              <a:t>Receive signals from input devices </a:t>
            </a:r>
            <a:endParaRPr lang="en-US" sz="2400" b="1"/>
          </a:p>
          <a:p>
            <a:r>
              <a:rPr lang="en-US" sz="2400">
                <a:ea typeface="+mn-lt"/>
                <a:cs typeface="+mn-lt"/>
              </a:rPr>
              <a:t>Process the programmed logic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Control output devices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Continuously monitor machines and </a:t>
            </a:r>
          </a:p>
          <a:p>
            <a:r>
              <a:rPr lang="en-US" sz="2400">
                <a:ea typeface="+mn-lt"/>
                <a:cs typeface="+mn-lt"/>
              </a:rPr>
              <a:t>industrial processes</a:t>
            </a:r>
            <a:endParaRPr lang="en-US" sz="2400"/>
          </a:p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     Simple working concept:</a:t>
            </a:r>
            <a:endParaRPr lang="en-US" sz="2400"/>
          </a:p>
          <a:p>
            <a:pPr>
              <a:buNone/>
            </a:pPr>
            <a:r>
              <a:rPr lang="en-US" sz="2400" b="1">
                <a:ea typeface="+mn-lt"/>
                <a:cs typeface="+mn-lt"/>
              </a:rPr>
              <a:t>     Input → PLC program → Output</a:t>
            </a:r>
            <a:endParaRPr lang="en-US" sz="24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7AAA48-A124-68F1-BDB7-E446D60D8E22}"/>
              </a:ext>
            </a:extLst>
          </p:cNvPr>
          <p:cNvSpPr/>
          <p:nvPr/>
        </p:nvSpPr>
        <p:spPr>
          <a:xfrm>
            <a:off x="940954" y="5071753"/>
            <a:ext cx="4374077" cy="93023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9ABC17E-B20D-7620-D5E9-91D8B2516733}"/>
              </a:ext>
            </a:extLst>
          </p:cNvPr>
          <p:cNvCxnSpPr/>
          <p:nvPr/>
        </p:nvCxnSpPr>
        <p:spPr>
          <a:xfrm flipH="1">
            <a:off x="6095833" y="2997696"/>
            <a:ext cx="1815" cy="2891969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9CCA24E-735A-6688-C271-04A0FD23404B}"/>
              </a:ext>
            </a:extLst>
          </p:cNvPr>
          <p:cNvSpPr txBox="1"/>
          <p:nvPr/>
        </p:nvSpPr>
        <p:spPr>
          <a:xfrm>
            <a:off x="6392882" y="2996869"/>
            <a:ext cx="5161642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Example:</a:t>
            </a:r>
            <a:endParaRPr lang="en-US" sz="2400" b="1"/>
          </a:p>
          <a:p>
            <a:endParaRPr lang="en-US" sz="2400" b="1">
              <a:ea typeface="+mn-lt"/>
              <a:cs typeface="+mn-lt"/>
            </a:endParaRPr>
          </a:p>
          <a:p>
            <a:r>
              <a:rPr lang="en-US" sz="2400" b="1">
                <a:ea typeface="+mn-lt"/>
                <a:cs typeface="+mn-lt"/>
              </a:rPr>
              <a:t>Push button → PLC → Motor</a:t>
            </a:r>
            <a:endParaRPr lang="en-US" sz="2400" b="1"/>
          </a:p>
          <a:p>
            <a:endParaRPr lang="en-US" sz="2400" b="1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When the operator presses the push button, the PLC reads the signal, executes the program and switches ON the motor.</a:t>
            </a:r>
            <a:endParaRPr lang="en-US" sz="2400"/>
          </a:p>
          <a:p>
            <a:pPr algn="l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843347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57A84-9DF4-970E-2000-EE7A11A94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83336"/>
          </a:xfrm>
        </p:spPr>
        <p:txBody>
          <a:bodyPr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Why Is a PLC Used?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058D6-95DD-F114-6905-03EB4857D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7" y="1244798"/>
            <a:ext cx="10722310" cy="551603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2400" dirty="0"/>
              <a:t> </a:t>
            </a:r>
            <a:r>
              <a:rPr lang="en-US" sz="2400" b="1" dirty="0"/>
              <a:t>PLCs are commonly used because they are: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Easy to program and modify </a:t>
            </a:r>
          </a:p>
          <a:p>
            <a:r>
              <a:rPr lang="en-US" sz="2400" dirty="0"/>
              <a:t>Reliable in industrial environments </a:t>
            </a:r>
          </a:p>
          <a:p>
            <a:r>
              <a:rPr lang="en-US" sz="2400" dirty="0"/>
              <a:t>Suitable for continuous operation </a:t>
            </a:r>
          </a:p>
          <a:p>
            <a:r>
              <a:rPr lang="en-US" sz="2400" dirty="0"/>
              <a:t>Faster than traditional relay-control systems </a:t>
            </a:r>
          </a:p>
          <a:p>
            <a:r>
              <a:rPr lang="en-US" sz="2400" dirty="0"/>
              <a:t>Easy to troubleshoot </a:t>
            </a:r>
          </a:p>
          <a:p>
            <a:r>
              <a:rPr lang="en-US" sz="2400" dirty="0"/>
              <a:t>Capable of controlling many inputs and outputs </a:t>
            </a:r>
          </a:p>
          <a:p>
            <a:r>
              <a:rPr lang="en-US" sz="2400" dirty="0"/>
              <a:t>Expandable for future requirements</a:t>
            </a:r>
          </a:p>
          <a:p>
            <a:endParaRPr lang="en-US" sz="20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b="1" dirty="0">
                <a:ea typeface="+mn-lt"/>
                <a:cs typeface="+mn-lt"/>
              </a:rPr>
              <a:t>Real-time example: Conveyor system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A sensor detects a box on the conveyor. The PLC receives the sensor signal and operates a</a:t>
            </a: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pneumatic cylinder to push the box into the correct storage area.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D9337B-3149-A167-D4E3-ABFB26A3C395}"/>
              </a:ext>
            </a:extLst>
          </p:cNvPr>
          <p:cNvSpPr/>
          <p:nvPr/>
        </p:nvSpPr>
        <p:spPr>
          <a:xfrm>
            <a:off x="1098467" y="5324103"/>
            <a:ext cx="10628415" cy="13458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01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6AD8-1DAE-0A5D-2877-85CBB46E7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525"/>
          </a:xfrm>
        </p:spPr>
        <p:txBody>
          <a:bodyPr>
            <a:normAutofit fontScale="90000"/>
          </a:bodyPr>
          <a:lstStyle/>
          <a:p>
            <a:r>
              <a:rPr lang="en-US"/>
              <a:t>Activity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BAC910-E803-DA0C-D12F-D28948F935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672020"/>
              </p:ext>
            </p:extLst>
          </p:nvPr>
        </p:nvGraphicFramePr>
        <p:xfrm>
          <a:off x="841168" y="1296389"/>
          <a:ext cx="10515600" cy="492691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7341180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02799229"/>
                    </a:ext>
                  </a:extLst>
                </a:gridCol>
              </a:tblGrid>
              <a:tr h="70384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/>
                        <a:t>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1" i="0" u="none" strike="noStrike" noProof="0">
                          <a:latin typeface="Aptos"/>
                        </a:rPr>
                        <a:t>INPUT or OUTPUT?</a:t>
                      </a:r>
                      <a:endParaRPr lang="en-US" sz="2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368928"/>
                  </a:ext>
                </a:extLst>
              </a:tr>
              <a:tr h="7038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Push button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Input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89700"/>
                  </a:ext>
                </a:extLst>
              </a:tr>
              <a:tr h="7038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Proximity sensor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Input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3836394"/>
                  </a:ext>
                </a:extLst>
              </a:tr>
              <a:tr h="7038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Temperature sensor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Input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999388"/>
                  </a:ext>
                </a:extLst>
              </a:tr>
              <a:tr h="7038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Motor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Output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2592536"/>
                  </a:ext>
                </a:extLst>
              </a:tr>
              <a:tr h="7038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Indicator lamp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Output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4772750"/>
                  </a:ext>
                </a:extLst>
              </a:tr>
              <a:tr h="70384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Buzzer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>
                          <a:latin typeface="Aptos"/>
                        </a:rPr>
                        <a:t>Output</a:t>
                      </a:r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012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11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A414-3104-5C70-64B8-DA01056D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91440"/>
            <a:ext cx="10168128" cy="915416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What Is a Relay?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A226A-1FF0-2B0B-EF1D-CD2A563C0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912949"/>
            <a:ext cx="10168128" cy="573572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sz="2600" dirty="0">
                <a:ea typeface="+mn-lt"/>
                <a:cs typeface="+mn-lt"/>
              </a:rPr>
              <a:t>A </a:t>
            </a:r>
            <a:r>
              <a:rPr lang="en-US" sz="2600" b="1" dirty="0">
                <a:ea typeface="+mn-lt"/>
                <a:cs typeface="+mn-lt"/>
              </a:rPr>
              <a:t>relay</a:t>
            </a:r>
            <a:r>
              <a:rPr lang="en-US" sz="2600" dirty="0">
                <a:ea typeface="+mn-lt"/>
                <a:cs typeface="+mn-lt"/>
              </a:rPr>
              <a:t> is an electrically operated switch. It uses a small electrical control signal to</a:t>
            </a:r>
          </a:p>
          <a:p>
            <a:pPr marL="0" indent="0">
              <a:buNone/>
            </a:pPr>
            <a:r>
              <a:rPr lang="en-US" sz="2600" dirty="0">
                <a:ea typeface="+mn-lt"/>
                <a:cs typeface="+mn-lt"/>
              </a:rPr>
              <a:t>    switch another circuit ON or OFF.</a:t>
            </a:r>
            <a:endParaRPr lang="en-US" sz="2600" dirty="0"/>
          </a:p>
          <a:p>
            <a:r>
              <a:rPr lang="en-US" sz="2600" b="1" dirty="0">
                <a:ea typeface="+mn-lt"/>
                <a:cs typeface="+mn-lt"/>
              </a:rPr>
              <a:t>Main parts of a relay:</a:t>
            </a:r>
            <a:endParaRPr lang="en-US" sz="2600" dirty="0">
              <a:ea typeface="+mn-lt"/>
              <a:cs typeface="+mn-lt"/>
            </a:endParaRPr>
          </a:p>
          <a:p>
            <a:r>
              <a:rPr lang="en-US" sz="2200" dirty="0">
                <a:ea typeface="+mn-lt"/>
                <a:cs typeface="+mn-lt"/>
              </a:rPr>
              <a:t>Coil </a:t>
            </a:r>
            <a:endParaRPr lang="en-US" sz="2200" b="1" dirty="0"/>
          </a:p>
          <a:p>
            <a:r>
              <a:rPr lang="en-US" sz="2200" dirty="0">
                <a:ea typeface="+mn-lt"/>
                <a:cs typeface="+mn-lt"/>
              </a:rPr>
              <a:t>Electromagnet </a:t>
            </a:r>
            <a:endParaRPr lang="en-US" sz="2200" dirty="0"/>
          </a:p>
          <a:p>
            <a:r>
              <a:rPr lang="en-US" sz="2200" dirty="0">
                <a:ea typeface="+mn-lt"/>
                <a:cs typeface="+mn-lt"/>
              </a:rPr>
              <a:t>Common terminal (COM) </a:t>
            </a:r>
            <a:endParaRPr lang="en-US" sz="2200" dirty="0"/>
          </a:p>
          <a:p>
            <a:r>
              <a:rPr lang="en-US" sz="2200" dirty="0">
                <a:ea typeface="+mn-lt"/>
                <a:cs typeface="+mn-lt"/>
              </a:rPr>
              <a:t>Normally Open contact (NO) </a:t>
            </a:r>
            <a:endParaRPr lang="en-US" sz="2200" dirty="0"/>
          </a:p>
          <a:p>
            <a:r>
              <a:rPr lang="en-US" sz="2200" dirty="0">
                <a:ea typeface="+mn-lt"/>
                <a:cs typeface="+mn-lt"/>
              </a:rPr>
              <a:t>Normally Closed contact (NC)</a:t>
            </a:r>
            <a:endParaRPr lang="en-US" sz="2200" dirty="0"/>
          </a:p>
          <a:p>
            <a:endParaRPr lang="en-US" sz="2200" dirty="0">
              <a:ea typeface="+mn-lt"/>
              <a:cs typeface="+mn-lt"/>
            </a:endParaRPr>
          </a:p>
          <a:p>
            <a:r>
              <a:rPr lang="en-US" sz="2200" b="1" dirty="0">
                <a:ea typeface="+mn-lt"/>
                <a:cs typeface="+mn-lt"/>
              </a:rPr>
              <a:t>How it works:</a:t>
            </a:r>
            <a:endParaRPr lang="en-US" sz="2200" dirty="0"/>
          </a:p>
          <a:p>
            <a:r>
              <a:rPr lang="en-US" sz="2200" dirty="0">
                <a:ea typeface="+mn-lt"/>
                <a:cs typeface="+mn-lt"/>
              </a:rPr>
              <a:t>When the relay coil is </a:t>
            </a:r>
            <a:r>
              <a:rPr lang="en-US" sz="2200" b="1" dirty="0">
                <a:ea typeface="+mn-lt"/>
                <a:cs typeface="+mn-lt"/>
              </a:rPr>
              <a:t>not energized</a:t>
            </a:r>
            <a:r>
              <a:rPr lang="en-US" sz="2200" dirty="0">
                <a:ea typeface="+mn-lt"/>
                <a:cs typeface="+mn-lt"/>
              </a:rPr>
              <a:t>, the NO contact remains open and the NC contact remains closed. </a:t>
            </a:r>
            <a:endParaRPr lang="en-US" sz="3000" dirty="0"/>
          </a:p>
          <a:p>
            <a:r>
              <a:rPr lang="en-US" sz="2200" dirty="0">
                <a:ea typeface="+mn-lt"/>
                <a:cs typeface="+mn-lt"/>
              </a:rPr>
              <a:t>When voltage is supplied to the coil, it produces a magnetic field. </a:t>
            </a:r>
            <a:endParaRPr lang="en-US" sz="3000" dirty="0"/>
          </a:p>
          <a:p>
            <a:r>
              <a:rPr lang="en-US" sz="2200" dirty="0">
                <a:ea typeface="+mn-lt"/>
                <a:cs typeface="+mn-lt"/>
              </a:rPr>
              <a:t>The magnetic field moves the internal contact. </a:t>
            </a:r>
            <a:endParaRPr lang="en-US" sz="3000" dirty="0"/>
          </a:p>
          <a:p>
            <a:r>
              <a:rPr lang="en-US" sz="2200" dirty="0">
                <a:ea typeface="+mn-lt"/>
                <a:cs typeface="+mn-lt"/>
              </a:rPr>
              <a:t>The NO contact closes, and the NC contact opens. </a:t>
            </a:r>
            <a:endParaRPr lang="en-US" sz="3000" dirty="0"/>
          </a:p>
          <a:p>
            <a:r>
              <a:rPr lang="en-US" sz="2200" dirty="0">
                <a:ea typeface="+mn-lt"/>
                <a:cs typeface="+mn-lt"/>
              </a:rPr>
              <a:t>When the coil is switched OFF, the contacts return to their normal positions. </a:t>
            </a:r>
            <a:endParaRPr lang="en-US" sz="3000" dirty="0"/>
          </a:p>
          <a:p>
            <a:endParaRPr lang="en-US" sz="2000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479136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4FEFD2-9CB3-689C-5F89-0C51B2BE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734" y="988579"/>
            <a:ext cx="10852066" cy="5538269"/>
          </a:xfrm>
          <a:noFill/>
        </p:spPr>
        <p:txBody>
          <a:bodyPr/>
          <a:lstStyle/>
          <a:p>
            <a:r>
              <a:rPr lang="en-US" sz="2400" b="1">
                <a:ea typeface="+mj-lt"/>
                <a:cs typeface="+mj-lt"/>
              </a:rPr>
              <a:t>Simple example:</a:t>
            </a:r>
            <a:br>
              <a:rPr lang="en-US" sz="2400" b="1">
                <a:ea typeface="+mj-lt"/>
                <a:cs typeface="+mj-lt"/>
              </a:rPr>
            </a:br>
            <a:endParaRPr lang="en-US" sz="2400"/>
          </a:p>
          <a:p>
            <a:r>
              <a:rPr lang="en-US" sz="2400" b="1">
                <a:ea typeface="+mj-lt"/>
                <a:cs typeface="+mj-lt"/>
              </a:rPr>
              <a:t>Push button → Relay coil → Lamp</a:t>
            </a:r>
            <a:br>
              <a:rPr lang="en-US" sz="2400" b="1">
                <a:ea typeface="+mj-lt"/>
                <a:cs typeface="+mj-lt"/>
              </a:rPr>
            </a:br>
            <a:endParaRPr lang="en-US" sz="2400"/>
          </a:p>
          <a:p>
            <a:r>
              <a:rPr lang="en-US" sz="2400">
                <a:ea typeface="+mj-lt"/>
                <a:cs typeface="+mj-lt"/>
              </a:rPr>
              <a:t>When the push button is pressed, the relay coil energizes. Its NO contact closes and switches ON the lamp.</a:t>
            </a:r>
            <a:br>
              <a:rPr lang="en-US" sz="2400">
                <a:ea typeface="+mj-lt"/>
                <a:cs typeface="+mj-lt"/>
              </a:rPr>
            </a:br>
            <a:endParaRPr lang="en-US" sz="2400"/>
          </a:p>
          <a:p>
            <a:r>
              <a:rPr lang="en-US" sz="2400" b="1">
                <a:ea typeface="+mj-lt"/>
                <a:cs typeface="+mj-lt"/>
              </a:rPr>
              <a:t>Real-life comparison:</a:t>
            </a:r>
            <a:br>
              <a:rPr lang="en-US" sz="2400" b="1">
                <a:ea typeface="+mj-lt"/>
                <a:cs typeface="+mj-lt"/>
              </a:rPr>
            </a:br>
            <a:endParaRPr lang="en-US" sz="2400"/>
          </a:p>
          <a:p>
            <a:r>
              <a:rPr lang="en-US" sz="2400">
                <a:ea typeface="+mj-lt"/>
                <a:cs typeface="+mj-lt"/>
              </a:rPr>
              <a:t>“A relay works like a person operating a switch. The coil receives the command, and the relay contacts perform the switching action.”</a:t>
            </a:r>
            <a:br>
              <a:rPr lang="en-US" sz="2400">
                <a:ea typeface="+mj-lt"/>
                <a:cs typeface="+mj-lt"/>
              </a:rPr>
            </a:br>
            <a:br>
              <a:rPr lang="en-US" sz="2400">
                <a:ea typeface="+mj-lt"/>
                <a:cs typeface="+mj-lt"/>
              </a:rPr>
            </a:br>
            <a:r>
              <a:rPr lang="en-US" sz="2400" b="1">
                <a:highlight>
                  <a:srgbClr val="FFFF00"/>
                </a:highlight>
                <a:ea typeface="+mj-lt"/>
                <a:cs typeface="+mj-lt"/>
              </a:rPr>
              <a:t>Important point:</a:t>
            </a:r>
            <a:br>
              <a:rPr lang="en-US" sz="2400" b="1">
                <a:highlight>
                  <a:srgbClr val="FFFF00"/>
                </a:highlight>
                <a:ea typeface="+mj-lt"/>
                <a:cs typeface="+mj-lt"/>
              </a:rPr>
            </a:br>
            <a:endParaRPr lang="en-US" sz="2400">
              <a:solidFill>
                <a:srgbClr val="00B0F0"/>
              </a:solidFill>
              <a:highlight>
                <a:srgbClr val="FFFF00"/>
              </a:highlight>
            </a:endParaRPr>
          </a:p>
          <a:p>
            <a:r>
              <a:rPr lang="en-US" sz="2400">
                <a:ea typeface="+mj-lt"/>
                <a:cs typeface="+mj-lt"/>
              </a:rPr>
              <a:t>The word </a:t>
            </a:r>
            <a:r>
              <a:rPr lang="en-US" sz="2400" b="1">
                <a:ea typeface="+mj-lt"/>
                <a:cs typeface="+mj-lt"/>
              </a:rPr>
              <a:t>“normal”</a:t>
            </a:r>
            <a:r>
              <a:rPr lang="en-US" sz="2400">
                <a:ea typeface="+mj-lt"/>
                <a:cs typeface="+mj-lt"/>
              </a:rPr>
              <a:t> in NO and NC refers to the contact condition when the relay coil is </a:t>
            </a:r>
            <a:r>
              <a:rPr lang="en-US" sz="2400" b="1">
                <a:ea typeface="+mj-lt"/>
                <a:cs typeface="+mj-lt"/>
              </a:rPr>
              <a:t>not energized</a:t>
            </a:r>
            <a:r>
              <a:rPr lang="en-US" sz="2400">
                <a:ea typeface="+mj-lt"/>
                <a:cs typeface="+mj-lt"/>
              </a:rPr>
              <a:t>.</a:t>
            </a:r>
            <a:endParaRPr lang="en-US" sz="2400"/>
          </a:p>
          <a:p>
            <a:endParaRPr lang="en-US" sz="2800">
              <a:ea typeface="+mj-lt"/>
              <a:cs typeface="+mj-lt"/>
            </a:endParaRPr>
          </a:p>
          <a:p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173968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87B40-4F2D-894D-2C4E-35E8C7FCF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849"/>
          </a:xfrm>
        </p:spPr>
        <p:txBody>
          <a:bodyPr>
            <a:normAutofit fontScale="90000"/>
          </a:bodyPr>
          <a:lstStyle/>
          <a:p>
            <a:r>
              <a:rPr lang="en-US" b="1"/>
              <a:t>PLC vs Traditional Relay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03CB11-32F5-2F72-5446-B2C8D6BA94D6}"/>
              </a:ext>
            </a:extLst>
          </p:cNvPr>
          <p:cNvSpPr txBox="1"/>
          <p:nvPr/>
        </p:nvSpPr>
        <p:spPr>
          <a:xfrm>
            <a:off x="959921" y="1118260"/>
            <a:ext cx="106086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Before PLCs, industrial machines were controlled using many electromechanical relays, timers, and extensive wiring.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627E02B-2E88-D00A-4C7C-45F95B0A6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128326"/>
              </p:ext>
            </p:extLst>
          </p:nvPr>
        </p:nvGraphicFramePr>
        <p:xfrm>
          <a:off x="1031966" y="1928876"/>
          <a:ext cx="10444762" cy="469878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222381">
                  <a:extLst>
                    <a:ext uri="{9D8B030D-6E8A-4147-A177-3AD203B41FA5}">
                      <a16:colId xmlns:a16="http://schemas.microsoft.com/office/drawing/2014/main" val="1458776206"/>
                    </a:ext>
                  </a:extLst>
                </a:gridCol>
                <a:gridCol w="5222381">
                  <a:extLst>
                    <a:ext uri="{9D8B030D-6E8A-4147-A177-3AD203B41FA5}">
                      <a16:colId xmlns:a16="http://schemas.microsoft.com/office/drawing/2014/main" val="998582310"/>
                    </a:ext>
                  </a:extLst>
                </a:gridCol>
              </a:tblGrid>
              <a:tr h="6593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1" i="0" u="none" strike="noStrike" noProof="0">
                          <a:latin typeface="Aptos"/>
                        </a:rPr>
                        <a:t>Traditional relay control</a:t>
                      </a:r>
                      <a:endParaRPr lang="en-US" sz="2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1" i="0" u="none" strike="noStrike" noProof="0">
                          <a:latin typeface="Aptos"/>
                        </a:rPr>
                        <a:t>PLC control</a:t>
                      </a:r>
                      <a:endParaRPr lang="en-US" sz="28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1559156"/>
                  </a:ext>
                </a:extLst>
              </a:tr>
              <a:tr h="6593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Logic is created through physical wiring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Logic is created through a program</a:t>
                      </a: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527566"/>
                  </a:ext>
                </a:extLst>
              </a:tr>
              <a:tr h="659340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Modifications require rewiring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Modifications can be made by editing the program</a:t>
                      </a: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671793"/>
                  </a:ext>
                </a:extLst>
              </a:tr>
              <a:tr h="6593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Requires more panel space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Requires less panel space</a:t>
                      </a: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7963515"/>
                  </a:ext>
                </a:extLst>
              </a:tr>
              <a:tr h="6593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Troubleshooting is time-consuming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Online monitoring makes troubleshooting easier</a:t>
                      </a: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6605525"/>
                  </a:ext>
                </a:extLst>
              </a:tr>
              <a:tr h="6593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Complex systems need many relays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One PLC can perform many control functions</a:t>
                      </a: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804351"/>
                  </a:ext>
                </a:extLst>
              </a:tr>
              <a:tr h="6593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>
                          <a:latin typeface="Aptos"/>
                        </a:rPr>
                        <a:t>Mechanical contacts experience wear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000" b="0" i="0" u="none" strike="noStrike" noProof="0" dirty="0">
                          <a:latin typeface="Aptos"/>
                        </a:rPr>
                        <a:t>Program logic has no mechanical wear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86493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776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A7A5F-27C9-96E1-B96B-2DA22670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br>
              <a:rPr lang="en-US" sz="2400" b="1" dirty="0">
                <a:ea typeface="+mj-lt"/>
                <a:cs typeface="+mj-lt"/>
              </a:rPr>
            </a:br>
            <a:br>
              <a:rPr lang="en-US" sz="2400" b="1" dirty="0">
                <a:ea typeface="+mj-lt"/>
                <a:cs typeface="+mj-lt"/>
              </a:rPr>
            </a:br>
            <a:r>
              <a:rPr lang="en-US" sz="2400" b="1" dirty="0">
                <a:ea typeface="+mj-lt"/>
                <a:cs typeface="+mj-lt"/>
              </a:rPr>
              <a:t>Real-time industrial example: Conveyor modification</a:t>
            </a:r>
            <a:br>
              <a:rPr lang="en-US" sz="2400" b="1" dirty="0">
                <a:ea typeface="+mj-lt"/>
                <a:cs typeface="+mj-lt"/>
              </a:rPr>
            </a:br>
            <a:endParaRPr lang="en-US" sz="2400" dirty="0"/>
          </a:p>
          <a:p>
            <a:r>
              <a:rPr lang="en-US" sz="2400" dirty="0">
                <a:ea typeface="+mj-lt"/>
                <a:cs typeface="+mj-lt"/>
              </a:rPr>
              <a:t>Suppose a factory wants the conveyor to stop </a:t>
            </a:r>
            <a:r>
              <a:rPr lang="en-US" sz="2400" b="1" dirty="0">
                <a:ea typeface="+mj-lt"/>
                <a:cs typeface="+mj-lt"/>
              </a:rPr>
              <a:t>10 seconds after</a:t>
            </a:r>
            <a:r>
              <a:rPr lang="en-US" sz="2400" dirty="0">
                <a:ea typeface="+mj-lt"/>
                <a:cs typeface="+mj-lt"/>
              </a:rPr>
              <a:t> a box is detected:</a:t>
            </a:r>
            <a:endParaRPr lang="en-US" sz="2400" dirty="0"/>
          </a:p>
          <a:p>
            <a:r>
              <a:rPr lang="en-US" sz="2400" dirty="0">
                <a:ea typeface="+mj-lt"/>
                <a:cs typeface="+mj-lt"/>
              </a:rPr>
              <a:t>In relay control, a timer relay must be purchased, installed, and wired. </a:t>
            </a:r>
            <a:endParaRPr lang="en-US" sz="2400" dirty="0"/>
          </a:p>
          <a:p>
            <a:r>
              <a:rPr lang="en-US" sz="2400" dirty="0">
                <a:ea typeface="+mj-lt"/>
                <a:cs typeface="+mj-lt"/>
              </a:rPr>
              <a:t>In PLC control, a timer instruction can simply be added to the program.</a:t>
            </a:r>
          </a:p>
          <a:p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5F70A-4CEB-2D4A-EC07-C94487D9B806}"/>
              </a:ext>
            </a:extLst>
          </p:cNvPr>
          <p:cNvSpPr txBox="1"/>
          <p:nvPr/>
        </p:nvSpPr>
        <p:spPr>
          <a:xfrm>
            <a:off x="838200" y="2207852"/>
            <a:ext cx="10141855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Important point:</a:t>
            </a:r>
          </a:p>
          <a:p>
            <a:endParaRPr lang="en-US" b="1" dirty="0"/>
          </a:p>
          <a:p>
            <a:r>
              <a:rPr lang="en-US" sz="2400" dirty="0"/>
              <a:t>A PLC does not completely eliminate relays. External relays or contactors may still be required to safely control high-power devices such as large motors and heaters.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991C98-FB9D-6BED-44B4-B98D93C7B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8200" y="4054511"/>
            <a:ext cx="4869543" cy="243836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FF553DE-776F-E58D-E62F-D112E73517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707743" y="3931362"/>
            <a:ext cx="6050878" cy="268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195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51B5-247B-4C9A-70E3-4B1F7AAD0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843" y="437697"/>
            <a:ext cx="11613242" cy="472850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>
                <a:ea typeface="+mj-lt"/>
                <a:cs typeface="+mj-lt"/>
              </a:rPr>
              <a:t>Main Components of a PLC System</a:t>
            </a:r>
            <a:br>
              <a:rPr lang="en-US">
                <a:ea typeface="+mj-lt"/>
                <a:cs typeface="+mj-lt"/>
              </a:rPr>
            </a:br>
            <a:endParaRPr lang="en-US" sz="2800">
              <a:ea typeface="+mj-lt"/>
              <a:cs typeface="+mj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C83817-9734-36DB-E4FC-CCE50D1CBD9F}"/>
              </a:ext>
            </a:extLst>
          </p:cNvPr>
          <p:cNvSpPr txBox="1"/>
          <p:nvPr/>
        </p:nvSpPr>
        <p:spPr>
          <a:xfrm>
            <a:off x="435428" y="915389"/>
            <a:ext cx="11251869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A PLC system consists of the following main components:</a:t>
            </a:r>
            <a:endParaRPr lang="en-US" b="1"/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Power supply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Central Processing Unit (CPU)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Memory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Input module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Output module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Programming device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Communication interface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/>
              <a:t> </a:t>
            </a:r>
            <a:r>
              <a:rPr lang="en-US">
                <a:highlight>
                  <a:srgbClr val="FFFF00"/>
                </a:highlight>
              </a:rPr>
              <a:t>Simple working flow</a:t>
            </a: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r>
              <a:rPr lang="en-US" b="1"/>
              <a:t> Input devices → Input module → CPU and program → Output module → Output devices</a:t>
            </a:r>
            <a:endParaRPr lang="en-US"/>
          </a:p>
          <a:p>
            <a:endParaRPr lang="en-US" b="1"/>
          </a:p>
          <a:p>
            <a:r>
              <a:rPr lang="en-US">
                <a:highlight>
                  <a:srgbClr val="FFFF00"/>
                </a:highlight>
              </a:rPr>
              <a:t>Important point</a:t>
            </a:r>
          </a:p>
          <a:p>
            <a:r>
              <a:rPr lang="en-US">
                <a:ea typeface="+mn-lt"/>
                <a:cs typeface="+mn-lt"/>
              </a:rPr>
              <a:t>The PLC output usually does not directly power a large industrial motor. It controls an intermediate device such as a </a:t>
            </a:r>
            <a:r>
              <a:rPr lang="en-US" b="1">
                <a:ea typeface="+mn-lt"/>
                <a:cs typeface="+mn-lt"/>
              </a:rPr>
              <a:t>relay, contactor or motor drive</a:t>
            </a:r>
            <a:r>
              <a:rPr lang="en-US">
                <a:ea typeface="+mn-lt"/>
                <a:cs typeface="+mn-lt"/>
              </a:rPr>
              <a:t>, which then operates the motor.</a:t>
            </a:r>
            <a:endParaRPr lang="en-US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endParaRPr lang="en-US" b="1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65BBC-3F4B-DACB-3880-6A2CFDCD9677}"/>
              </a:ext>
            </a:extLst>
          </p:cNvPr>
          <p:cNvSpPr/>
          <p:nvPr/>
        </p:nvSpPr>
        <p:spPr>
          <a:xfrm>
            <a:off x="432954" y="4787867"/>
            <a:ext cx="11100128" cy="102856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4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5583F-E89A-DA06-A360-A6542D715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 OF EACH COMPONENT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3BEA4A7-CB8D-3222-827B-10B0F890D7B6}"/>
              </a:ext>
            </a:extLst>
          </p:cNvPr>
          <p:cNvSpPr txBox="1"/>
          <p:nvPr/>
        </p:nvSpPr>
        <p:spPr>
          <a:xfrm>
            <a:off x="4050792" y="4916564"/>
            <a:ext cx="8072382" cy="142848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Industrial example:  </a:t>
            </a:r>
            <a:r>
              <a:rPr lang="en-US" sz="1600" dirty="0"/>
              <a:t>Automatic conveyor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Input:                               </a:t>
            </a:r>
            <a:r>
              <a:rPr lang="en-US" sz="1600" dirty="0"/>
              <a:t> A proximity sensor detects a box.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CPU:</a:t>
            </a:r>
            <a:r>
              <a:rPr lang="en-US" sz="1600" dirty="0"/>
              <a:t>                                  The PLC checks the programmed condition.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Output:</a:t>
            </a:r>
            <a:r>
              <a:rPr lang="en-US" sz="1600" dirty="0"/>
              <a:t>                            The PLC switches ON the conveyor motor through a contactor.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84CCEC8-AD37-4856-03BB-03E7B35FF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5134045"/>
              </p:ext>
            </p:extLst>
          </p:nvPr>
        </p:nvGraphicFramePr>
        <p:xfrm>
          <a:off x="4739148" y="368007"/>
          <a:ext cx="6849350" cy="4430570"/>
        </p:xfrm>
        <a:graphic>
          <a:graphicData uri="http://schemas.openxmlformats.org/drawingml/2006/table">
            <a:tbl>
              <a:tblPr firstRow="1" bandRow="1">
                <a:noFill/>
                <a:tableStyleId>{BDBED569-4797-4DF1-A0F4-6AAB3CD982D8}</a:tableStyleId>
              </a:tblPr>
              <a:tblGrid>
                <a:gridCol w="2130693">
                  <a:extLst>
                    <a:ext uri="{9D8B030D-6E8A-4147-A177-3AD203B41FA5}">
                      <a16:colId xmlns:a16="http://schemas.microsoft.com/office/drawing/2014/main" val="632086572"/>
                    </a:ext>
                  </a:extLst>
                </a:gridCol>
                <a:gridCol w="4718657">
                  <a:extLst>
                    <a:ext uri="{9D8B030D-6E8A-4147-A177-3AD203B41FA5}">
                      <a16:colId xmlns:a16="http://schemas.microsoft.com/office/drawing/2014/main" val="2641824068"/>
                    </a:ext>
                  </a:extLst>
                </a:gridCol>
              </a:tblGrid>
              <a:tr h="4844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Component</a:t>
                      </a:r>
                      <a:endParaRPr lang="en-US" sz="24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Function</a:t>
                      </a:r>
                      <a:endParaRPr lang="en-US" sz="2400" b="1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625460"/>
                  </a:ext>
                </a:extLst>
              </a:tr>
              <a:tr h="619998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Power supply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952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latin typeface="Aptos"/>
                        </a:rPr>
                        <a:t>Converts the incoming power into the voltage required by the PLC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783338"/>
                  </a:ext>
                </a:extLst>
              </a:tr>
              <a:tr h="416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CPU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952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Executes the program and controls PLC operations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210797"/>
                  </a:ext>
                </a:extLst>
              </a:tr>
              <a:tr h="416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Memory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952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Stores the operating system, user program and process data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520376"/>
                  </a:ext>
                </a:extLst>
              </a:tr>
              <a:tr h="416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Input module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952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Receives signals from sensors and switches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079199"/>
                  </a:ext>
                </a:extLst>
              </a:tr>
              <a:tr h="416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Output module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952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Sends control signals to actuators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139552"/>
                  </a:ext>
                </a:extLst>
              </a:tr>
              <a:tr h="41672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Programming device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952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>
                          <a:solidFill>
                            <a:schemeClr val="tx1"/>
                          </a:solidFill>
                          <a:latin typeface="Aptos"/>
                        </a:rPr>
                        <a:t>Used to create, download and monitor the PLC program</a:t>
                      </a:r>
                      <a:endParaRPr lang="en-US" sz="1600" cap="none" spc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323548"/>
                  </a:ext>
                </a:extLst>
              </a:tr>
              <a:tr h="61999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latin typeface="Aptos"/>
                        </a:rPr>
                        <a:t>Communication interface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952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cap="none" spc="0" noProof="0" dirty="0">
                          <a:solidFill>
                            <a:schemeClr val="tx1"/>
                          </a:solidFill>
                          <a:latin typeface="Aptos"/>
                        </a:rPr>
                        <a:t>Allows the PLC to communicate with HMIs, SCADA systems, drives and other PLCs</a:t>
                      </a:r>
                      <a:endParaRPr lang="en-US" sz="16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71147" marR="101639" marT="20328" marB="15245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09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9228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AE0AD-ED20-0BAD-F468-1587C77A1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365125"/>
            <a:ext cx="11033760" cy="238443"/>
          </a:xfrm>
        </p:spPr>
        <p:txBody>
          <a:bodyPr>
            <a:normAutofit fontScale="90000"/>
          </a:bodyPr>
          <a:lstStyle/>
          <a:p>
            <a:r>
              <a:rPr lang="en-US">
                <a:ea typeface="+mj-lt"/>
                <a:cs typeface="+mj-lt"/>
              </a:rPr>
              <a:t>How Does a PLC Work? (PLC Scan Cycle)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6FB6A7-29DE-46CA-317E-E4ABAD84094B}"/>
              </a:ext>
            </a:extLst>
          </p:cNvPr>
          <p:cNvSpPr txBox="1"/>
          <p:nvPr/>
        </p:nvSpPr>
        <p:spPr>
          <a:xfrm>
            <a:off x="477520" y="924560"/>
            <a:ext cx="11216640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+mn-lt"/>
                <a:cs typeface="+mn-lt"/>
              </a:rPr>
              <a:t>A PLC operates continuously in a repeated sequence known as the </a:t>
            </a:r>
            <a:r>
              <a:rPr lang="en-US" sz="2000" b="1" dirty="0">
                <a:ea typeface="+mn-lt"/>
                <a:cs typeface="+mn-lt"/>
              </a:rPr>
              <a:t>scan cycle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endParaRPr lang="en-US" sz="2000" dirty="0"/>
          </a:p>
          <a:p>
            <a:r>
              <a:rPr lang="en-US" sz="2000" dirty="0">
                <a:highlight>
                  <a:srgbClr val="FFFF00"/>
                </a:highlight>
              </a:rPr>
              <a:t>Four main stages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Input scan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PLC reads the current status of all input devices. </a:t>
            </a:r>
            <a:endParaRPr lang="en-US" sz="2000" dirty="0"/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Example: It checks whether a push button is pressed or a sensor is activated.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Program scan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CPU executes the ladder program from the first rung to the last rung. </a:t>
            </a:r>
            <a:endParaRPr lang="en-US" sz="2000" dirty="0"/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It processes the conditions using the stored input status.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Output update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PLC switches the required outputs ON or OFF according to the program result. </a:t>
            </a:r>
            <a:endParaRPr lang="en-US" sz="2000" dirty="0"/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Example: It turns a motor or indicator lamp ON.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Internal operations</a:t>
            </a:r>
            <a:r>
              <a:rPr lang="en-US" sz="2000" dirty="0">
                <a:ea typeface="+mn-lt"/>
                <a:cs typeface="+mn-lt"/>
              </a:rPr>
              <a:t> </a:t>
            </a:r>
            <a:endParaRPr lang="en-US" sz="2000" dirty="0"/>
          </a:p>
          <a:p>
            <a:pPr marL="742950" lvl="1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PLC performs communication, diagnostics and system checks.</a:t>
            </a:r>
            <a:endParaRPr lang="en-US" sz="2000" dirty="0"/>
          </a:p>
          <a:p>
            <a:pPr marL="742950" lvl="1" indent="-285750">
              <a:buFont typeface="Arial"/>
              <a:buChar char="•"/>
            </a:pP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The cycle then repeats continuously.</a:t>
            </a:r>
          </a:p>
          <a:p>
            <a:r>
              <a:rPr lang="en-US" sz="2000" b="1" dirty="0">
                <a:ea typeface="+mn-lt"/>
                <a:cs typeface="+mn-lt"/>
              </a:rPr>
              <a:t>Input scan → Program scan → Output update → Internal operations → Repeat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71811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1D632C6-9686-CB30-6B4A-2D45120474C3}"/>
              </a:ext>
            </a:extLst>
          </p:cNvPr>
          <p:cNvSpPr txBox="1"/>
          <p:nvPr/>
        </p:nvSpPr>
        <p:spPr>
          <a:xfrm>
            <a:off x="306778" y="306779"/>
            <a:ext cx="9159840" cy="98294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Simple example: </a:t>
            </a:r>
          </a:p>
          <a:p>
            <a:pPr>
              <a:lnSpc>
                <a:spcPct val="0"/>
              </a:lnSpc>
            </a:pPr>
            <a:endParaRPr lang="en-US" sz="2000" b="1"/>
          </a:p>
          <a:p>
            <a:r>
              <a:rPr lang="en-US"/>
              <a:t>Push button and lamp</a:t>
            </a:r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Consider the following system:</a:t>
            </a:r>
            <a:endParaRPr lang="en-US"/>
          </a:p>
          <a:p>
            <a:pPr algn="l">
              <a:lnSpc>
                <a:spcPct val="0"/>
              </a:lnSpc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Push button: Input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PLC program: Decision-making logic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Lamp: Output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>
                <a:ea typeface="+mn-lt"/>
                <a:cs typeface="+mn-lt"/>
              </a:rPr>
              <a:t> When the push button is pressed:</a:t>
            </a:r>
            <a:endParaRPr lang="en-US"/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The PLC reads the push-button signal.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It checks the programmed condition.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It updates the output.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The lamp switches ON. </a:t>
            </a:r>
            <a:endParaRPr lang="en-US"/>
          </a:p>
          <a:p>
            <a:pPr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    The PLC repeats the same cycle.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/>
              <a:t>  </a:t>
            </a:r>
            <a:r>
              <a:rPr lang="en-US" b="1"/>
              <a:t>Real-life comparison</a:t>
            </a:r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  The PLC scan cycle is similar to a security guard </a:t>
            </a:r>
          </a:p>
          <a:p>
            <a:r>
              <a:rPr lang="en-US">
                <a:ea typeface="+mn-lt"/>
                <a:cs typeface="+mn-lt"/>
              </a:rPr>
              <a:t>  repeatedly checking CCTV screens:</a:t>
            </a:r>
            <a:endParaRPr lang="en-US"/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  Observe:</a:t>
            </a:r>
            <a:r>
              <a:rPr lang="en-US">
                <a:ea typeface="+mn-lt"/>
                <a:cs typeface="+mn-lt"/>
              </a:rPr>
              <a:t> Check what is happening. 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  Decide:</a:t>
            </a:r>
            <a:r>
              <a:rPr lang="en-US">
                <a:ea typeface="+mn-lt"/>
                <a:cs typeface="+mn-lt"/>
              </a:rPr>
              <a:t> Compare it with the rules. 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  Act:</a:t>
            </a:r>
            <a:r>
              <a:rPr lang="en-US">
                <a:ea typeface="+mn-lt"/>
                <a:cs typeface="+mn-lt"/>
              </a:rPr>
              <a:t> Take the required action. </a:t>
            </a:r>
            <a:endParaRPr lang="en-US"/>
          </a:p>
          <a:p>
            <a:pPr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   Repeat:</a:t>
            </a:r>
            <a:r>
              <a:rPr lang="en-US">
                <a:ea typeface="+mn-lt"/>
                <a:cs typeface="+mn-lt"/>
              </a:rPr>
              <a:t> Continue monitoring.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8494FE-FDCF-75DC-1E83-CE50BF5C99A4}"/>
              </a:ext>
            </a:extLst>
          </p:cNvPr>
          <p:cNvCxnSpPr/>
          <p:nvPr/>
        </p:nvCxnSpPr>
        <p:spPr>
          <a:xfrm flipH="1">
            <a:off x="6145480" y="494805"/>
            <a:ext cx="9896" cy="5719948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FE8229D-A179-81AC-7ED7-CF70572F6D4C}"/>
              </a:ext>
            </a:extLst>
          </p:cNvPr>
          <p:cNvSpPr txBox="1"/>
          <p:nvPr/>
        </p:nvSpPr>
        <p:spPr>
          <a:xfrm>
            <a:off x="6650182" y="435428"/>
            <a:ext cx="5017324" cy="34190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highlight>
                  <a:srgbClr val="FFFF00"/>
                </a:highlight>
              </a:rPr>
              <a:t>Important points</a:t>
            </a:r>
          </a:p>
          <a:p>
            <a:pPr>
              <a:lnSpc>
                <a:spcPct val="0"/>
              </a:lnSpc>
            </a:pPr>
            <a:endParaRPr lang="en-US" b="1"/>
          </a:p>
          <a:p>
            <a:pPr>
              <a:buFont typeface=""/>
              <a:buChar char="•"/>
            </a:pPr>
            <a:r>
              <a:rPr lang="en-US"/>
              <a:t>The time required to complete one cycle is called </a:t>
            </a:r>
            <a:r>
              <a:rPr lang="en-US" b="1"/>
              <a:t>scan time</a:t>
            </a:r>
            <a:r>
              <a:rPr lang="en-US"/>
              <a:t>. </a:t>
            </a:r>
          </a:p>
          <a:p>
            <a:pPr>
              <a:buFont typeface=""/>
              <a:buChar char="•"/>
            </a:pPr>
            <a:endParaRPr lang="en-US"/>
          </a:p>
          <a:p>
            <a:pPr>
              <a:buFont typeface=""/>
              <a:buChar char="•"/>
            </a:pPr>
            <a:r>
              <a:rPr lang="en-US"/>
              <a:t>Scan time is generally measured in </a:t>
            </a:r>
            <a:r>
              <a:rPr lang="en-US" b="1"/>
              <a:t>milliseconds</a:t>
            </a:r>
            <a:r>
              <a:rPr lang="en-US"/>
              <a:t>. </a:t>
            </a:r>
          </a:p>
          <a:p>
            <a:pPr>
              <a:buFont typeface=""/>
              <a:buChar char="•"/>
            </a:pPr>
            <a:endParaRPr lang="en-US"/>
          </a:p>
          <a:p>
            <a:pPr>
              <a:buFont typeface=""/>
              <a:buChar char="•"/>
            </a:pPr>
            <a:r>
              <a:rPr lang="en-US"/>
              <a:t>Scan time depends on the CPU speed, program size, communication and number of instructions.</a:t>
            </a:r>
          </a:p>
          <a:p>
            <a:pPr>
              <a:buFont typeface=""/>
              <a:buChar char="•"/>
            </a:pPr>
            <a:endParaRPr lang="en-US"/>
          </a:p>
          <a:p>
            <a:pPr>
              <a:buFont typeface=""/>
              <a:buChar char="•"/>
            </a:pPr>
            <a:r>
              <a:rPr lang="en-US"/>
              <a:t>The PLC normally executes ladder logic </a:t>
            </a:r>
            <a:r>
              <a:rPr lang="en-US" b="1"/>
              <a:t>from top to bottom and left to right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75537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8ED7FF0-3EF7-F879-2194-01C3CA0D4D80}"/>
              </a:ext>
            </a:extLst>
          </p:cNvPr>
          <p:cNvSpPr txBox="1"/>
          <p:nvPr/>
        </p:nvSpPr>
        <p:spPr>
          <a:xfrm>
            <a:off x="316675" y="316675"/>
            <a:ext cx="11558648" cy="31171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ea typeface="+mn-lt"/>
                <a:cs typeface="+mn-lt"/>
              </a:rPr>
              <a:t>Activity</a:t>
            </a:r>
            <a:endParaRPr lang="en-US"/>
          </a:p>
          <a:p>
            <a:pPr>
              <a:lnSpc>
                <a:spcPct val="0"/>
              </a:lnSpc>
            </a:pPr>
            <a:endParaRPr lang="en-US" sz="2800" b="1">
              <a:ea typeface="+mn-lt"/>
              <a:cs typeface="+mn-lt"/>
            </a:endParaRPr>
          </a:p>
          <a:p>
            <a:r>
              <a:rPr lang="en-US" sz="2800">
                <a:ea typeface="+mn-lt"/>
                <a:cs typeface="+mn-lt"/>
              </a:rPr>
              <a:t>Arrange these operations in the correct order:</a:t>
            </a:r>
          </a:p>
          <a:p>
            <a:pPr>
              <a:lnSpc>
                <a:spcPct val="0"/>
              </a:lnSpc>
            </a:pPr>
            <a:endParaRPr lang="en-US" sz="280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800">
                <a:ea typeface="+mn-lt"/>
                <a:cs typeface="+mn-lt"/>
              </a:rPr>
              <a:t>  Update outputs </a:t>
            </a:r>
            <a:endParaRPr lang="en-US"/>
          </a:p>
          <a:p>
            <a:pPr marL="514350" indent="-514350">
              <a:buAutoNum type="arabicPeriod"/>
            </a:pPr>
            <a:r>
              <a:rPr lang="en-US" sz="2800">
                <a:ea typeface="+mn-lt"/>
                <a:cs typeface="+mn-lt"/>
              </a:rPr>
              <a:t>  Read inputs </a:t>
            </a:r>
            <a:endParaRPr lang="en-US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800">
                <a:ea typeface="+mn-lt"/>
                <a:cs typeface="+mn-lt"/>
              </a:rPr>
              <a:t>  Execute the program</a:t>
            </a:r>
            <a:endParaRPr lang="en-US"/>
          </a:p>
          <a:p>
            <a:endParaRPr lang="en-US" sz="2800"/>
          </a:p>
          <a:p>
            <a:endParaRPr lang="en-US" sz="2800"/>
          </a:p>
        </p:txBody>
      </p:sp>
      <p:pic>
        <p:nvPicPr>
          <p:cNvPr id="15" name="Picture 14" descr="PLC Scan Cycle: Understanding the Continuous Loop | RAHUL DAS posted on the topic | LinkedIn">
            <a:extLst>
              <a:ext uri="{FF2B5EF4-FFF2-40B4-BE49-F238E27FC236}">
                <a16:creationId xmlns:a16="http://schemas.microsoft.com/office/drawing/2014/main" id="{4F6B3890-998C-FFDC-3A26-6FA47078B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32" y="2889429"/>
            <a:ext cx="9492341" cy="3652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2029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015B01-1EA5-D4EE-0611-20792983748C}"/>
              </a:ext>
            </a:extLst>
          </p:cNvPr>
          <p:cNvSpPr txBox="1"/>
          <p:nvPr/>
        </p:nvSpPr>
        <p:spPr>
          <a:xfrm>
            <a:off x="158337" y="138545"/>
            <a:ext cx="11588337" cy="444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ea typeface="+mn-lt"/>
                <a:cs typeface="+mn-lt"/>
              </a:rPr>
              <a:t>    Types of PLC Inputs and Outputs</a:t>
            </a:r>
          </a:p>
          <a:p>
            <a:pPr>
              <a:lnSpc>
                <a:spcPct val="0"/>
              </a:lnSpc>
            </a:pPr>
            <a:endParaRPr lang="en-US" sz="2400" b="1">
              <a:ea typeface="+mn-lt"/>
              <a:cs typeface="+mn-lt"/>
            </a:endParaRPr>
          </a:p>
          <a:p>
            <a:r>
              <a:rPr lang="en-US" sz="2400">
                <a:ea typeface="+mn-lt"/>
                <a:cs typeface="+mn-lt"/>
              </a:rPr>
              <a:t>     </a:t>
            </a:r>
            <a:r>
              <a:rPr lang="en-US" sz="2000">
                <a:ea typeface="+mn-lt"/>
                <a:cs typeface="+mn-lt"/>
              </a:rPr>
              <a:t>A PLC communicates with machines through </a:t>
            </a:r>
            <a:r>
              <a:rPr lang="en-US" sz="2000" b="1">
                <a:ea typeface="+mn-lt"/>
                <a:cs typeface="+mn-lt"/>
              </a:rPr>
              <a:t>input and output signals</a:t>
            </a:r>
            <a:r>
              <a:rPr lang="en-US" sz="2000">
                <a:ea typeface="+mn-lt"/>
                <a:cs typeface="+mn-lt"/>
              </a:rPr>
              <a:t>.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Inputs</a:t>
            </a:r>
            <a:r>
              <a:rPr lang="en-US" sz="2000">
                <a:ea typeface="+mn-lt"/>
                <a:cs typeface="+mn-lt"/>
              </a:rPr>
              <a:t> provide information to the PLC. 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Outputs</a:t>
            </a:r>
            <a:r>
              <a:rPr lang="en-US" sz="2000">
                <a:ea typeface="+mn-lt"/>
                <a:cs typeface="+mn-lt"/>
              </a:rPr>
              <a:t> receive commands from the PLC and perform an action. </a:t>
            </a:r>
            <a:endParaRPr lang="en-US" sz="2000"/>
          </a:p>
          <a:p>
            <a:pPr marL="285750" indent="-285750">
              <a:buFont typeface="Arial"/>
              <a:buChar char="•"/>
            </a:pPr>
            <a:endParaRPr lang="en-US" sz="2000"/>
          </a:p>
          <a:p>
            <a:r>
              <a:rPr lang="en-US"/>
              <a:t> </a:t>
            </a:r>
            <a:r>
              <a:rPr lang="en-US" b="1"/>
              <a:t>1. Digital signals</a:t>
            </a:r>
            <a:endParaRPr lang="en-US" sz="2000" b="1"/>
          </a:p>
          <a:p>
            <a:pPr>
              <a:lnSpc>
                <a:spcPct val="0"/>
              </a:lnSpc>
            </a:pPr>
            <a:endParaRPr lang="en-US" b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       A digital signal has only two states:</a:t>
            </a:r>
            <a:endParaRPr lang="en-US"/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ON or OFF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1 or 0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TRUE or FALSE</a:t>
            </a:r>
            <a:endParaRPr lang="en-US"/>
          </a:p>
          <a:p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endParaRPr lang="en-US" sz="2400"/>
          </a:p>
          <a:p>
            <a:endParaRPr lang="en-US" sz="2400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41DD6A-6488-E8E9-1D83-0D2808BD11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14374"/>
              </p:ext>
            </p:extLst>
          </p:nvPr>
        </p:nvGraphicFramePr>
        <p:xfrm>
          <a:off x="517369" y="3572454"/>
          <a:ext cx="10870296" cy="225044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435148">
                  <a:extLst>
                    <a:ext uri="{9D8B030D-6E8A-4147-A177-3AD203B41FA5}">
                      <a16:colId xmlns:a16="http://schemas.microsoft.com/office/drawing/2014/main" val="1991441655"/>
                    </a:ext>
                  </a:extLst>
                </a:gridCol>
                <a:gridCol w="5435148">
                  <a:extLst>
                    <a:ext uri="{9D8B030D-6E8A-4147-A177-3AD203B41FA5}">
                      <a16:colId xmlns:a16="http://schemas.microsoft.com/office/drawing/2014/main" val="195690923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>
                          <a:latin typeface="Aptos"/>
                        </a:rPr>
                        <a:t>Digital inputs</a:t>
                      </a:r>
                      <a:endParaRPr lang="en-US" sz="20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1" i="0" u="none" strike="noStrike" noProof="0">
                          <a:latin typeface="Aptos"/>
                        </a:rPr>
                        <a:t>Digital outputs</a:t>
                      </a:r>
                      <a:endParaRPr lang="en-US" sz="2000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358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Push button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Indicator lamp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9575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Limit switch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Buzzer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97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Proximity sensor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Solenoid valve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843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Float switch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Contactor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841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Emergency-stop feedback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Relay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88189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D33A5F3B-6E9C-3D06-601C-D8A6A4052F3D}"/>
              </a:ext>
            </a:extLst>
          </p:cNvPr>
          <p:cNvSpPr txBox="1"/>
          <p:nvPr/>
        </p:nvSpPr>
        <p:spPr>
          <a:xfrm>
            <a:off x="514597" y="6016831"/>
            <a:ext cx="1093519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highlight>
                  <a:srgbClr val="FFFF00"/>
                </a:highlight>
                <a:ea typeface="+mn-lt"/>
                <a:cs typeface="+mn-lt"/>
              </a:rPr>
              <a:t>Example:</a:t>
            </a:r>
            <a:r>
              <a:rPr lang="en-US" b="1">
                <a:ea typeface="+mn-lt"/>
                <a:cs typeface="+mn-lt"/>
              </a:rPr>
              <a:t> When a box activates a proximity sensor, the PLC turns ON the conveyor motor.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856655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62EDD0-93D4-DDC6-DC0F-6A6A817CD155}"/>
              </a:ext>
            </a:extLst>
          </p:cNvPr>
          <p:cNvSpPr txBox="1"/>
          <p:nvPr/>
        </p:nvSpPr>
        <p:spPr>
          <a:xfrm>
            <a:off x="284480" y="355599"/>
            <a:ext cx="11612880" cy="29016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2. Analog signals</a:t>
            </a:r>
          </a:p>
          <a:p>
            <a:pPr>
              <a:lnSpc>
                <a:spcPct val="0"/>
              </a:lnSpc>
            </a:pPr>
            <a:endParaRPr lang="en-US" sz="2000" b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An analog signal represents a continuously changing value.</a:t>
            </a:r>
            <a:endParaRPr lang="en-US"/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Common industrial signal ranges: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0–10 V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4–20 mA</a:t>
            </a:r>
            <a:endParaRPr lang="en-US"/>
          </a:p>
          <a:p>
            <a:pPr algn="l"/>
            <a:endParaRPr lang="en-US"/>
          </a:p>
          <a:p>
            <a:endParaRPr lang="en-US"/>
          </a:p>
          <a:p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5B20E9E-AF9D-1A9F-DF85-7EA6AE79A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773109"/>
              </p:ext>
            </p:extLst>
          </p:nvPr>
        </p:nvGraphicFramePr>
        <p:xfrm>
          <a:off x="556953" y="3047961"/>
          <a:ext cx="9257220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628610">
                  <a:extLst>
                    <a:ext uri="{9D8B030D-6E8A-4147-A177-3AD203B41FA5}">
                      <a16:colId xmlns:a16="http://schemas.microsoft.com/office/drawing/2014/main" val="2447702632"/>
                    </a:ext>
                  </a:extLst>
                </a:gridCol>
                <a:gridCol w="4628610">
                  <a:extLst>
                    <a:ext uri="{9D8B030D-6E8A-4147-A177-3AD203B41FA5}">
                      <a16:colId xmlns:a16="http://schemas.microsoft.com/office/drawing/2014/main" val="35561256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ptos"/>
                        </a:rPr>
                        <a:t>Analog inputs</a:t>
                      </a:r>
                      <a:endParaRPr lang="en-US" sz="18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ptos"/>
                        </a:rPr>
                        <a:t>Analog outputs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352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Temperature transmitter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Variable Frequency Drive speed reference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0392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Pressure transmitter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Control valve position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9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Level transmitter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Heater power controller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75359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Flow transmitter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Analog display or meter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1248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814D6AB-BC41-6FE3-CF41-C9E5BE456F61}"/>
              </a:ext>
            </a:extLst>
          </p:cNvPr>
          <p:cNvSpPr txBox="1"/>
          <p:nvPr/>
        </p:nvSpPr>
        <p:spPr>
          <a:xfrm>
            <a:off x="484908" y="4423558"/>
            <a:ext cx="11143012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>
              <a:ea typeface="+mn-lt"/>
              <a:cs typeface="+mn-lt"/>
            </a:endParaRPr>
          </a:p>
          <a:p>
            <a:endParaRPr lang="en-US" b="1">
              <a:ea typeface="+mn-lt"/>
              <a:cs typeface="+mn-lt"/>
            </a:endParaRPr>
          </a:p>
          <a:p>
            <a:endParaRPr lang="en-US" b="1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Example:</a:t>
            </a:r>
            <a:r>
              <a:rPr lang="en-US">
                <a:ea typeface="+mn-lt"/>
                <a:cs typeface="+mn-lt"/>
              </a:rPr>
              <a:t> A temperature transmitter sends a 4–20 mA signal representing 0–100°C. The PLC uses this value to control a cooling fan or valve.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521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DB56C89-6A91-072E-188D-D91B0ED6B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440097"/>
              </p:ext>
            </p:extLst>
          </p:nvPr>
        </p:nvGraphicFramePr>
        <p:xfrm>
          <a:off x="507472" y="534350"/>
          <a:ext cx="8168640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4101742520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2132691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ptos"/>
                        </a:rPr>
                        <a:t>Digital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i="0" u="none" strike="noStrike" noProof="0">
                          <a:latin typeface="Aptos"/>
                        </a:rPr>
                        <a:t>Analog</a:t>
                      </a:r>
                      <a:endParaRPr lang="en-US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6913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Only two states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Range of values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226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Lamp ON/OFF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Lamp brightness 0–100%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48998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Motor Start/Stop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Motor speed control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6257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Tank Low/Full switch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Exact tank level measurement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307648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A13E97A-297D-77A1-F1C4-09E26628A9CF}"/>
              </a:ext>
            </a:extLst>
          </p:cNvPr>
          <p:cNvSpPr txBox="1"/>
          <p:nvPr/>
        </p:nvSpPr>
        <p:spPr>
          <a:xfrm>
            <a:off x="445716" y="2681908"/>
            <a:ext cx="11147958" cy="23110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Important point</a:t>
            </a:r>
            <a:endParaRPr lang="en-US" dirty="0"/>
          </a:p>
          <a:p>
            <a:pPr>
              <a:lnSpc>
                <a:spcPct val="0"/>
              </a:lnSpc>
            </a:pPr>
            <a:endParaRPr lang="en-US" dirty="0">
              <a:highlight>
                <a:srgbClr val="FFFF00"/>
              </a:highlight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PLC input and output modules must match the signal type and electrical rating of the connected device.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7926EF-A3FB-E0FF-2B14-0BBA1A45E1E8}"/>
              </a:ext>
            </a:extLst>
          </p:cNvPr>
          <p:cNvSpPr/>
          <p:nvPr/>
        </p:nvSpPr>
        <p:spPr>
          <a:xfrm>
            <a:off x="445716" y="3157176"/>
            <a:ext cx="10389432" cy="9574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090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23FCF85-DC80-415C-997A-0ACDE8C7766A}"/>
              </a:ext>
            </a:extLst>
          </p:cNvPr>
          <p:cNvSpPr txBox="1"/>
          <p:nvPr/>
        </p:nvSpPr>
        <p:spPr>
          <a:xfrm>
            <a:off x="243840" y="213359"/>
            <a:ext cx="11684000" cy="26246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/>
              <a:t>PLC Input and Output Addressing</a:t>
            </a:r>
          </a:p>
          <a:p>
            <a:pPr>
              <a:lnSpc>
                <a:spcPct val="0"/>
              </a:lnSpc>
            </a:pPr>
            <a:endParaRPr lang="en-US" sz="2000" b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Every input, output and internal memory location in a PLC is given a unique </a:t>
            </a:r>
            <a:r>
              <a:rPr lang="en-US" b="1">
                <a:ea typeface="+mn-lt"/>
                <a:cs typeface="+mn-lt"/>
              </a:rPr>
              <a:t>address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An address helps the PLC identify:</a:t>
            </a:r>
            <a:endParaRPr lang="en-US"/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Which input signal must be read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Which output device must be controlled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Which internal memory value must be used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8407074-439A-86AB-4F0D-A91E86C1C6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623515"/>
              </p:ext>
            </p:extLst>
          </p:nvPr>
        </p:nvGraphicFramePr>
        <p:xfrm>
          <a:off x="398615" y="2384921"/>
          <a:ext cx="10969203" cy="2920122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656401">
                  <a:extLst>
                    <a:ext uri="{9D8B030D-6E8A-4147-A177-3AD203B41FA5}">
                      <a16:colId xmlns:a16="http://schemas.microsoft.com/office/drawing/2014/main" val="1595435864"/>
                    </a:ext>
                  </a:extLst>
                </a:gridCol>
                <a:gridCol w="3656401">
                  <a:extLst>
                    <a:ext uri="{9D8B030D-6E8A-4147-A177-3AD203B41FA5}">
                      <a16:colId xmlns:a16="http://schemas.microsoft.com/office/drawing/2014/main" val="1325498341"/>
                    </a:ext>
                  </a:extLst>
                </a:gridCol>
                <a:gridCol w="3656401">
                  <a:extLst>
                    <a:ext uri="{9D8B030D-6E8A-4147-A177-3AD203B41FA5}">
                      <a16:colId xmlns:a16="http://schemas.microsoft.com/office/drawing/2014/main" val="3005278295"/>
                    </a:ext>
                  </a:extLst>
                </a:gridCol>
              </a:tblGrid>
              <a:tr h="4866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726690"/>
                  </a:ext>
                </a:extLst>
              </a:tr>
              <a:tr h="4866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221706"/>
                  </a:ext>
                </a:extLst>
              </a:tr>
              <a:tr h="4866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1141447"/>
                  </a:ext>
                </a:extLst>
              </a:tr>
              <a:tr h="4866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729954"/>
                  </a:ext>
                </a:extLst>
              </a:tr>
              <a:tr h="4866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2907520"/>
                  </a:ext>
                </a:extLst>
              </a:tr>
              <a:tr h="48668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659869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4D36084-CE18-116E-7C3D-3EE8F2574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579766"/>
              </p:ext>
            </p:extLst>
          </p:nvPr>
        </p:nvGraphicFramePr>
        <p:xfrm>
          <a:off x="484909" y="2470266"/>
          <a:ext cx="12192000" cy="28600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8806236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1737132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49131291"/>
                    </a:ext>
                  </a:extLst>
                </a:gridCol>
              </a:tblGrid>
              <a:tr h="4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Field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9502554"/>
                  </a:ext>
                </a:extLst>
              </a:tr>
              <a:tr h="4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 push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I0.0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092616"/>
                  </a:ext>
                </a:extLst>
              </a:tr>
              <a:tr h="4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Stop push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I0.1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698988"/>
                  </a:ext>
                </a:extLst>
              </a:tr>
              <a:tr h="4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Proximity sensor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 input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I0.2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518422"/>
                  </a:ext>
                </a:extLst>
              </a:tr>
              <a:tr h="4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Motor contactor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Q0.0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601294"/>
                  </a:ext>
                </a:extLst>
              </a:tr>
              <a:tr h="476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Indicator lamp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Q0.1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380137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3662555C-BC89-7167-5316-CE9D870DE391}"/>
              </a:ext>
            </a:extLst>
          </p:cNvPr>
          <p:cNvSpPr txBox="1"/>
          <p:nvPr/>
        </p:nvSpPr>
        <p:spPr>
          <a:xfrm>
            <a:off x="395845" y="5551713"/>
            <a:ext cx="1096488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These are Siemens-style addresses. Address formats vary depending on the PLC manufacturer and software.</a:t>
            </a:r>
            <a:endParaRPr lang="en-US"/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031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82ECCF7-A522-F3BB-B5D2-F4C4546210DD}"/>
              </a:ext>
            </a:extLst>
          </p:cNvPr>
          <p:cNvSpPr txBox="1"/>
          <p:nvPr/>
        </p:nvSpPr>
        <p:spPr>
          <a:xfrm>
            <a:off x="122877" y="287812"/>
            <a:ext cx="11800278" cy="42666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Understanding the address</a:t>
            </a:r>
          </a:p>
          <a:p>
            <a:pPr>
              <a:lnSpc>
                <a:spcPct val="0"/>
              </a:lnSpc>
            </a:pPr>
            <a:endParaRPr lang="en-US" b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For the address </a:t>
            </a:r>
            <a:r>
              <a:rPr lang="en-US">
                <a:latin typeface="Consolas"/>
              </a:rPr>
              <a:t>I0.2</a:t>
            </a:r>
            <a:r>
              <a:rPr lang="en-US">
                <a:ea typeface="+mn-lt"/>
                <a:cs typeface="+mn-lt"/>
              </a:rPr>
              <a:t>:</a:t>
            </a:r>
            <a:endParaRPr lang="en-US"/>
          </a:p>
          <a:p>
            <a:pPr>
              <a:lnSpc>
                <a:spcPct val="0"/>
              </a:lnSpc>
            </a:pPr>
            <a:endParaRPr lang="en-US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</a:rPr>
              <a:t>I</a:t>
            </a:r>
            <a:r>
              <a:rPr lang="en-US">
                <a:ea typeface="+mn-lt"/>
                <a:cs typeface="+mn-lt"/>
              </a:rPr>
              <a:t> represents </a:t>
            </a:r>
            <a:r>
              <a:rPr lang="en-US" b="1">
                <a:ea typeface="+mn-lt"/>
                <a:cs typeface="+mn-lt"/>
              </a:rPr>
              <a:t>Input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</a:rPr>
              <a:t>0</a:t>
            </a:r>
            <a:r>
              <a:rPr lang="en-US">
                <a:ea typeface="+mn-lt"/>
                <a:cs typeface="+mn-lt"/>
              </a:rPr>
              <a:t> represents </a:t>
            </a:r>
            <a:r>
              <a:rPr lang="en-US" b="1">
                <a:ea typeface="+mn-lt"/>
                <a:cs typeface="+mn-lt"/>
              </a:rPr>
              <a:t>Byte 0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</a:rPr>
              <a:t>2</a:t>
            </a:r>
            <a:r>
              <a:rPr lang="en-US">
                <a:ea typeface="+mn-lt"/>
                <a:cs typeface="+mn-lt"/>
              </a:rPr>
              <a:t> represents </a:t>
            </a:r>
            <a:r>
              <a:rPr lang="en-US" b="1">
                <a:ea typeface="+mn-lt"/>
                <a:cs typeface="+mn-lt"/>
              </a:rPr>
              <a:t>Bit 2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lnSpc>
                <a:spcPct val="0"/>
              </a:lnSpc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lnSpc>
                <a:spcPct val="0"/>
              </a:lnSpc>
              <a:buFont typeface="Arial"/>
              <a:buChar char="•"/>
            </a:pPr>
            <a:endParaRPr lang="en-US"/>
          </a:p>
          <a:p>
            <a:r>
              <a:rPr lang="en-US">
                <a:highlight>
                  <a:srgbClr val="FFFF00"/>
                </a:highlight>
              </a:rPr>
              <a:t>Example control operation</a:t>
            </a:r>
          </a:p>
          <a:p>
            <a:pPr>
              <a:lnSpc>
                <a:spcPct val="0"/>
              </a:lnSpc>
            </a:pPr>
            <a:endParaRPr lang="en-US">
              <a:highlight>
                <a:srgbClr val="FFFF00"/>
              </a:highlight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Consider a conveyor system:</a:t>
            </a:r>
            <a:endParaRPr lang="en-US"/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Start button: </a:t>
            </a:r>
            <a:r>
              <a:rPr lang="en-US">
                <a:latin typeface="Consolas"/>
              </a:rPr>
              <a:t>I0.0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Stop button: </a:t>
            </a:r>
            <a:r>
              <a:rPr lang="en-US">
                <a:latin typeface="Consolas"/>
              </a:rPr>
              <a:t>I0.1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Box sensor: </a:t>
            </a:r>
            <a:r>
              <a:rPr lang="en-US">
                <a:latin typeface="Consolas"/>
              </a:rPr>
              <a:t>I0.2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Conveyor motor: </a:t>
            </a:r>
            <a:r>
              <a:rPr lang="en-US">
                <a:latin typeface="Consolas"/>
              </a:rPr>
              <a:t>Q0.0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Box-detected lamp: </a:t>
            </a:r>
            <a:r>
              <a:rPr lang="en-US">
                <a:latin typeface="Consolas"/>
              </a:rPr>
              <a:t>Q0.1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pPr marL="285750" indent="-285750">
              <a:lnSpc>
                <a:spcPct val="0"/>
              </a:lnSpc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        </a:t>
            </a:r>
            <a:endParaRPr lang="en-US" b="1"/>
          </a:p>
          <a:p>
            <a:endParaRPr lang="en-US" b="1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B5B17B4-CEC0-B34D-F427-2185BC887C90}"/>
              </a:ext>
            </a:extLst>
          </p:cNvPr>
          <p:cNvCxnSpPr>
            <a:cxnSpLocks/>
          </p:cNvCxnSpPr>
          <p:nvPr/>
        </p:nvCxnSpPr>
        <p:spPr>
          <a:xfrm>
            <a:off x="5591299" y="287812"/>
            <a:ext cx="81914" cy="3517272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5142D93-8392-5494-6175-21C639E4D988}"/>
              </a:ext>
            </a:extLst>
          </p:cNvPr>
          <p:cNvSpPr txBox="1"/>
          <p:nvPr/>
        </p:nvSpPr>
        <p:spPr>
          <a:xfrm>
            <a:off x="5785099" y="409038"/>
            <a:ext cx="6134757" cy="2811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079"/>
              </a:lnSpc>
            </a:pPr>
            <a:endParaRPr lang="en-US">
              <a:solidFill>
                <a:srgbClr val="000000"/>
              </a:solidFill>
              <a:latin typeface="Aptos"/>
            </a:endParaRPr>
          </a:p>
          <a:p>
            <a:pPr algn="l">
              <a:lnSpc>
                <a:spcPts val="2079"/>
              </a:lnSpc>
            </a:pPr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</a:rPr>
              <a:t>For the address 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Consolas"/>
              </a:rPr>
              <a:t>Q0.1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</a:rPr>
              <a:t>:</a:t>
            </a:r>
            <a:r>
              <a:rPr lang="en-US" sz="1800" b="0" i="0">
                <a:latin typeface="Aptos"/>
              </a:rPr>
              <a:t>​</a:t>
            </a:r>
            <a:endParaRPr lang="en-US"/>
          </a:p>
          <a:p>
            <a:pPr>
              <a:lnSpc>
                <a:spcPct val="0"/>
              </a:lnSpc>
            </a:pPr>
            <a:endParaRPr lang="en-US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lvl="0" indent="-285750" algn="l" rtl="0">
              <a:lnSpc>
                <a:spcPts val="2079"/>
              </a:lnSpc>
              <a:buFont typeface="Arial,Sans-Serif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Consolas"/>
                <a:ea typeface="Arial"/>
                <a:cs typeface="Arial"/>
              </a:rPr>
              <a:t>Q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represents 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Output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800" b="0" i="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lnSpc>
                <a:spcPts val="2079"/>
              </a:lnSpc>
              <a:buFont typeface="Arial,Sans-Serif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Consolas"/>
                <a:ea typeface="Arial"/>
                <a:cs typeface="Arial"/>
              </a:rPr>
              <a:t>0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represents 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Byte 0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800" b="0" i="0">
                <a:latin typeface="Aptos"/>
                <a:ea typeface="Arial"/>
                <a:cs typeface="Arial"/>
              </a:rPr>
              <a:t>​</a:t>
            </a:r>
          </a:p>
          <a:p>
            <a:pPr marL="285750" lvl="0" indent="-285750" algn="l" rtl="0">
              <a:lnSpc>
                <a:spcPts val="2079"/>
              </a:lnSpc>
              <a:buFont typeface="Arial,Sans-Serif"/>
              <a:buChar char="•"/>
            </a:pPr>
            <a:r>
              <a:rPr lang="en-US" sz="1800" b="0" i="0" u="none" strike="noStrike" baseline="0">
                <a:solidFill>
                  <a:srgbClr val="000000"/>
                </a:solidFill>
                <a:latin typeface="Consolas"/>
                <a:ea typeface="Arial"/>
                <a:cs typeface="Arial"/>
              </a:rPr>
              <a:t>1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represents 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Bit 1</a:t>
            </a:r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800" b="0" i="0">
                <a:latin typeface="Aptos"/>
                <a:ea typeface="Arial"/>
                <a:cs typeface="Arial"/>
              </a:rPr>
              <a:t>​</a:t>
            </a:r>
          </a:p>
          <a:p>
            <a:pPr marL="285750" indent="-285750">
              <a:lnSpc>
                <a:spcPts val="2079"/>
              </a:lnSpc>
              <a:buFont typeface="Arial,Sans-Serif"/>
              <a:buChar char="•"/>
            </a:pPr>
            <a:endParaRPr lang="en-US">
              <a:latin typeface="Aptos"/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b="1">
              <a:latin typeface="Aptos"/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Aptos"/>
                <a:ea typeface="Arial"/>
                <a:cs typeface="Arial"/>
              </a:rPr>
              <a:t>When the box sensor at </a:t>
            </a:r>
            <a:r>
              <a:rPr lang="en-US" b="1">
                <a:latin typeface="Consolas"/>
                <a:ea typeface="Arial"/>
                <a:cs typeface="Arial"/>
              </a:rPr>
              <a:t>I0.2</a:t>
            </a:r>
            <a:r>
              <a:rPr lang="en-US" b="1">
                <a:latin typeface="Aptos"/>
                <a:ea typeface="Arial"/>
                <a:cs typeface="Arial"/>
              </a:rPr>
              <a:t> detects a box, the PLC </a:t>
            </a:r>
            <a:endParaRPr lang="en-US">
              <a:latin typeface="Aptos"/>
              <a:ea typeface="Arial"/>
              <a:cs typeface="Arial"/>
            </a:endParaRPr>
          </a:p>
          <a:p>
            <a:r>
              <a:rPr lang="en-US" b="1">
                <a:latin typeface="Aptos"/>
                <a:ea typeface="Arial"/>
                <a:cs typeface="Arial"/>
              </a:rPr>
              <a:t>      program can switch ON the indicator lamp at </a:t>
            </a:r>
            <a:r>
              <a:rPr lang="en-US" b="1">
                <a:latin typeface="Consolas"/>
                <a:ea typeface="Arial"/>
                <a:cs typeface="Arial"/>
              </a:rPr>
              <a:t>Q0.1</a:t>
            </a:r>
            <a:r>
              <a:rPr lang="en-US" b="1">
                <a:latin typeface="Aptos"/>
                <a:ea typeface="Arial"/>
                <a:cs typeface="Arial"/>
              </a:rPr>
              <a:t>.</a:t>
            </a:r>
            <a:endParaRPr lang="en-US">
              <a:latin typeface="Aptos"/>
              <a:ea typeface="Arial"/>
              <a:cs typeface="Arial"/>
            </a:endParaRPr>
          </a:p>
          <a:p>
            <a:pPr marL="285750" indent="-285750">
              <a:lnSpc>
                <a:spcPts val="2079"/>
              </a:lnSpc>
              <a:buFont typeface="Arial,Sans-Serif"/>
              <a:buChar char="•"/>
            </a:pPr>
            <a:endParaRPr lang="en-US">
              <a:latin typeface="Aptos"/>
              <a:ea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D86304-882A-D74F-5267-15C935F0F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67" y="3965139"/>
            <a:ext cx="11786379" cy="281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40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7DFD70-F53C-1A54-B4F8-1DBA2B665E64}"/>
              </a:ext>
            </a:extLst>
          </p:cNvPr>
          <p:cNvSpPr txBox="1"/>
          <p:nvPr/>
        </p:nvSpPr>
        <p:spPr>
          <a:xfrm>
            <a:off x="681643" y="264160"/>
            <a:ext cx="11164917" cy="5940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 Introduction to Ladder Logic</a:t>
            </a:r>
          </a:p>
          <a:p>
            <a:r>
              <a:rPr lang="en-US" sz="2000" b="1" dirty="0"/>
              <a:t>      </a:t>
            </a:r>
          </a:p>
          <a:p>
            <a:r>
              <a:rPr lang="en-US" sz="2000" b="1" dirty="0">
                <a:ea typeface="+mn-lt"/>
                <a:cs typeface="+mn-lt"/>
              </a:rPr>
              <a:t>Ladder Logic</a:t>
            </a:r>
            <a:r>
              <a:rPr lang="en-US" sz="2000" dirty="0">
                <a:ea typeface="+mn-lt"/>
                <a:cs typeface="+mn-lt"/>
              </a:rPr>
              <a:t> is a graphical PLC programming language used to control industrial machines and  processes.</a:t>
            </a:r>
            <a:endParaRPr lang="en-US" sz="2000" b="1" dirty="0"/>
          </a:p>
          <a:p>
            <a:r>
              <a:rPr lang="en-US" sz="2000" dirty="0">
                <a:ea typeface="+mn-lt"/>
                <a:cs typeface="+mn-lt"/>
              </a:rPr>
              <a:t>It is called ladder logic because the program resembles a ladder.</a:t>
            </a:r>
            <a:endParaRPr lang="en-US" dirty="0"/>
          </a:p>
          <a:p>
            <a:endParaRPr lang="en-US" sz="2000" dirty="0"/>
          </a:p>
          <a:p>
            <a:r>
              <a:rPr lang="en-US" sz="2000" b="1" dirty="0"/>
              <a:t>Main parts of a ladder diagram</a:t>
            </a:r>
          </a:p>
          <a:p>
            <a:endParaRPr lang="en-US" sz="20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Left power rail:</a:t>
            </a:r>
            <a:r>
              <a:rPr lang="en-US" sz="2000" dirty="0">
                <a:ea typeface="+mn-lt"/>
                <a:cs typeface="+mn-lt"/>
              </a:rPr>
              <a:t> Represents the beginning of the logical path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Right power rail:</a:t>
            </a:r>
            <a:r>
              <a:rPr lang="en-US" sz="2000" dirty="0">
                <a:ea typeface="+mn-lt"/>
                <a:cs typeface="+mn-lt"/>
              </a:rPr>
              <a:t> Represents the end of the logical path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Rung:</a:t>
            </a:r>
            <a:r>
              <a:rPr lang="en-US" sz="2000" dirty="0">
                <a:ea typeface="+mn-lt"/>
                <a:cs typeface="+mn-lt"/>
              </a:rPr>
              <a:t> A horizontal line containing one control operation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Contacts:</a:t>
            </a:r>
            <a:r>
              <a:rPr lang="en-US" sz="2000" dirty="0">
                <a:ea typeface="+mn-lt"/>
                <a:cs typeface="+mn-lt"/>
              </a:rPr>
              <a:t> Represent input conditions or internal conditions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Coils:</a:t>
            </a:r>
            <a:r>
              <a:rPr lang="en-US" sz="2000" dirty="0">
                <a:ea typeface="+mn-lt"/>
                <a:cs typeface="+mn-lt"/>
              </a:rPr>
              <a:t> Represent output commands or internal results</a:t>
            </a:r>
            <a:endParaRPr lang="en-US" dirty="0"/>
          </a:p>
          <a:p>
            <a:endParaRPr lang="en-US" sz="2000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792198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183495-54FE-70F6-1B49-9EA7E5279D0B}"/>
              </a:ext>
            </a:extLst>
          </p:cNvPr>
          <p:cNvSpPr txBox="1"/>
          <p:nvPr/>
        </p:nvSpPr>
        <p:spPr>
          <a:xfrm>
            <a:off x="183903" y="108031"/>
            <a:ext cx="11810998" cy="92025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+mn-lt"/>
                <a:cs typeface="+mn-lt"/>
              </a:rPr>
              <a:t>Basic ladder rung</a:t>
            </a:r>
            <a:endParaRPr lang="en-US" b="1"/>
          </a:p>
          <a:p>
            <a:endParaRPr lang="en-US" sz="2000" b="1"/>
          </a:p>
          <a:p>
            <a:r>
              <a:rPr lang="en-US" sz="2000"/>
              <a:t>|----[ Start Button ]----------------( Lamp )----|</a:t>
            </a:r>
            <a:endParaRPr lang="en-US"/>
          </a:p>
          <a:p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</a:rPr>
              <a:t>[ Start Button ]</a:t>
            </a:r>
            <a:r>
              <a:rPr lang="en-US"/>
              <a:t> represents an input contact.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latin typeface="Consolas"/>
              </a:rPr>
              <a:t>( Lamp )</a:t>
            </a:r>
            <a:r>
              <a:rPr lang="en-US"/>
              <a:t> represents an output coil.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When the input condition is </a:t>
            </a:r>
            <a:r>
              <a:rPr lang="en-US" b="1"/>
              <a:t>TRUE</a:t>
            </a:r>
            <a:r>
              <a:rPr lang="en-US"/>
              <a:t>, the rung becomes true and the output coil turns </a:t>
            </a:r>
            <a:r>
              <a:rPr lang="en-US" b="1"/>
              <a:t>ON</a:t>
            </a:r>
            <a:r>
              <a:rPr lang="en-US"/>
              <a:t>.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/>
              <a:t>When the input condition is </a:t>
            </a:r>
            <a:r>
              <a:rPr lang="en-US" b="1"/>
              <a:t>FALSE</a:t>
            </a:r>
            <a:r>
              <a:rPr lang="en-US"/>
              <a:t>, the output coil turns </a:t>
            </a:r>
            <a:r>
              <a:rPr lang="en-US" b="1"/>
              <a:t>OFF</a:t>
            </a:r>
            <a:r>
              <a:rPr lang="en-US"/>
              <a:t>. </a:t>
            </a:r>
          </a:p>
          <a:p>
            <a:endParaRPr lang="en-US"/>
          </a:p>
          <a:p>
            <a:r>
              <a:rPr lang="en-US" b="1"/>
              <a:t>Example addresses</a:t>
            </a:r>
            <a:endParaRPr lang="en-US"/>
          </a:p>
          <a:p>
            <a:endParaRPr lang="en-US" b="1"/>
          </a:p>
          <a:p>
            <a:r>
              <a:rPr lang="en-US">
                <a:ea typeface="+mn-lt"/>
                <a:cs typeface="+mn-lt"/>
              </a:rPr>
              <a:t>|----[ %IX0.0 ]---------------------( %QX0.0 )----|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   Start button                     Lamp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  <a:p>
            <a:endParaRPr lang="en-US" sz="20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F7C866-905B-4C06-DEED-9F43F9AF95B6}"/>
              </a:ext>
            </a:extLst>
          </p:cNvPr>
          <p:cNvSpPr/>
          <p:nvPr/>
        </p:nvSpPr>
        <p:spPr>
          <a:xfrm>
            <a:off x="188025" y="553355"/>
            <a:ext cx="6768935" cy="7133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C7FA0E-3D8C-5CFD-F553-12DAEE9EFFB3}"/>
              </a:ext>
            </a:extLst>
          </p:cNvPr>
          <p:cNvSpPr/>
          <p:nvPr/>
        </p:nvSpPr>
        <p:spPr>
          <a:xfrm>
            <a:off x="190501" y="4017818"/>
            <a:ext cx="6764809" cy="7619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89412E2-591A-7146-77C2-A4ED455BDA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836915"/>
              </p:ext>
            </p:extLst>
          </p:nvPr>
        </p:nvGraphicFramePr>
        <p:xfrm>
          <a:off x="269966" y="5094805"/>
          <a:ext cx="8168640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3969637829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796363112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589956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928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663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43315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7C94B2-E497-711C-8218-70C323FB6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070179"/>
              </p:ext>
            </p:extLst>
          </p:nvPr>
        </p:nvGraphicFramePr>
        <p:xfrm>
          <a:off x="272143" y="5093789"/>
          <a:ext cx="8728362" cy="10972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09454">
                  <a:extLst>
                    <a:ext uri="{9D8B030D-6E8A-4147-A177-3AD203B41FA5}">
                      <a16:colId xmlns:a16="http://schemas.microsoft.com/office/drawing/2014/main" val="1114856595"/>
                    </a:ext>
                  </a:extLst>
                </a:gridCol>
                <a:gridCol w="2909454">
                  <a:extLst>
                    <a:ext uri="{9D8B030D-6E8A-4147-A177-3AD203B41FA5}">
                      <a16:colId xmlns:a16="http://schemas.microsoft.com/office/drawing/2014/main" val="2886977805"/>
                    </a:ext>
                  </a:extLst>
                </a:gridCol>
                <a:gridCol w="2909454">
                  <a:extLst>
                    <a:ext uri="{9D8B030D-6E8A-4147-A177-3AD203B41FA5}">
                      <a16:colId xmlns:a16="http://schemas.microsoft.com/office/drawing/2014/main" val="13229726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Variable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CODESYS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718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 push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Start_Button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%IX0.0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887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Indicator lamp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Lamp_Output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%QX0.0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4500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66127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271D7C-A4D8-DE9F-CE69-3A17A9016440}"/>
              </a:ext>
            </a:extLst>
          </p:cNvPr>
          <p:cNvSpPr txBox="1"/>
          <p:nvPr/>
        </p:nvSpPr>
        <p:spPr>
          <a:xfrm>
            <a:off x="158337" y="148441"/>
            <a:ext cx="11882745" cy="95634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How the PLC executes ladder logic</a:t>
            </a:r>
          </a:p>
          <a:p>
            <a:pPr>
              <a:lnSpc>
                <a:spcPct val="0"/>
              </a:lnSpc>
            </a:pPr>
            <a:endParaRPr lang="en-US" sz="2000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The PLC checks:</a:t>
            </a:r>
            <a:endParaRPr lang="en-US" dirty="0"/>
          </a:p>
          <a:p>
            <a:pPr>
              <a:lnSpc>
                <a:spcPct val="0"/>
              </a:lnSpc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Is the condition on the left side true?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Is there a complete logical path across the rung?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If yes, energize the output coil.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If no, de-energize the output coil.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    Ladder programs are generally scanned:</a:t>
            </a:r>
            <a:endParaRPr lang="en-US" dirty="0"/>
          </a:p>
          <a:p>
            <a:pPr>
              <a:lnSpc>
                <a:spcPct val="0"/>
              </a:lnSpc>
            </a:pP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   Left to right → Top to bottom</a:t>
            </a:r>
            <a:endParaRPr lang="en-US" dirty="0"/>
          </a:p>
          <a:p>
            <a:pPr algn="l"/>
            <a:endParaRPr lang="en-US" b="1" dirty="0"/>
          </a:p>
          <a:p>
            <a:r>
              <a:rPr lang="en-US" b="1" dirty="0"/>
              <a:t>Real-life example: Automatic room light</a:t>
            </a:r>
          </a:p>
          <a:p>
            <a:pPr>
              <a:lnSpc>
                <a:spcPct val="0"/>
              </a:lnSpc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 presence sensor detects a person. </a:t>
            </a:r>
          </a:p>
          <a:p>
            <a:pPr marL="285750" indent="-285750">
              <a:lnSpc>
                <a:spcPct val="0"/>
              </a:lnSpc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PLC receives the sensor signal. </a:t>
            </a:r>
          </a:p>
          <a:p>
            <a:pPr marL="285750" indent="-285750">
              <a:lnSpc>
                <a:spcPct val="0"/>
              </a:lnSpc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corresponding ladder contact becomes true. </a:t>
            </a:r>
          </a:p>
          <a:p>
            <a:pPr marL="285750" indent="-285750">
              <a:lnSpc>
                <a:spcPct val="0"/>
              </a:lnSpc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The PLC energizes the lamp output. </a:t>
            </a:r>
          </a:p>
          <a:p>
            <a:pPr marL="285750" indent="-285750">
              <a:lnSpc>
                <a:spcPct val="0"/>
              </a:lnSpc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When no person is detected, the lamp switches OFF.</a:t>
            </a:r>
          </a:p>
          <a:p>
            <a:endParaRPr lang="en-US" b="1" dirty="0"/>
          </a:p>
          <a:p>
            <a:r>
              <a:rPr lang="en-US" dirty="0">
                <a:highlight>
                  <a:srgbClr val="FFFF00"/>
                </a:highlight>
              </a:rPr>
              <a:t>Important </a:t>
            </a:r>
          </a:p>
          <a:p>
            <a:pPr>
              <a:lnSpc>
                <a:spcPct val="0"/>
              </a:lnSpc>
            </a:pP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The lines in ladder logic represent a </a:t>
            </a:r>
            <a:r>
              <a:rPr lang="en-US" b="1" dirty="0">
                <a:ea typeface="+mn-lt"/>
                <a:cs typeface="+mn-lt"/>
              </a:rPr>
              <a:t>logical flow</a:t>
            </a:r>
            <a:r>
              <a:rPr lang="en-US" dirty="0">
                <a:ea typeface="+mn-lt"/>
                <a:cs typeface="+mn-lt"/>
              </a:rPr>
              <a:t>, not the actual electrical power flowing directly through the PLC program</a:t>
            </a:r>
            <a:endParaRPr lang="en-US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66B28A-F50E-2A35-6C4A-65F05FC1F3F0}"/>
              </a:ext>
            </a:extLst>
          </p:cNvPr>
          <p:cNvSpPr/>
          <p:nvPr/>
        </p:nvSpPr>
        <p:spPr>
          <a:xfrm>
            <a:off x="161331" y="2106674"/>
            <a:ext cx="4663538" cy="7422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u="sng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15EAD52-9870-EEDB-520E-6CDFF7D42825}"/>
              </a:ext>
            </a:extLst>
          </p:cNvPr>
          <p:cNvCxnSpPr/>
          <p:nvPr/>
        </p:nvCxnSpPr>
        <p:spPr>
          <a:xfrm>
            <a:off x="5858493" y="455220"/>
            <a:ext cx="69272" cy="456210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E23AF2-B44A-9F16-481D-68166C7A1977}"/>
              </a:ext>
            </a:extLst>
          </p:cNvPr>
          <p:cNvSpPr txBox="1"/>
          <p:nvPr/>
        </p:nvSpPr>
        <p:spPr>
          <a:xfrm>
            <a:off x="6185065" y="376051"/>
            <a:ext cx="558305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Activity</a:t>
            </a:r>
          </a:p>
          <a:p>
            <a:endParaRPr lang="en-US" b="1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(identify the following)</a:t>
            </a:r>
          </a:p>
          <a:p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|----[ Level Sensor ]---------------( Water Pump )----|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652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0BF289-2029-71B6-3192-EB207C54812C}"/>
              </a:ext>
            </a:extLst>
          </p:cNvPr>
          <p:cNvSpPr txBox="1"/>
          <p:nvPr/>
        </p:nvSpPr>
        <p:spPr>
          <a:xfrm>
            <a:off x="314960" y="345440"/>
            <a:ext cx="11551920" cy="96057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Normally Open and Normally Closed Instructions</a:t>
            </a:r>
            <a:endParaRPr lang="en-US" dirty="0"/>
          </a:p>
          <a:p>
            <a:endParaRPr lang="en-US" sz="2000" b="1" dirty="0"/>
          </a:p>
          <a:p>
            <a:r>
              <a:rPr lang="en-US" sz="2000" dirty="0">
                <a:ea typeface="+mn-lt"/>
                <a:cs typeface="+mn-lt"/>
              </a:rPr>
              <a:t>Ladder logic mainly uses two contact instructions to examine the status of a bit:</a:t>
            </a:r>
            <a:endParaRPr lang="en-US" dirty="0"/>
          </a:p>
          <a:p>
            <a:pPr>
              <a:lnSpc>
                <a:spcPct val="0"/>
              </a:lnSpc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Normally Open (NO) instruction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Normally Closed (NC) instruction </a:t>
            </a:r>
            <a:endParaRPr lang="en-US" dirty="0"/>
          </a:p>
          <a:p>
            <a:endParaRPr lang="en-US" sz="2000" b="1" dirty="0"/>
          </a:p>
          <a:p>
            <a:r>
              <a:rPr lang="en-US" sz="2000" b="1" dirty="0">
                <a:ea typeface="+mn-lt"/>
                <a:cs typeface="+mn-lt"/>
              </a:rPr>
              <a:t>Ladder symbols</a:t>
            </a:r>
            <a:endParaRPr lang="en-US" b="1" dirty="0"/>
          </a:p>
          <a:p>
            <a:endParaRPr lang="en-US" sz="2000" b="1" dirty="0"/>
          </a:p>
          <a:p>
            <a:r>
              <a:rPr lang="en-US" sz="2000" dirty="0">
                <a:ea typeface="+mn-lt"/>
                <a:cs typeface="+mn-lt"/>
              </a:rPr>
              <a:t>Normally Open (NO)               Normally Closed (NC)</a:t>
            </a:r>
            <a:endParaRPr lang="en-US" dirty="0"/>
          </a:p>
          <a:p>
            <a:endParaRPr lang="en-US" dirty="0"/>
          </a:p>
          <a:p>
            <a:r>
              <a:rPr lang="en-US" sz="2000" dirty="0">
                <a:ea typeface="+mn-lt"/>
                <a:cs typeface="+mn-lt"/>
              </a:rPr>
              <a:t>   ----| |----                                                     ----|/|----</a:t>
            </a:r>
            <a:endParaRPr lang="en-US" dirty="0"/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>
                <a:ea typeface="+mn-lt"/>
                <a:cs typeface="+mn-lt"/>
              </a:rPr>
              <a:t>Example 1 — Normally Open instruction</a:t>
            </a:r>
            <a:endParaRPr lang="en-US" b="1" dirty="0"/>
          </a:p>
          <a:p>
            <a:endParaRPr lang="en-US" sz="2000" b="1" dirty="0"/>
          </a:p>
          <a:p>
            <a:r>
              <a:rPr lang="en-US" sz="2000" dirty="0">
                <a:ea typeface="+mn-lt"/>
                <a:cs typeface="+mn-lt"/>
              </a:rPr>
              <a:t>|----| |----------------------------( )----|</a:t>
            </a:r>
            <a:endParaRPr lang="en-US" dirty="0"/>
          </a:p>
          <a:p>
            <a:r>
              <a:rPr lang="en-US" sz="2000" dirty="0">
                <a:ea typeface="+mn-lt"/>
                <a:cs typeface="+mn-lt"/>
              </a:rPr>
              <a:t>     </a:t>
            </a:r>
            <a:r>
              <a:rPr lang="en-US" sz="2000" dirty="0" err="1">
                <a:ea typeface="+mn-lt"/>
                <a:cs typeface="+mn-lt"/>
              </a:rPr>
              <a:t>Start_Button</a:t>
            </a:r>
            <a:r>
              <a:rPr lang="en-US" sz="2000" dirty="0">
                <a:ea typeface="+mn-lt"/>
                <a:cs typeface="+mn-lt"/>
              </a:rPr>
              <a:t>                   Lamp</a:t>
            </a:r>
            <a:endParaRPr lang="en-US" dirty="0"/>
          </a:p>
          <a:p>
            <a:r>
              <a:rPr lang="en-US" sz="2000" dirty="0">
                <a:ea typeface="+mn-lt"/>
                <a:cs typeface="+mn-lt"/>
              </a:rPr>
              <a:t>      %IX0.0                            %QX0.0</a:t>
            </a:r>
            <a:endParaRPr lang="en-US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79496C-0663-EA76-4FE6-B7BE67795082}"/>
              </a:ext>
            </a:extLst>
          </p:cNvPr>
          <p:cNvSpPr/>
          <p:nvPr/>
        </p:nvSpPr>
        <p:spPr>
          <a:xfrm>
            <a:off x="326571" y="2780804"/>
            <a:ext cx="6046519" cy="129638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4D6BD56-C129-CD1D-E77A-CB15781610F2}"/>
              </a:ext>
            </a:extLst>
          </p:cNvPr>
          <p:cNvCxnSpPr/>
          <p:nvPr/>
        </p:nvCxnSpPr>
        <p:spPr>
          <a:xfrm>
            <a:off x="3156857" y="2820389"/>
            <a:ext cx="19792" cy="1207324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3976C13-65C6-C2BA-3418-0790FFE3D0A3}"/>
              </a:ext>
            </a:extLst>
          </p:cNvPr>
          <p:cNvSpPr/>
          <p:nvPr/>
        </p:nvSpPr>
        <p:spPr>
          <a:xfrm>
            <a:off x="296883" y="4898571"/>
            <a:ext cx="4819402" cy="11578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C9F619A-6F0B-26C4-7953-9D76125423E0}"/>
              </a:ext>
            </a:extLst>
          </p:cNvPr>
          <p:cNvCxnSpPr/>
          <p:nvPr/>
        </p:nvCxnSpPr>
        <p:spPr>
          <a:xfrm>
            <a:off x="6739247" y="1850571"/>
            <a:ext cx="43543" cy="4447308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BB6214-12BA-EC01-44D9-6AEE4DBD6AF9}"/>
              </a:ext>
            </a:extLst>
          </p:cNvPr>
          <p:cNvSpPr txBox="1"/>
          <p:nvPr/>
        </p:nvSpPr>
        <p:spPr>
          <a:xfrm>
            <a:off x="6976753" y="1801090"/>
            <a:ext cx="464127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  Start button bit = 0 → NO instruction is   FALSE → Lamp is OFF </a:t>
            </a:r>
          </a:p>
          <a:p>
            <a:pPr>
              <a:buFont typeface=""/>
              <a:buChar char="•"/>
            </a:pPr>
            <a:endParaRPr lang="en-US"/>
          </a:p>
          <a:p>
            <a:pPr>
              <a:buFont typeface=""/>
              <a:buChar char="•"/>
            </a:pPr>
            <a:r>
              <a:rPr lang="en-US"/>
              <a:t>  Start button bit = 1 → NO instruction is TRUE → Lamp is ON</a:t>
            </a:r>
          </a:p>
        </p:txBody>
      </p:sp>
    </p:spTree>
    <p:extLst>
      <p:ext uri="{BB962C8B-B14F-4D97-AF65-F5344CB8AC3E}">
        <p14:creationId xmlns:p14="http://schemas.microsoft.com/office/powerpoint/2010/main" val="24222393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0280F9-1B44-AB9A-498F-AEC7C120D327}"/>
              </a:ext>
            </a:extLst>
          </p:cNvPr>
          <p:cNvSpPr txBox="1"/>
          <p:nvPr/>
        </p:nvSpPr>
        <p:spPr>
          <a:xfrm>
            <a:off x="282864" y="323559"/>
            <a:ext cx="11626272" cy="101874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Example 2 — Normally Closed instruction</a:t>
            </a:r>
          </a:p>
          <a:p>
            <a:endParaRPr lang="en-US" sz="2000" b="1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    |----|/|----------------------------( )----|</a:t>
            </a:r>
            <a:endParaRPr lang="en-US" dirty="0"/>
          </a:p>
          <a:p>
            <a:r>
              <a:rPr lang="en-US" sz="2000" dirty="0">
                <a:ea typeface="+mn-lt"/>
                <a:cs typeface="+mn-lt"/>
              </a:rPr>
              <a:t>       Stop_Button                   Lamp</a:t>
            </a:r>
            <a:endParaRPr lang="en-US" dirty="0"/>
          </a:p>
          <a:p>
            <a:r>
              <a:rPr lang="en-US" sz="2000" dirty="0">
                <a:ea typeface="+mn-lt"/>
                <a:cs typeface="+mn-lt"/>
              </a:rPr>
              <a:t>           %IX0.1                        %QX0.0</a:t>
            </a:r>
            <a:endParaRPr lang="en-US" dirty="0"/>
          </a:p>
          <a:p>
            <a:endParaRPr lang="en-US" sz="2000" b="1" dirty="0"/>
          </a:p>
          <a:p>
            <a:endParaRPr lang="en-US" sz="2000" b="1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Stop button bit = </a:t>
            </a:r>
            <a:r>
              <a:rPr lang="en-US" sz="2000" dirty="0">
                <a:latin typeface="Consolas"/>
              </a:rPr>
              <a:t>0</a:t>
            </a:r>
            <a:r>
              <a:rPr lang="en-US" sz="2000" dirty="0">
                <a:ea typeface="+mn-lt"/>
                <a:cs typeface="+mn-lt"/>
              </a:rPr>
              <a:t> → NC instruction is TRUE → Lamp is ON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Stop button bit = </a:t>
            </a:r>
            <a:r>
              <a:rPr lang="en-US" sz="2000" dirty="0">
                <a:latin typeface="Consolas"/>
              </a:rPr>
              <a:t>1</a:t>
            </a:r>
            <a:r>
              <a:rPr lang="en-US" sz="2000" dirty="0">
                <a:ea typeface="+mn-lt"/>
                <a:cs typeface="+mn-lt"/>
              </a:rPr>
              <a:t> → NC instruction is FALSE → Lamp is OFF </a:t>
            </a:r>
            <a:endParaRPr lang="en-US" dirty="0"/>
          </a:p>
          <a:p>
            <a:endParaRPr lang="en-US" sz="2000" b="1" dirty="0"/>
          </a:p>
          <a:p>
            <a:r>
              <a:rPr lang="en-US" b="1" dirty="0"/>
              <a:t>Truth table</a:t>
            </a:r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 | Input-bit status | NO instruction </a:t>
            </a:r>
            <a:r>
              <a:rPr lang="en-US" sz="2000" dirty="0">
                <a:latin typeface="Consolas"/>
              </a:rPr>
              <a:t>—| |—</a:t>
            </a:r>
            <a:r>
              <a:rPr lang="en-US" sz="2000" dirty="0">
                <a:ea typeface="+mn-lt"/>
                <a:cs typeface="+mn-lt"/>
              </a:rPr>
              <a:t> | NC instruction </a:t>
            </a:r>
            <a:r>
              <a:rPr lang="en-US" sz="2000" dirty="0">
                <a:latin typeface="Consolas"/>
              </a:rPr>
              <a:t>—|/|—</a:t>
            </a:r>
            <a:r>
              <a:rPr lang="en-US" sz="2000" dirty="0">
                <a:ea typeface="+mn-lt"/>
                <a:cs typeface="+mn-lt"/>
              </a:rPr>
              <a:t> |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|---|---|---|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| </a:t>
            </a:r>
            <a:r>
              <a:rPr lang="en-US" sz="2000" dirty="0">
                <a:latin typeface="Consolas"/>
              </a:rPr>
              <a:t>0</a:t>
            </a:r>
            <a:r>
              <a:rPr lang="en-US" sz="2000" dirty="0">
                <a:ea typeface="+mn-lt"/>
                <a:cs typeface="+mn-lt"/>
              </a:rPr>
              <a:t> — OFF/FALSE | FALSE | TRUE |</a:t>
            </a:r>
            <a:br>
              <a:rPr lang="en-US" sz="2000" dirty="0">
                <a:ea typeface="+mn-lt"/>
                <a:cs typeface="+mn-lt"/>
              </a:rPr>
            </a:br>
            <a:r>
              <a:rPr lang="en-US" sz="2000" dirty="0">
                <a:ea typeface="+mn-lt"/>
                <a:cs typeface="+mn-lt"/>
              </a:rPr>
              <a:t> | </a:t>
            </a:r>
            <a:r>
              <a:rPr lang="en-US" sz="2000" dirty="0">
                <a:latin typeface="Consolas"/>
              </a:rPr>
              <a:t>1</a:t>
            </a:r>
            <a:r>
              <a:rPr lang="en-US" sz="2000" dirty="0">
                <a:ea typeface="+mn-lt"/>
                <a:cs typeface="+mn-lt"/>
              </a:rPr>
              <a:t> — ON/TRUE | TRUE | FALSE |</a:t>
            </a:r>
            <a:endParaRPr lang="en-US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  <a:p>
            <a:endParaRPr lang="en-US" sz="20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D278EC-9588-EF99-E2BE-8D8A3822D287}"/>
              </a:ext>
            </a:extLst>
          </p:cNvPr>
          <p:cNvSpPr/>
          <p:nvPr/>
        </p:nvSpPr>
        <p:spPr>
          <a:xfrm>
            <a:off x="435428" y="870856"/>
            <a:ext cx="4819402" cy="10687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0E7FD6-9D61-5E36-C98E-C95D9028DD8A}"/>
              </a:ext>
            </a:extLst>
          </p:cNvPr>
          <p:cNvSpPr/>
          <p:nvPr/>
        </p:nvSpPr>
        <p:spPr>
          <a:xfrm>
            <a:off x="257298" y="3820689"/>
            <a:ext cx="7195554" cy="159657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EC6C76-E67D-4DEE-5890-C3F602154A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08490" y="2143431"/>
            <a:ext cx="4345858" cy="248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785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AC4B6B-5FA0-BBC1-D89A-BC5EE4BD00CE}"/>
              </a:ext>
            </a:extLst>
          </p:cNvPr>
          <p:cNvSpPr txBox="1"/>
          <p:nvPr/>
        </p:nvSpPr>
        <p:spPr>
          <a:xfrm>
            <a:off x="258947" y="158337"/>
            <a:ext cx="11713688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highlight>
                  <a:srgbClr val="FFFF00"/>
                </a:highlight>
              </a:rPr>
              <a:t>Important </a:t>
            </a:r>
          </a:p>
          <a:p>
            <a:endParaRPr lang="en-US" b="1">
              <a:highlight>
                <a:srgbClr val="FFFF00"/>
              </a:highlight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The NO or NC ladder instruction does not necessarily describe the physical construction of the push button.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Physical NO/NC describes the electrical state of the field device in its normal, unoperated condition.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Ladder NO/NC describes how the PLC program examines the stored bit. 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For example, a physically NC stop button can still be represented by an NO instruction in the program, depending on the required logic and the input status.</a:t>
            </a:r>
            <a:endParaRPr lang="en-US"/>
          </a:p>
          <a:p>
            <a:pPr algn="l"/>
            <a:endParaRPr lang="en-US"/>
          </a:p>
          <a:p>
            <a:r>
              <a:rPr lang="en-US" b="1"/>
              <a:t>Real-life example — Safety guard</a:t>
            </a:r>
          </a:p>
          <a:p>
            <a:endParaRPr lang="en-US" b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A machine should operate only while its safety guard is closed.</a:t>
            </a:r>
            <a:endParaRPr lang="en-US"/>
          </a:p>
          <a:p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Guard closed → Sensor bit is ON → NO instruction becomes TRUE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Guard opened → Sensor bit becomes OFF → Instruction becomes FALSE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PLC stops the machine</a:t>
            </a:r>
            <a:endParaRPr lang="en-US"/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>
                <a:ea typeface="+mn-lt"/>
                <a:cs typeface="+mn-lt"/>
              </a:rPr>
              <a:t>  |----| |----------------------------( )----|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      Sensor                               Buzzer</a:t>
            </a:r>
            <a:endParaRPr lang="en-US"/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Sensor bit = </a:t>
            </a:r>
            <a:r>
              <a:rPr lang="en-US">
                <a:latin typeface="Consolas"/>
              </a:rPr>
              <a:t>0</a:t>
            </a:r>
            <a:r>
              <a:rPr lang="en-US">
                <a:ea typeface="+mn-lt"/>
                <a:cs typeface="+mn-lt"/>
              </a:rPr>
              <a:t> → Buzzer is </a:t>
            </a:r>
            <a:r>
              <a:rPr lang="en-US" b="1">
                <a:ea typeface="+mn-lt"/>
                <a:cs typeface="+mn-lt"/>
              </a:rPr>
              <a:t>OFF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Sensor bit = </a:t>
            </a:r>
            <a:r>
              <a:rPr lang="en-US">
                <a:latin typeface="Consolas"/>
              </a:rPr>
              <a:t>1</a:t>
            </a:r>
            <a:r>
              <a:rPr lang="en-US">
                <a:ea typeface="+mn-lt"/>
                <a:cs typeface="+mn-lt"/>
              </a:rPr>
              <a:t> → Buzzer is </a:t>
            </a:r>
            <a:r>
              <a:rPr lang="en-US" b="1">
                <a:ea typeface="+mn-lt"/>
                <a:cs typeface="+mn-lt"/>
              </a:rPr>
              <a:t>ON</a:t>
            </a:r>
            <a:endParaRPr lang="en-US"/>
          </a:p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ED3E6-3D94-4E1E-1D27-DB75773B90F3}"/>
              </a:ext>
            </a:extLst>
          </p:cNvPr>
          <p:cNvSpPr/>
          <p:nvPr/>
        </p:nvSpPr>
        <p:spPr>
          <a:xfrm>
            <a:off x="334818" y="5096493"/>
            <a:ext cx="3555175" cy="7422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A527520B-BAAA-76C7-A864-C65AEC13095C}"/>
              </a:ext>
            </a:extLst>
          </p:cNvPr>
          <p:cNvCxnSpPr/>
          <p:nvPr/>
        </p:nvCxnSpPr>
        <p:spPr>
          <a:xfrm>
            <a:off x="5472545" y="4858986"/>
            <a:ext cx="9896" cy="1820883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8BEC920-F075-D2CD-B1AF-EA6F7CFEF163}"/>
              </a:ext>
            </a:extLst>
          </p:cNvPr>
          <p:cNvSpPr txBox="1"/>
          <p:nvPr/>
        </p:nvSpPr>
        <p:spPr>
          <a:xfrm>
            <a:off x="5680363" y="5096494"/>
            <a:ext cx="616527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|----|/|----------------------------( )----|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   Sensor                                 Buzzer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Sensor bit = </a:t>
            </a:r>
            <a:r>
              <a:rPr lang="en-US">
                <a:latin typeface="Consolas"/>
              </a:rPr>
              <a:t>0</a:t>
            </a:r>
            <a:r>
              <a:rPr lang="en-US">
                <a:ea typeface="+mn-lt"/>
                <a:cs typeface="+mn-lt"/>
              </a:rPr>
              <a:t> → Buzzer is </a:t>
            </a:r>
            <a:r>
              <a:rPr lang="en-US" b="1">
                <a:ea typeface="+mn-lt"/>
                <a:cs typeface="+mn-lt"/>
              </a:rPr>
              <a:t>ON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Sensor bit = </a:t>
            </a:r>
            <a:r>
              <a:rPr lang="en-US">
                <a:latin typeface="Consolas"/>
              </a:rPr>
              <a:t>1</a:t>
            </a:r>
            <a:r>
              <a:rPr lang="en-US">
                <a:ea typeface="+mn-lt"/>
                <a:cs typeface="+mn-lt"/>
              </a:rPr>
              <a:t> → Buzzer is </a:t>
            </a:r>
            <a:r>
              <a:rPr lang="en-US" b="1">
                <a:ea typeface="+mn-lt"/>
                <a:cs typeface="+mn-lt"/>
              </a:rPr>
              <a:t>OFF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08ED0A-AADC-3578-24F5-411DB5C4634B}"/>
              </a:ext>
            </a:extLst>
          </p:cNvPr>
          <p:cNvSpPr/>
          <p:nvPr/>
        </p:nvSpPr>
        <p:spPr>
          <a:xfrm>
            <a:off x="5680363" y="4977740"/>
            <a:ext cx="3566555" cy="8649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363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EAB83-0637-3568-46B7-67FB4A98B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30" y="-14947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Logic gate in PLC: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300C26-EF0B-5330-B20D-87C53A1DBE85}"/>
              </a:ext>
            </a:extLst>
          </p:cNvPr>
          <p:cNvSpPr txBox="1"/>
          <p:nvPr/>
        </p:nvSpPr>
        <p:spPr>
          <a:xfrm>
            <a:off x="254330" y="801330"/>
            <a:ext cx="11357567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/>
              <a:t>Logic gates are digital devices that produce an output based on the combination of inputs, </a:t>
            </a:r>
          </a:p>
          <a:p>
            <a:r>
              <a:rPr lang="en-IN" sz="2400" dirty="0"/>
              <a:t>and the main types include:</a:t>
            </a:r>
          </a:p>
          <a:p>
            <a:endParaRPr lang="en-IN" sz="2400" dirty="0"/>
          </a:p>
          <a:p>
            <a:endParaRPr lang="en-IN" sz="2400" dirty="0"/>
          </a:p>
          <a:p>
            <a:r>
              <a:rPr lang="en-IN" sz="2400" dirty="0"/>
              <a:t>AND                                                                                         NAND                                                      </a:t>
            </a:r>
          </a:p>
          <a:p>
            <a:r>
              <a:rPr lang="en-IN" sz="2400" dirty="0"/>
              <a:t>OR                                                                                            NOR</a:t>
            </a:r>
          </a:p>
          <a:p>
            <a:r>
              <a:rPr lang="en-IN" sz="2400" dirty="0"/>
              <a:t>NOT                                                                                          XOR</a:t>
            </a:r>
          </a:p>
          <a:p>
            <a:r>
              <a:rPr lang="en-IN" sz="2400" dirty="0"/>
              <a:t>                                                                                                   XNOR gates</a:t>
            </a:r>
          </a:p>
          <a:p>
            <a:endParaRPr lang="en-IN" sz="2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5F1C553-8979-39CA-7628-0278DF47AF77}"/>
              </a:ext>
            </a:extLst>
          </p:cNvPr>
          <p:cNvCxnSpPr>
            <a:cxnSpLocks/>
          </p:cNvCxnSpPr>
          <p:nvPr/>
        </p:nvCxnSpPr>
        <p:spPr>
          <a:xfrm>
            <a:off x="5512130" y="2365887"/>
            <a:ext cx="0" cy="212622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FDC8108-7BF2-246C-8E61-0B71E307900C}"/>
              </a:ext>
            </a:extLst>
          </p:cNvPr>
          <p:cNvSpPr txBox="1"/>
          <p:nvPr/>
        </p:nvSpPr>
        <p:spPr>
          <a:xfrm>
            <a:off x="254330" y="4666246"/>
            <a:ext cx="974376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AND</a:t>
            </a:r>
            <a:r>
              <a:rPr lang="en-IN" dirty="0"/>
              <a:t> </a:t>
            </a:r>
            <a:r>
              <a:rPr lang="en-IN"/>
              <a:t>–     Output </a:t>
            </a:r>
            <a:r>
              <a:rPr lang="en-IN" dirty="0"/>
              <a:t>is HIGH only when all inputs are HIGH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OR</a:t>
            </a:r>
            <a:r>
              <a:rPr lang="en-IN" dirty="0"/>
              <a:t> –        Output is HIGH when at least one input is HIGH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NOT</a:t>
            </a:r>
            <a:r>
              <a:rPr lang="en-IN" dirty="0"/>
              <a:t> –      Inverts the input; HIGH becomes LOW and vice versa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NAND</a:t>
            </a:r>
            <a:r>
              <a:rPr lang="en-IN" dirty="0"/>
              <a:t> – Output is LOW only when all inputs are HIGH (inverted AND)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NOR</a:t>
            </a:r>
            <a:r>
              <a:rPr lang="en-IN" dirty="0"/>
              <a:t> –    Output is HIGH only when all inputs are LOW (inverted OR)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XOR</a:t>
            </a:r>
            <a:r>
              <a:rPr lang="en-IN" dirty="0"/>
              <a:t> –     Output is HIGH when inputs are different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b="1" dirty="0"/>
              <a:t>XNOR</a:t>
            </a:r>
            <a:r>
              <a:rPr lang="en-IN" dirty="0"/>
              <a:t> – Output is HIGH when inputs are the same</a:t>
            </a:r>
          </a:p>
        </p:txBody>
      </p:sp>
    </p:spTree>
    <p:extLst>
      <p:ext uri="{BB962C8B-B14F-4D97-AF65-F5344CB8AC3E}">
        <p14:creationId xmlns:p14="http://schemas.microsoft.com/office/powerpoint/2010/main" val="3156656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8902A-6022-9A28-F566-2073EF5DC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17A44-0772-A68A-A8E3-96296C7A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30" y="-14947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/>
              <a:t>AND Logic and OR Logic in Ladder Programming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A971D9-7F4B-688C-1F82-287EB945B172}"/>
              </a:ext>
            </a:extLst>
          </p:cNvPr>
          <p:cNvSpPr txBox="1"/>
          <p:nvPr/>
        </p:nvSpPr>
        <p:spPr>
          <a:xfrm>
            <a:off x="366155" y="860960"/>
            <a:ext cx="11449792" cy="8223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ea typeface="+mn-lt"/>
                <a:cs typeface="+mn-lt"/>
              </a:rPr>
              <a:t>Multiple contact instructions can be connected in </a:t>
            </a:r>
            <a:r>
              <a:rPr lang="en-US" sz="2400" b="1" dirty="0">
                <a:ea typeface="+mn-lt"/>
                <a:cs typeface="+mn-lt"/>
              </a:rPr>
              <a:t>series</a:t>
            </a:r>
            <a:r>
              <a:rPr lang="en-US" sz="2400" dirty="0">
                <a:ea typeface="+mn-lt"/>
                <a:cs typeface="+mn-lt"/>
              </a:rPr>
              <a:t> or </a:t>
            </a:r>
            <a:r>
              <a:rPr lang="en-US" sz="2400" b="1" dirty="0">
                <a:ea typeface="+mn-lt"/>
                <a:cs typeface="+mn-lt"/>
              </a:rPr>
              <a:t>parallel</a:t>
            </a:r>
            <a:r>
              <a:rPr lang="en-US" sz="2400" dirty="0">
                <a:ea typeface="+mn-lt"/>
                <a:cs typeface="+mn-lt"/>
              </a:rPr>
              <a:t> to create logical conditions.</a:t>
            </a:r>
            <a:endParaRPr lang="en-US" sz="2400" dirty="0"/>
          </a:p>
          <a:p>
            <a:endParaRPr lang="en-US" sz="2000" dirty="0"/>
          </a:p>
          <a:p>
            <a:r>
              <a:rPr lang="en-US" sz="2000" b="1" dirty="0"/>
              <a:t>1. AND Logic — Contacts in Series</a:t>
            </a:r>
          </a:p>
          <a:p>
            <a:r>
              <a:rPr lang="en-US" sz="2000" dirty="0"/>
              <a:t>In AND logic, </a:t>
            </a:r>
            <a:r>
              <a:rPr lang="en-US" sz="2000" b="1" dirty="0"/>
              <a:t>all conditions must be TRUE</a:t>
            </a:r>
            <a:r>
              <a:rPr lang="en-US" sz="2000" dirty="0"/>
              <a:t> for the output to turn ON.</a:t>
            </a:r>
          </a:p>
          <a:p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|----| |---------| |--------------------( )----|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     Input_A     Input_B                 Output</a:t>
            </a:r>
            <a:endParaRPr lang="en-US" sz="2000" dirty="0"/>
          </a:p>
          <a:p>
            <a:endParaRPr lang="en-US" sz="2000" dirty="0"/>
          </a:p>
          <a:p>
            <a:pPr>
              <a:lnSpc>
                <a:spcPct val="0"/>
              </a:lnSpc>
            </a:pPr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Logic expression: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Output = Input_A AND Input_B</a:t>
            </a:r>
            <a:endParaRPr lang="en-US" sz="2000" dirty="0"/>
          </a:p>
          <a:p>
            <a:pPr>
              <a:lnSpc>
                <a:spcPct val="0"/>
              </a:lnSpc>
            </a:pPr>
            <a:endParaRPr lang="en-US" sz="2000" dirty="0"/>
          </a:p>
          <a:p>
            <a:r>
              <a:rPr lang="en-US" sz="2000" b="1" dirty="0">
                <a:ea typeface="+mn-lt"/>
                <a:cs typeface="+mn-lt"/>
              </a:rPr>
              <a:t>Truth table for AND logic</a:t>
            </a:r>
            <a:endParaRPr lang="en-US" sz="2000" b="1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EAD496-7E17-E931-2CF2-72EA46C475B2}"/>
              </a:ext>
            </a:extLst>
          </p:cNvPr>
          <p:cNvSpPr/>
          <p:nvPr/>
        </p:nvSpPr>
        <p:spPr>
          <a:xfrm>
            <a:off x="366155" y="2717661"/>
            <a:ext cx="4156684" cy="8612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D0F26F6-DC1E-8051-CC88-775FED9139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873849"/>
              </p:ext>
            </p:extLst>
          </p:nvPr>
        </p:nvGraphicFramePr>
        <p:xfrm>
          <a:off x="684006" y="4839277"/>
          <a:ext cx="8168640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3653414605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3854965024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27178418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158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01432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041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013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40813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BE9E826-04B3-07FC-8B66-A08182D20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4015184"/>
              </p:ext>
            </p:extLst>
          </p:nvPr>
        </p:nvGraphicFramePr>
        <p:xfrm>
          <a:off x="1235567" y="4864677"/>
          <a:ext cx="8985660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95220">
                  <a:extLst>
                    <a:ext uri="{9D8B030D-6E8A-4147-A177-3AD203B41FA5}">
                      <a16:colId xmlns:a16="http://schemas.microsoft.com/office/drawing/2014/main" val="1173302415"/>
                    </a:ext>
                  </a:extLst>
                </a:gridCol>
                <a:gridCol w="2995220">
                  <a:extLst>
                    <a:ext uri="{9D8B030D-6E8A-4147-A177-3AD203B41FA5}">
                      <a16:colId xmlns:a16="http://schemas.microsoft.com/office/drawing/2014/main" val="2372326746"/>
                    </a:ext>
                  </a:extLst>
                </a:gridCol>
                <a:gridCol w="2995220">
                  <a:extLst>
                    <a:ext uri="{9D8B030D-6E8A-4147-A177-3AD203B41FA5}">
                      <a16:colId xmlns:a16="http://schemas.microsoft.com/office/drawing/2014/main" val="2786996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Input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Input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811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563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2687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30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705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6351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A46EEF-4727-F2F3-5C8B-F0F90BA8B22E}"/>
              </a:ext>
            </a:extLst>
          </p:cNvPr>
          <p:cNvSpPr txBox="1"/>
          <p:nvPr/>
        </p:nvSpPr>
        <p:spPr>
          <a:xfrm>
            <a:off x="179781" y="247402"/>
            <a:ext cx="11811824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A motor can start only when: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The Start button is pressed, </a:t>
            </a:r>
            <a:r>
              <a:rPr lang="en-US" sz="2400" b="1" dirty="0"/>
              <a:t>AND</a:t>
            </a:r>
            <a:r>
              <a:rPr lang="en-US" sz="2400" dirty="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sz="2400" dirty="0"/>
              <a:t>The safety guard is closed</a:t>
            </a:r>
          </a:p>
          <a:p>
            <a:endParaRPr lang="en-US" sz="2400" dirty="0"/>
          </a:p>
          <a:p>
            <a:r>
              <a:rPr lang="en-US" sz="2400" dirty="0"/>
              <a:t>|-------| |--------------------| |---------------( Motor )----|</a:t>
            </a:r>
          </a:p>
          <a:p>
            <a:r>
              <a:rPr lang="en-US" sz="2400" dirty="0"/>
              <a:t>   Start_Button       Guard_Closed</a:t>
            </a:r>
          </a:p>
          <a:p>
            <a:endParaRPr lang="en-US" sz="2400" dirty="0"/>
          </a:p>
          <a:p>
            <a:r>
              <a:rPr lang="en-US" sz="2400" dirty="0"/>
              <a:t>If either condition is false, the motor will not start.</a:t>
            </a:r>
          </a:p>
          <a:p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Real-life comparison:</a:t>
            </a:r>
            <a:br>
              <a:rPr lang="en-US" sz="2400" b="1" dirty="0">
                <a:ea typeface="+mn-lt"/>
                <a:cs typeface="+mn-lt"/>
              </a:rPr>
            </a:br>
            <a:r>
              <a:rPr lang="en-US" sz="2400" b="1" dirty="0">
                <a:ea typeface="+mn-lt"/>
                <a:cs typeface="+mn-lt"/>
              </a:rPr>
              <a:t> A student can enter an examination hall only when they have a hall ticket AND an identity card</a:t>
            </a:r>
            <a:r>
              <a:rPr lang="en-US" sz="2400" dirty="0">
                <a:ea typeface="+mn-lt"/>
                <a:cs typeface="+mn-lt"/>
              </a:rPr>
              <a:t>.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8643AF-DC96-6111-A54F-544644B511AA}"/>
              </a:ext>
            </a:extLst>
          </p:cNvPr>
          <p:cNvSpPr/>
          <p:nvPr/>
        </p:nvSpPr>
        <p:spPr>
          <a:xfrm>
            <a:off x="179780" y="1532285"/>
            <a:ext cx="6742129" cy="11072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FD078-26F4-7695-D720-BC2301FC3C92}"/>
              </a:ext>
            </a:extLst>
          </p:cNvPr>
          <p:cNvSpPr txBox="1"/>
          <p:nvPr/>
        </p:nvSpPr>
        <p:spPr>
          <a:xfrm>
            <a:off x="6342444" y="247402"/>
            <a:ext cx="5541818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3759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29CE-C209-360A-5884-A53159765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EE1882-6467-F90D-A06B-B778E8D35A33}"/>
              </a:ext>
            </a:extLst>
          </p:cNvPr>
          <p:cNvSpPr txBox="1"/>
          <p:nvPr/>
        </p:nvSpPr>
        <p:spPr>
          <a:xfrm>
            <a:off x="197921" y="247402"/>
            <a:ext cx="11811824" cy="28650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2. OR Logic — Contacts in Parallel</a:t>
            </a:r>
          </a:p>
          <a:p>
            <a:pPr>
              <a:lnSpc>
                <a:spcPct val="0"/>
              </a:lnSpc>
            </a:pPr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In OR logic, the output turns ON when </a:t>
            </a:r>
            <a:r>
              <a:rPr lang="en-US" b="1" dirty="0">
                <a:ea typeface="+mn-lt"/>
                <a:cs typeface="+mn-lt"/>
              </a:rPr>
              <a:t>at least one </a:t>
            </a:r>
          </a:p>
          <a:p>
            <a:r>
              <a:rPr lang="en-US" b="1" dirty="0">
                <a:ea typeface="+mn-lt"/>
                <a:cs typeface="+mn-lt"/>
              </a:rPr>
              <a:t>condition is TRUE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|----+----| |----+------------------( )----|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    |  </a:t>
            </a:r>
            <a:r>
              <a:rPr lang="en-US" dirty="0" err="1">
                <a:ea typeface="+mn-lt"/>
                <a:cs typeface="+mn-lt"/>
              </a:rPr>
              <a:t>Input_A</a:t>
            </a:r>
            <a:r>
              <a:rPr lang="en-US" dirty="0">
                <a:ea typeface="+mn-lt"/>
                <a:cs typeface="+mn-lt"/>
              </a:rPr>
              <a:t>  |                   Output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    |                    |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     +----| |----+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      </a:t>
            </a:r>
            <a:r>
              <a:rPr lang="en-US" dirty="0" err="1">
                <a:ea typeface="+mn-lt"/>
                <a:cs typeface="+mn-lt"/>
              </a:rPr>
              <a:t>Input_B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4E2366-E6FA-8A8E-AD07-348B94ED8903}"/>
              </a:ext>
            </a:extLst>
          </p:cNvPr>
          <p:cNvSpPr/>
          <p:nvPr/>
        </p:nvSpPr>
        <p:spPr>
          <a:xfrm>
            <a:off x="197921" y="1599282"/>
            <a:ext cx="4092038" cy="171367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B79F56-951C-D90E-294F-B5A107851020}"/>
              </a:ext>
            </a:extLst>
          </p:cNvPr>
          <p:cNvSpPr txBox="1"/>
          <p:nvPr/>
        </p:nvSpPr>
        <p:spPr>
          <a:xfrm>
            <a:off x="197921" y="3314554"/>
            <a:ext cx="5541818" cy="61890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ea typeface="+mn-lt"/>
                <a:cs typeface="+mn-lt"/>
              </a:rPr>
              <a:t>Logic expression:</a:t>
            </a:r>
            <a:endParaRPr lang="en-US" dirty="0"/>
          </a:p>
          <a:p>
            <a:r>
              <a:rPr lang="en-US" dirty="0">
                <a:latin typeface="Consolas"/>
              </a:rPr>
              <a:t>Output = Input_A OR Input_B</a:t>
            </a:r>
            <a:endParaRPr lang="en-US" dirty="0"/>
          </a:p>
          <a:p>
            <a:pPr>
              <a:lnSpc>
                <a:spcPct val="0"/>
              </a:lnSpc>
            </a:pP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Truth table for OR logic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115BFF-D390-2D16-0B27-5A09138EB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034377"/>
              </p:ext>
            </p:extLst>
          </p:nvPr>
        </p:nvGraphicFramePr>
        <p:xfrm>
          <a:off x="152565" y="4554887"/>
          <a:ext cx="5902458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967486">
                  <a:extLst>
                    <a:ext uri="{9D8B030D-6E8A-4147-A177-3AD203B41FA5}">
                      <a16:colId xmlns:a16="http://schemas.microsoft.com/office/drawing/2014/main" val="403604720"/>
                    </a:ext>
                  </a:extLst>
                </a:gridCol>
                <a:gridCol w="1967486">
                  <a:extLst>
                    <a:ext uri="{9D8B030D-6E8A-4147-A177-3AD203B41FA5}">
                      <a16:colId xmlns:a16="http://schemas.microsoft.com/office/drawing/2014/main" val="2238621568"/>
                    </a:ext>
                  </a:extLst>
                </a:gridCol>
                <a:gridCol w="1967486">
                  <a:extLst>
                    <a:ext uri="{9D8B030D-6E8A-4147-A177-3AD203B41FA5}">
                      <a16:colId xmlns:a16="http://schemas.microsoft.com/office/drawing/2014/main" val="37353746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6268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107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052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666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63512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386EB35-BEB8-C8FC-AC81-30F2C398B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072721"/>
              </p:ext>
            </p:extLst>
          </p:nvPr>
        </p:nvGraphicFramePr>
        <p:xfrm>
          <a:off x="306787" y="4580287"/>
          <a:ext cx="6145476" cy="1828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48492">
                  <a:extLst>
                    <a:ext uri="{9D8B030D-6E8A-4147-A177-3AD203B41FA5}">
                      <a16:colId xmlns:a16="http://schemas.microsoft.com/office/drawing/2014/main" val="3173634260"/>
                    </a:ext>
                  </a:extLst>
                </a:gridCol>
                <a:gridCol w="2048492">
                  <a:extLst>
                    <a:ext uri="{9D8B030D-6E8A-4147-A177-3AD203B41FA5}">
                      <a16:colId xmlns:a16="http://schemas.microsoft.com/office/drawing/2014/main" val="3454323029"/>
                    </a:ext>
                  </a:extLst>
                </a:gridCol>
                <a:gridCol w="2048492">
                  <a:extLst>
                    <a:ext uri="{9D8B030D-6E8A-4147-A177-3AD203B41FA5}">
                      <a16:colId xmlns:a16="http://schemas.microsoft.com/office/drawing/2014/main" val="33239379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Input 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Input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614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777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320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097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027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89748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A26BF3-1069-7D3F-63C4-D0D492980502}"/>
              </a:ext>
            </a:extLst>
          </p:cNvPr>
          <p:cNvSpPr txBox="1"/>
          <p:nvPr/>
        </p:nvSpPr>
        <p:spPr>
          <a:xfrm>
            <a:off x="178129" y="197922"/>
            <a:ext cx="11806051" cy="6477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0"/>
              </a:lnSpc>
            </a:pPr>
            <a:endParaRPr lang="en-US" dirty="0">
              <a:ea typeface="+mn-lt"/>
              <a:cs typeface="+mn-lt"/>
            </a:endParaRPr>
          </a:p>
          <a:p>
            <a:pPr>
              <a:lnSpc>
                <a:spcPct val="0"/>
              </a:lnSpc>
            </a:pPr>
            <a:endParaRPr lang="en-US" dirty="0">
              <a:ea typeface="+mn-lt"/>
              <a:cs typeface="+mn-lt"/>
            </a:endParaRPr>
          </a:p>
          <a:p>
            <a:pPr>
              <a:lnSpc>
                <a:spcPct val="0"/>
              </a:lnSpc>
            </a:pPr>
            <a:r>
              <a:rPr lang="en-US" b="1" dirty="0">
                <a:ea typeface="+mn-lt"/>
                <a:cs typeface="+mn-lt"/>
              </a:rPr>
              <a:t>Industrial example: Alarm system</a:t>
            </a:r>
            <a:endParaRPr lang="en-US" b="1" dirty="0"/>
          </a:p>
          <a:p>
            <a:pPr>
              <a:lnSpc>
                <a:spcPct val="0"/>
              </a:lnSpc>
            </a:pPr>
            <a:endParaRPr lang="en-US" b="1" dirty="0"/>
          </a:p>
          <a:p>
            <a:pPr>
              <a:lnSpc>
                <a:spcPct val="0"/>
              </a:lnSpc>
            </a:pPr>
            <a:endParaRPr lang="en-US" dirty="0"/>
          </a:p>
          <a:p>
            <a:r>
              <a:rPr lang="en-US" dirty="0"/>
              <a:t>A warning buzzer must turn ON when: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/>
              <a:t>The temperature is high, </a:t>
            </a:r>
            <a:r>
              <a:rPr lang="en-US" b="1" dirty="0"/>
              <a:t>OR</a:t>
            </a:r>
            <a:r>
              <a:rPr lang="en-US" dirty="0"/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The pressure is high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r>
              <a:rPr lang="en-US" dirty="0"/>
              <a:t>|----+----| |----+---------------( Buzzer )----|</a:t>
            </a:r>
          </a:p>
          <a:p>
            <a:r>
              <a:rPr lang="en-US" dirty="0"/>
              <a:t>       | </a:t>
            </a:r>
            <a:r>
              <a:rPr lang="en-US" sz="1400" dirty="0" err="1"/>
              <a:t>High_Temp</a:t>
            </a:r>
            <a:r>
              <a:rPr lang="en-US" sz="1400" dirty="0"/>
              <a:t> </a:t>
            </a:r>
            <a:r>
              <a:rPr lang="en-US" dirty="0"/>
              <a:t>|</a:t>
            </a:r>
          </a:p>
          <a:p>
            <a:r>
              <a:rPr lang="en-US" dirty="0"/>
              <a:t>       |                    |</a:t>
            </a:r>
          </a:p>
          <a:p>
            <a:r>
              <a:rPr lang="en-US" dirty="0"/>
              <a:t>       +----| |----+</a:t>
            </a:r>
          </a:p>
          <a:p>
            <a:r>
              <a:rPr lang="en-US" sz="1400" dirty="0"/>
              <a:t>       High_Pressure</a:t>
            </a:r>
          </a:p>
          <a:p>
            <a:endParaRPr lang="en-US" dirty="0"/>
          </a:p>
          <a:p>
            <a:r>
              <a:rPr lang="en-US" dirty="0"/>
              <a:t>Either abnormal condition can activate the buzzer.</a:t>
            </a:r>
          </a:p>
          <a:p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Real-life comparison: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You can contact a person using a phone call OR a text message</a:t>
            </a:r>
            <a:r>
              <a:rPr lang="en-US" dirty="0">
                <a:ea typeface="+mn-lt"/>
                <a:cs typeface="+mn-lt"/>
              </a:rPr>
              <a:t>. </a:t>
            </a:r>
          </a:p>
          <a:p>
            <a:r>
              <a:rPr lang="en-US" dirty="0">
                <a:ea typeface="+mn-lt"/>
                <a:cs typeface="+mn-lt"/>
              </a:rPr>
              <a:t>Either method can achieve the result.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D81563-C5CE-8729-25A5-B6553DD603D2}"/>
              </a:ext>
            </a:extLst>
          </p:cNvPr>
          <p:cNvSpPr/>
          <p:nvPr/>
        </p:nvSpPr>
        <p:spPr>
          <a:xfrm>
            <a:off x="238721" y="1492238"/>
            <a:ext cx="5306673" cy="163038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BCCDA01-3A6A-69F2-211D-862D84174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523208"/>
              </p:ext>
            </p:extLst>
          </p:nvPr>
        </p:nvGraphicFramePr>
        <p:xfrm>
          <a:off x="238721" y="4809502"/>
          <a:ext cx="11117640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705880">
                  <a:extLst>
                    <a:ext uri="{9D8B030D-6E8A-4147-A177-3AD203B41FA5}">
                      <a16:colId xmlns:a16="http://schemas.microsoft.com/office/drawing/2014/main" val="1816177954"/>
                    </a:ext>
                  </a:extLst>
                </a:gridCol>
                <a:gridCol w="3705880">
                  <a:extLst>
                    <a:ext uri="{9D8B030D-6E8A-4147-A177-3AD203B41FA5}">
                      <a16:colId xmlns:a16="http://schemas.microsoft.com/office/drawing/2014/main" val="1794558689"/>
                    </a:ext>
                  </a:extLst>
                </a:gridCol>
                <a:gridCol w="3705880">
                  <a:extLst>
                    <a:ext uri="{9D8B030D-6E8A-4147-A177-3AD203B41FA5}">
                      <a16:colId xmlns:a16="http://schemas.microsoft.com/office/drawing/2014/main" val="30686560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61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548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06363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9C5E3DA-D270-E1BB-7A9C-CA1649B53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1536909"/>
              </p:ext>
            </p:extLst>
          </p:nvPr>
        </p:nvGraphicFramePr>
        <p:xfrm>
          <a:off x="1083625" y="4780745"/>
          <a:ext cx="10024749" cy="117003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41583">
                  <a:extLst>
                    <a:ext uri="{9D8B030D-6E8A-4147-A177-3AD203B41FA5}">
                      <a16:colId xmlns:a16="http://schemas.microsoft.com/office/drawing/2014/main" val="3961069863"/>
                    </a:ext>
                  </a:extLst>
                </a:gridCol>
                <a:gridCol w="3341583">
                  <a:extLst>
                    <a:ext uri="{9D8B030D-6E8A-4147-A177-3AD203B41FA5}">
                      <a16:colId xmlns:a16="http://schemas.microsoft.com/office/drawing/2014/main" val="2797881352"/>
                    </a:ext>
                  </a:extLst>
                </a:gridCol>
                <a:gridCol w="3341583">
                  <a:extLst>
                    <a:ext uri="{9D8B030D-6E8A-4147-A177-3AD203B41FA5}">
                      <a16:colId xmlns:a16="http://schemas.microsoft.com/office/drawing/2014/main" val="799572038"/>
                    </a:ext>
                  </a:extLst>
                </a:gridCol>
              </a:tblGrid>
              <a:tr h="2565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Connection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Logic operation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929287"/>
                  </a:ext>
                </a:extLst>
              </a:tr>
              <a:tr h="402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Series contacts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Every condition must be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1440886"/>
                  </a:ext>
                </a:extLst>
              </a:tr>
              <a:tr h="4021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Parallel contacts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Any one condition can be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013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1365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B40D79-A24F-0407-0306-4CCBAF3AE3B6}"/>
              </a:ext>
            </a:extLst>
          </p:cNvPr>
          <p:cNvSpPr txBox="1"/>
          <p:nvPr/>
        </p:nvSpPr>
        <p:spPr>
          <a:xfrm>
            <a:off x="217714" y="227609"/>
            <a:ext cx="1159823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Start–Stop Motor Control Circuit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9E93F-CA57-4767-EC16-659232AEC608}"/>
              </a:ext>
            </a:extLst>
          </p:cNvPr>
          <p:cNvSpPr txBox="1"/>
          <p:nvPr/>
        </p:nvSpPr>
        <p:spPr>
          <a:xfrm>
            <a:off x="305130" y="601187"/>
            <a:ext cx="9401298" cy="6490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 Start–Stop circuit is used to start a motor with one push button and stop it with another.</a:t>
            </a:r>
          </a:p>
          <a:p>
            <a:pPr>
              <a:lnSpc>
                <a:spcPct val="0"/>
              </a:lnSpc>
            </a:pP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Devices used</a:t>
            </a:r>
            <a:endParaRPr lang="en-US" b="1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8148A68-7BD8-15D3-0807-FF2D9A13BB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392113"/>
              </p:ext>
            </p:extLst>
          </p:nvPr>
        </p:nvGraphicFramePr>
        <p:xfrm>
          <a:off x="306251" y="1439019"/>
          <a:ext cx="8168640" cy="148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2722880">
                  <a:extLst>
                    <a:ext uri="{9D8B030D-6E8A-4147-A177-3AD203B41FA5}">
                      <a16:colId xmlns:a16="http://schemas.microsoft.com/office/drawing/2014/main" val="830319357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760447090"/>
                    </a:ext>
                  </a:extLst>
                </a:gridCol>
                <a:gridCol w="2722880">
                  <a:extLst>
                    <a:ext uri="{9D8B030D-6E8A-4147-A177-3AD203B41FA5}">
                      <a16:colId xmlns:a16="http://schemas.microsoft.com/office/drawing/2014/main" val="3516569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365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442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11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71428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DDA86CF-CF3D-BADC-973C-357D70351E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15776"/>
              </p:ext>
            </p:extLst>
          </p:nvPr>
        </p:nvGraphicFramePr>
        <p:xfrm>
          <a:off x="217714" y="1454694"/>
          <a:ext cx="8817426" cy="1463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39142">
                  <a:extLst>
                    <a:ext uri="{9D8B030D-6E8A-4147-A177-3AD203B41FA5}">
                      <a16:colId xmlns:a16="http://schemas.microsoft.com/office/drawing/2014/main" val="2857558460"/>
                    </a:ext>
                  </a:extLst>
                </a:gridCol>
                <a:gridCol w="2939142">
                  <a:extLst>
                    <a:ext uri="{9D8B030D-6E8A-4147-A177-3AD203B41FA5}">
                      <a16:colId xmlns:a16="http://schemas.microsoft.com/office/drawing/2014/main" val="2472881399"/>
                    </a:ext>
                  </a:extLst>
                </a:gridCol>
                <a:gridCol w="2939142">
                  <a:extLst>
                    <a:ext uri="{9D8B030D-6E8A-4147-A177-3AD203B41FA5}">
                      <a16:colId xmlns:a16="http://schemas.microsoft.com/office/drawing/2014/main" val="90712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Example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890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 push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Starts the motor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%IX0.0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200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Stop push button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Stops the motor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%IX0.1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346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Motor contactor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Controls motor 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%QX0.0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69625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BA70810-23F9-4272-0CE3-546B7F7BF998}"/>
              </a:ext>
            </a:extLst>
          </p:cNvPr>
          <p:cNvSpPr txBox="1"/>
          <p:nvPr/>
        </p:nvSpPr>
        <p:spPr>
          <a:xfrm>
            <a:off x="306778" y="3155208"/>
            <a:ext cx="11380519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Basic ladder logic without latching</a:t>
            </a:r>
          </a:p>
          <a:p>
            <a:endParaRPr lang="en-US" b="1" dirty="0"/>
          </a:p>
          <a:p>
            <a:r>
              <a:rPr lang="en-US" dirty="0">
                <a:ea typeface="+mn-lt"/>
                <a:cs typeface="+mn-lt"/>
              </a:rPr>
              <a:t>|----|/|---------| |----------------( )----|</a:t>
            </a:r>
            <a:endParaRPr lang="en-US" dirty="0"/>
          </a:p>
          <a:p>
            <a:r>
              <a:rPr lang="en-US" sz="1400" dirty="0">
                <a:ea typeface="+mn-lt"/>
                <a:cs typeface="+mn-lt"/>
              </a:rPr>
              <a:t>Stop_Button  </a:t>
            </a:r>
            <a:r>
              <a:rPr lang="en-US" sz="1400" dirty="0" err="1">
                <a:ea typeface="+mn-lt"/>
                <a:cs typeface="+mn-lt"/>
              </a:rPr>
              <a:t>Start_Button</a:t>
            </a:r>
            <a:r>
              <a:rPr lang="en-US" sz="1400" dirty="0">
                <a:ea typeface="+mn-lt"/>
                <a:cs typeface="+mn-lt"/>
              </a:rPr>
              <a:t>              Motor</a:t>
            </a:r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     %IX0.1           %IX0.0                         %QX0.0</a:t>
            </a:r>
          </a:p>
          <a:p>
            <a:endParaRPr lang="en-US" sz="1400" dirty="0"/>
          </a:p>
          <a:p>
            <a:endParaRPr lang="en-US" sz="1400" dirty="0"/>
          </a:p>
          <a:p>
            <a:r>
              <a:rPr lang="en-US" b="1" dirty="0"/>
              <a:t>Operation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Stop condition healthy and Start button pressed → Motor output turns ON.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Start button released → Motor output immediately turns OFF. </a:t>
            </a:r>
            <a:endParaRPr lang="en-US" dirty="0"/>
          </a:p>
          <a:p>
            <a:pPr marL="285750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Stop condition activated → The logical path breaks and the motor turns OFF.</a:t>
            </a:r>
            <a:endParaRPr lang="en-US" dirty="0"/>
          </a:p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CC1C46-DDD1-097F-7340-0284A59B222A}"/>
              </a:ext>
            </a:extLst>
          </p:cNvPr>
          <p:cNvSpPr/>
          <p:nvPr/>
        </p:nvSpPr>
        <p:spPr>
          <a:xfrm>
            <a:off x="220188" y="3592285"/>
            <a:ext cx="3815773" cy="11281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9541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F2C-1660-8E17-AFF2-F69C3AB2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71" y="247196"/>
            <a:ext cx="10515600" cy="463778"/>
          </a:xfrm>
        </p:spPr>
        <p:txBody>
          <a:bodyPr>
            <a:noAutofit/>
          </a:bodyPr>
          <a:lstStyle/>
          <a:p>
            <a:r>
              <a:rPr lang="en-US" sz="2800"/>
              <a:t>Latching (Seal-In)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F7F92-4E1D-ACDB-7FEB-E0FDF2FEAA98}"/>
              </a:ext>
            </a:extLst>
          </p:cNvPr>
          <p:cNvSpPr txBox="1"/>
          <p:nvPr/>
        </p:nvSpPr>
        <p:spPr>
          <a:xfrm>
            <a:off x="215240" y="791688"/>
            <a:ext cx="11765641" cy="56405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Latching</a:t>
            </a:r>
            <a:r>
              <a:rPr lang="en-US">
                <a:ea typeface="+mn-lt"/>
                <a:cs typeface="+mn-lt"/>
              </a:rPr>
              <a:t> allows an output to remain ON even after the momentary Start push button is released.</a:t>
            </a:r>
          </a:p>
          <a:p>
            <a:pPr>
              <a:lnSpc>
                <a:spcPct val="0"/>
              </a:lnSpc>
            </a:pPr>
            <a:endParaRPr lang="en-US"/>
          </a:p>
          <a:p>
            <a:r>
              <a:rPr lang="en-US"/>
              <a:t>It is also called: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Seal-in logic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Holding circuit </a:t>
            </a:r>
          </a:p>
          <a:p>
            <a:pPr marL="285750" indent="-285750">
              <a:buFont typeface="Arial"/>
              <a:buChar char="•"/>
            </a:pPr>
            <a:r>
              <a:rPr lang="en-US"/>
              <a:t>Self-holding logic </a:t>
            </a:r>
          </a:p>
          <a:p>
            <a:pPr marL="285750" indent="-285750">
              <a:buFont typeface="Arial"/>
              <a:buChar char="•"/>
            </a:pPr>
            <a:endParaRPr lang="en-US"/>
          </a:p>
          <a:p>
            <a:r>
              <a:rPr lang="en-US" b="1"/>
              <a:t>Ladder diagram</a:t>
            </a:r>
            <a:endParaRPr lang="en-US"/>
          </a:p>
          <a:p>
            <a:endParaRPr lang="en-US"/>
          </a:p>
          <a:p>
            <a:r>
              <a:rPr lang="en-US"/>
              <a:t>       Stop_Button       Start_Button</a:t>
            </a:r>
          </a:p>
          <a:p>
            <a:r>
              <a:rPr lang="en-US"/>
              <a:t>|----|/|------------+-------| |-----------+----( Motor )----|</a:t>
            </a:r>
          </a:p>
          <a:p>
            <a:r>
              <a:rPr lang="en-US"/>
              <a:t>                                 |                                    |</a:t>
            </a:r>
          </a:p>
          <a:p>
            <a:r>
              <a:rPr lang="en-US"/>
              <a:t>                                 +-------| |-----------+</a:t>
            </a:r>
          </a:p>
          <a:p>
            <a:r>
              <a:rPr lang="en-US"/>
              <a:t>                                           Motor</a:t>
            </a:r>
          </a:p>
          <a:p>
            <a:r>
              <a:rPr lang="en-US"/>
              <a:t>                                 Seal-in contact</a:t>
            </a:r>
          </a:p>
          <a:p>
            <a:pPr>
              <a:lnSpc>
                <a:spcPct val="0"/>
              </a:lnSpc>
            </a:pPr>
            <a:endParaRPr lang="en-US"/>
          </a:p>
          <a:p>
            <a:r>
              <a:rPr lang="en-US" b="1"/>
              <a:t>Example variables:</a:t>
            </a:r>
          </a:p>
          <a:p>
            <a:pPr>
              <a:lnSpc>
                <a:spcPct val="0"/>
              </a:lnSpc>
            </a:pPr>
            <a:endParaRPr lang="en-US" b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|----|/|------------+-------| |-----------+----( )----|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  Stop_Button    |   Start_Button     |    Motor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                                 |                                  |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                                +-------| |-----------+</a:t>
            </a:r>
            <a:endParaRPr lang="en-US"/>
          </a:p>
          <a:p>
            <a:r>
              <a:rPr lang="en-US">
                <a:ea typeface="+mn-lt"/>
                <a:cs typeface="+mn-lt"/>
              </a:rPr>
              <a:t>                                           Motor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11CDEA-081B-63DF-6FA7-4FDCD953A18F}"/>
              </a:ext>
            </a:extLst>
          </p:cNvPr>
          <p:cNvSpPr/>
          <p:nvPr/>
        </p:nvSpPr>
        <p:spPr>
          <a:xfrm>
            <a:off x="221013" y="3048000"/>
            <a:ext cx="5079175" cy="172439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0C9E23-9DFD-3091-254A-ADC35925EE87}"/>
              </a:ext>
            </a:extLst>
          </p:cNvPr>
          <p:cNvSpPr/>
          <p:nvPr/>
        </p:nvSpPr>
        <p:spPr>
          <a:xfrm>
            <a:off x="222663" y="5145150"/>
            <a:ext cx="5081648" cy="149513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5743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4A38-2652-D856-6C1B-07F4DB431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414" y="210911"/>
            <a:ext cx="10515600" cy="763135"/>
          </a:xfrm>
        </p:spPr>
        <p:txBody>
          <a:bodyPr>
            <a:normAutofit/>
          </a:bodyPr>
          <a:lstStyle/>
          <a:p>
            <a:r>
              <a:rPr lang="en-US" sz="2800"/>
              <a:t>Logic expression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937EED-41EE-6206-1EAB-26DEF66B3393}"/>
              </a:ext>
            </a:extLst>
          </p:cNvPr>
          <p:cNvSpPr txBox="1"/>
          <p:nvPr/>
        </p:nvSpPr>
        <p:spPr>
          <a:xfrm>
            <a:off x="225960" y="864260"/>
            <a:ext cx="11166103" cy="109903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Motor = </a:t>
            </a:r>
            <a:r>
              <a:rPr lang="en-US" dirty="0" err="1">
                <a:latin typeface="Consolas"/>
              </a:rPr>
              <a:t>Stop_OK</a:t>
            </a:r>
            <a:r>
              <a:rPr lang="en-US" dirty="0">
                <a:latin typeface="Consolas"/>
              </a:rPr>
              <a:t> AND (</a:t>
            </a:r>
            <a:r>
              <a:rPr lang="en-US" dirty="0" err="1">
                <a:latin typeface="Consolas"/>
              </a:rPr>
              <a:t>Start_Button</a:t>
            </a:r>
            <a:r>
              <a:rPr lang="en-US" dirty="0">
                <a:latin typeface="Consolas"/>
              </a:rPr>
              <a:t> OR Motor)</a:t>
            </a:r>
            <a:endParaRPr lang="en-US" dirty="0">
              <a:latin typeface="Aptos"/>
            </a:endParaRPr>
          </a:p>
          <a:p>
            <a:pPr>
              <a:lnSpc>
                <a:spcPct val="0"/>
              </a:lnSpc>
            </a:pPr>
            <a:endParaRPr lang="en-US" dirty="0">
              <a:latin typeface="Consolas"/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The Start button and Motor holding contact are connected in </a:t>
            </a:r>
            <a:r>
              <a:rPr lang="en-US" b="1" dirty="0">
                <a:ea typeface="+mn-lt"/>
                <a:cs typeface="+mn-lt"/>
              </a:rPr>
              <a:t>parallel</a:t>
            </a:r>
            <a:r>
              <a:rPr lang="en-US" dirty="0">
                <a:ea typeface="+mn-lt"/>
                <a:cs typeface="+mn-lt"/>
              </a:rPr>
              <a:t>, forming OR logic.</a:t>
            </a:r>
          </a:p>
          <a:p>
            <a:endParaRPr lang="en-US" dirty="0">
              <a:latin typeface="Consolas"/>
            </a:endParaRPr>
          </a:p>
          <a:p>
            <a:r>
              <a:rPr lang="en-US" b="1" dirty="0"/>
              <a:t>Step-by-step operation</a:t>
            </a:r>
          </a:p>
          <a:p>
            <a:endParaRPr lang="en-US" sz="20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Initially, the motor is OFF, so its holding contact is false.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Pressing Start completes the logical path.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motor output turns ON.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Motor contact in the parallel branch also becomes true.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Releasing Start does not stop the motor because the Motor contact maintains the path.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Pressing Stop breaks the path.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motor output and its holding contact turn OFF.</a:t>
            </a:r>
            <a:endParaRPr lang="en-US" sz="2000" dirty="0"/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  <a:p>
            <a:endParaRPr lang="en-US" dirty="0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7488921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1B584E-D571-F7BC-1514-25278F304DFA}"/>
              </a:ext>
            </a:extLst>
          </p:cNvPr>
          <p:cNvSpPr txBox="1"/>
          <p:nvPr/>
        </p:nvSpPr>
        <p:spPr>
          <a:xfrm>
            <a:off x="227610" y="257298"/>
            <a:ext cx="11741725" cy="62170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Industrial example</a:t>
            </a:r>
          </a:p>
          <a:p>
            <a:endParaRPr lang="en-US" sz="2000" b="1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For a conveyor:</a:t>
            </a:r>
            <a:endParaRPr lang="en-US" sz="2000" dirty="0"/>
          </a:p>
          <a:p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Press Start once → conveyor continues running.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Release Start → conveyor remains running.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Press Stop → conveyor stops.</a:t>
            </a:r>
            <a:endParaRPr lang="en-US" sz="2000" dirty="0"/>
          </a:p>
          <a:p>
            <a:pPr marL="285750" indent="-285750" algn="l">
              <a:buFont typeface="Arial"/>
              <a:buChar char="•"/>
            </a:pPr>
            <a:endParaRPr lang="en-US" sz="2000" dirty="0"/>
          </a:p>
          <a:p>
            <a:r>
              <a:rPr lang="en-US" sz="2000" b="1" dirty="0"/>
              <a:t> Real-life comparison</a:t>
            </a:r>
          </a:p>
          <a:p>
            <a:endParaRPr lang="en-US" sz="2000" b="1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A latching circuit is similar to switching on a ceiling fan: you operate the switch once, and the fan continues running without holding the switch.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r>
              <a:rPr lang="en-US" sz="2000" b="1" dirty="0">
                <a:highlight>
                  <a:srgbClr val="FFFF00"/>
                </a:highlight>
              </a:rPr>
              <a:t>Important safety point</a:t>
            </a:r>
          </a:p>
          <a:p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The Stop and safety conditions should be placed in series before the latching branch so that any stop condition can break the entire logical path.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8971163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93E1-B79C-D730-D6B0-4F37B687B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" y="226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>
                <a:ea typeface="+mj-lt"/>
                <a:cs typeface="+mj-lt"/>
              </a:rPr>
              <a:t>SET and RESET Instructions</a:t>
            </a:r>
            <a:endParaRPr lang="en-US" sz="28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D7E18-F358-0178-02EB-CF4E2E36DFF9}"/>
              </a:ext>
            </a:extLst>
          </p:cNvPr>
          <p:cNvSpPr txBox="1"/>
          <p:nvPr/>
        </p:nvSpPr>
        <p:spPr>
          <a:xfrm>
            <a:off x="305129" y="920337"/>
            <a:ext cx="11578441" cy="93564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The </a:t>
            </a:r>
            <a:r>
              <a:rPr lang="en-US" sz="2000" b="1" dirty="0"/>
              <a:t>SET and RESET instructions</a:t>
            </a:r>
            <a:r>
              <a:rPr lang="en-US" sz="2000" dirty="0"/>
              <a:t> are another method of keeping an output or memory bit ON or OFF after a momentary input signal disappears.</a:t>
            </a:r>
          </a:p>
          <a:p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SET:</a:t>
            </a:r>
            <a:r>
              <a:rPr lang="en-US" sz="2000" dirty="0"/>
              <a:t> Stores the bit in the ON state. </a:t>
            </a: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RESET:</a:t>
            </a:r>
            <a:r>
              <a:rPr lang="en-US" sz="2000" dirty="0"/>
              <a:t> Clears the same bit to the OFF state.</a:t>
            </a:r>
          </a:p>
          <a:p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Ladder diagram</a:t>
            </a:r>
            <a:endParaRPr lang="en-US" b="1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Rung 1: SET operation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|----| |----------------------------(S)----|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 </a:t>
            </a:r>
            <a:r>
              <a:rPr lang="en-US" dirty="0" err="1">
                <a:ea typeface="+mn-lt"/>
                <a:cs typeface="+mn-lt"/>
              </a:rPr>
              <a:t>Start_Button</a:t>
            </a:r>
            <a:r>
              <a:rPr lang="en-US" dirty="0">
                <a:ea typeface="+mn-lt"/>
                <a:cs typeface="+mn-lt"/>
              </a:rPr>
              <a:t>                       Motor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 %IX0.0                               %QX0.0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Rung 2: RESET operation</a:t>
            </a:r>
            <a:endParaRPr lang="en-US" dirty="0"/>
          </a:p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|----| |----------------------------(R)----|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 Stop_Button                      Motor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      %IX0.1                              %QX0.0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D08C22-E7A6-B28E-D226-1FBC7883752B}"/>
              </a:ext>
            </a:extLst>
          </p:cNvPr>
          <p:cNvSpPr/>
          <p:nvPr/>
        </p:nvSpPr>
        <p:spPr>
          <a:xfrm>
            <a:off x="308429" y="3107376"/>
            <a:ext cx="3739077" cy="16427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9B4A72-9205-4516-6C92-B7E0D72BD799}"/>
              </a:ext>
            </a:extLst>
          </p:cNvPr>
          <p:cNvSpPr/>
          <p:nvPr/>
        </p:nvSpPr>
        <p:spPr>
          <a:xfrm>
            <a:off x="326571" y="5027220"/>
            <a:ext cx="3740727" cy="15536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636C18-E809-DADB-8EB4-9F92E9396E3F}"/>
              </a:ext>
            </a:extLst>
          </p:cNvPr>
          <p:cNvCxnSpPr>
            <a:cxnSpLocks/>
          </p:cNvCxnSpPr>
          <p:nvPr/>
        </p:nvCxnSpPr>
        <p:spPr>
          <a:xfrm>
            <a:off x="5617687" y="1759974"/>
            <a:ext cx="0" cy="4809388"/>
          </a:xfrm>
          <a:prstGeom prst="straightConnector1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1C8C54F-9AFF-5D2D-5E1A-B670AA675396}"/>
              </a:ext>
            </a:extLst>
          </p:cNvPr>
          <p:cNvSpPr txBox="1"/>
          <p:nvPr/>
        </p:nvSpPr>
        <p:spPr>
          <a:xfrm>
            <a:off x="6033850" y="1759974"/>
            <a:ext cx="5433557" cy="44042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Step-by-step operation</a:t>
            </a:r>
          </a:p>
          <a:p>
            <a:pPr>
              <a:lnSpc>
                <a:spcPct val="0"/>
              </a:lnSpc>
            </a:pPr>
            <a:endParaRPr lang="en-US" sz="20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Press the Start button.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SET instruction makes the Motor bit ON.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Release Start—the Motor bit remains ON.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Press the Stop button.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The RESET instruction makes the Motor bit OFF.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Release Stop—the Motor bit remains OFF.</a:t>
            </a:r>
            <a:endParaRPr lang="en-US" sz="2000" dirty="0"/>
          </a:p>
          <a:p>
            <a:pPr algn="l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13960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7AB7F-4242-6474-F26F-69EBD7BDB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43" y="226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>
                <a:ea typeface="+mj-lt"/>
                <a:cs typeface="+mj-lt"/>
              </a:rPr>
              <a:t>Difference from a normal output coil</a:t>
            </a:r>
            <a:endParaRPr lang="en-US" sz="28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D1C1B7-7F78-72FE-9164-2420F73838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28373"/>
              </p:ext>
            </p:extLst>
          </p:nvPr>
        </p:nvGraphicFramePr>
        <p:xfrm>
          <a:off x="288109" y="1058019"/>
          <a:ext cx="9257220" cy="148336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4628610">
                  <a:extLst>
                    <a:ext uri="{9D8B030D-6E8A-4147-A177-3AD203B41FA5}">
                      <a16:colId xmlns:a16="http://schemas.microsoft.com/office/drawing/2014/main" val="3243594694"/>
                    </a:ext>
                  </a:extLst>
                </a:gridCol>
                <a:gridCol w="4628610">
                  <a:extLst>
                    <a:ext uri="{9D8B030D-6E8A-4147-A177-3AD203B41FA5}">
                      <a16:colId xmlns:a16="http://schemas.microsoft.com/office/drawing/2014/main" val="6761797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381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9441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414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30259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C2DDC88-A781-8A2A-92DB-9449B081CE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685743"/>
              </p:ext>
            </p:extLst>
          </p:nvPr>
        </p:nvGraphicFramePr>
        <p:xfrm>
          <a:off x="418375" y="1058019"/>
          <a:ext cx="9329232" cy="15148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664616">
                  <a:extLst>
                    <a:ext uri="{9D8B030D-6E8A-4147-A177-3AD203B41FA5}">
                      <a16:colId xmlns:a16="http://schemas.microsoft.com/office/drawing/2014/main" val="456380258"/>
                    </a:ext>
                  </a:extLst>
                </a:gridCol>
                <a:gridCol w="4664616">
                  <a:extLst>
                    <a:ext uri="{9D8B030D-6E8A-4147-A177-3AD203B41FA5}">
                      <a16:colId xmlns:a16="http://schemas.microsoft.com/office/drawing/2014/main" val="4098195731"/>
                    </a:ext>
                  </a:extLst>
                </a:gridCol>
              </a:tblGrid>
              <a:tr h="349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Normal coil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SET/RESET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8342043"/>
                  </a:ext>
                </a:extLst>
              </a:tr>
              <a:tr h="349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ON only while its rung is true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Remembers the previous command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276306"/>
                  </a:ext>
                </a:extLst>
              </a:tr>
              <a:tr h="3833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Turns OFF when the rung becomes false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Remains ON until RESET is activated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406092"/>
                  </a:ext>
                </a:extLst>
              </a:tr>
              <a:tr h="3999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Usually programmed in one 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SET and RESET usually use separate rungs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61399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79433D6-B8D3-CE11-7FEC-04C891C2CBC8}"/>
              </a:ext>
            </a:extLst>
          </p:cNvPr>
          <p:cNvSpPr txBox="1"/>
          <p:nvPr/>
        </p:nvSpPr>
        <p:spPr>
          <a:xfrm>
            <a:off x="346363" y="2761012"/>
            <a:ext cx="11439896" cy="373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Industrial example: </a:t>
            </a:r>
            <a:r>
              <a:rPr lang="en-US" sz="2000" dirty="0"/>
              <a:t>Alarm indication</a:t>
            </a:r>
          </a:p>
          <a:p>
            <a:pPr>
              <a:lnSpc>
                <a:spcPct val="0"/>
              </a:lnSpc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When a fault occurs, an alarm lamp must remain ON even if the fault signal appears only briefly.</a:t>
            </a:r>
            <a:endParaRPr lang="en-US" sz="2000" dirty="0"/>
          </a:p>
          <a:p>
            <a:pPr>
              <a:lnSpc>
                <a:spcPct val="0"/>
              </a:lnSpc>
            </a:pPr>
            <a:endParaRPr lang="en-US" sz="20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Fault detected → </a:t>
            </a:r>
            <a:r>
              <a:rPr lang="en-US" sz="2000" b="1" dirty="0">
                <a:ea typeface="+mn-lt"/>
                <a:cs typeface="+mn-lt"/>
              </a:rPr>
              <a:t>SET</a:t>
            </a:r>
            <a:r>
              <a:rPr lang="en-US" sz="2000" dirty="0">
                <a:ea typeface="+mn-lt"/>
                <a:cs typeface="+mn-lt"/>
              </a:rPr>
              <a:t> alarm bit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Operator investigates the fault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Operator presses Acknowledge/Reset → </a:t>
            </a:r>
            <a:r>
              <a:rPr lang="en-US" sz="2000" b="1" dirty="0">
                <a:ea typeface="+mn-lt"/>
                <a:cs typeface="+mn-lt"/>
              </a:rPr>
              <a:t>RESET</a:t>
            </a:r>
            <a:r>
              <a:rPr lang="en-US" sz="2000" dirty="0">
                <a:ea typeface="+mn-lt"/>
                <a:cs typeface="+mn-lt"/>
              </a:rPr>
              <a:t> alarm bit 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This ensures that a short fault is not missed.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/>
              <a:t>Real-life comparison</a:t>
            </a:r>
          </a:p>
          <a:p>
            <a:pPr>
              <a:lnSpc>
                <a:spcPct val="0"/>
              </a:lnSpc>
            </a:pP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SET and RESET work like separate ON and OFF buttons: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SET says, “Switch it ON and remember it.” </a:t>
            </a:r>
            <a:endParaRPr lang="en-US" sz="2000" dirty="0"/>
          </a:p>
          <a:p>
            <a:pPr marL="285750" indent="-285750"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RESET says, “Switch it OFF and remember it.”</a:t>
            </a:r>
            <a:endParaRPr lang="en-US" sz="2000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7604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789EF-81A2-F4A6-92EA-512E381E7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966" y="-318670"/>
            <a:ext cx="10515600" cy="1325563"/>
          </a:xfrm>
        </p:spPr>
        <p:txBody>
          <a:bodyPr>
            <a:normAutofit/>
          </a:bodyPr>
          <a:lstStyle/>
          <a:p>
            <a:r>
              <a:rPr lang="en-US" sz="2000" dirty="0">
                <a:ea typeface="+mj-lt"/>
                <a:cs typeface="+mj-lt"/>
              </a:rPr>
              <a:t>SET/RESET versus seal-in latching</a:t>
            </a:r>
            <a:endParaRPr lang="en-US" sz="2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69400F1-E492-936C-D6B2-CA5A3BD508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2309778"/>
              </p:ext>
            </p:extLst>
          </p:nvPr>
        </p:nvGraphicFramePr>
        <p:xfrm>
          <a:off x="269966" y="598325"/>
          <a:ext cx="10949466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5474733">
                  <a:extLst>
                    <a:ext uri="{9D8B030D-6E8A-4147-A177-3AD203B41FA5}">
                      <a16:colId xmlns:a16="http://schemas.microsoft.com/office/drawing/2014/main" val="4028371440"/>
                    </a:ext>
                  </a:extLst>
                </a:gridCol>
                <a:gridCol w="5474733">
                  <a:extLst>
                    <a:ext uri="{9D8B030D-6E8A-4147-A177-3AD203B41FA5}">
                      <a16:colId xmlns:a16="http://schemas.microsoft.com/office/drawing/2014/main" val="735929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4311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332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359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5620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92883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E441E4-0DE8-5BA1-B47F-C1033E7E98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8911944"/>
              </p:ext>
            </p:extLst>
          </p:nvPr>
        </p:nvGraphicFramePr>
        <p:xfrm>
          <a:off x="463257" y="571244"/>
          <a:ext cx="10747168" cy="190836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73584">
                  <a:extLst>
                    <a:ext uri="{9D8B030D-6E8A-4147-A177-3AD203B41FA5}">
                      <a16:colId xmlns:a16="http://schemas.microsoft.com/office/drawing/2014/main" val="1979129759"/>
                    </a:ext>
                  </a:extLst>
                </a:gridCol>
                <a:gridCol w="5373584">
                  <a:extLst>
                    <a:ext uri="{9D8B030D-6E8A-4147-A177-3AD203B41FA5}">
                      <a16:colId xmlns:a16="http://schemas.microsoft.com/office/drawing/2014/main" val="2166689704"/>
                    </a:ext>
                  </a:extLst>
                </a:gridCol>
              </a:tblGrid>
              <a:tr h="35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Seal-in circuit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SET/RESET instructions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607935"/>
                  </a:ext>
                </a:extLst>
              </a:tr>
              <a:tr h="35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Uses the output’s own contact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Uses memory-type instructions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810760"/>
                  </a:ext>
                </a:extLst>
              </a:tr>
              <a:tr h="35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Holding path is visible in one rung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SET and RESET are placed on separate rungs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9085584"/>
                  </a:ext>
                </a:extLst>
              </a:tr>
              <a:tr h="445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Stops when the common rung condition breaks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Remains stored until a RESET instruction executes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3272240"/>
                  </a:ext>
                </a:extLst>
              </a:tr>
              <a:tr h="3522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Easy for beginners to trace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Useful for event-based control and alarms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32362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2EE0E2F-679A-BC2F-6619-66E07D490F3F}"/>
              </a:ext>
            </a:extLst>
          </p:cNvPr>
          <p:cNvSpPr txBox="1"/>
          <p:nvPr/>
        </p:nvSpPr>
        <p:spPr>
          <a:xfrm>
            <a:off x="277091" y="2879766"/>
            <a:ext cx="11281558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Important safety point</a:t>
            </a:r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Avoid using SET/RESET alone for safety-critical motor stopping. Emergency stops and safety devices should use properly designed hardwired safety circuits or safety-rated PLC systems.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Also, ensure that the program clearly defines what should happen if SET and RESET become true during the same scan. The result can depend on instruction order and the PLC platform</a:t>
            </a: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788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Words>3636</Words>
  <Application>Microsoft Office PowerPoint</Application>
  <PresentationFormat>Widescreen</PresentationFormat>
  <Paragraphs>911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Aptos</vt:lpstr>
      <vt:lpstr>Aptos Display</vt:lpstr>
      <vt:lpstr>Arial</vt:lpstr>
      <vt:lpstr>Arial,Sans-Serif</vt:lpstr>
      <vt:lpstr>Consolas</vt:lpstr>
      <vt:lpstr>Courier New</vt:lpstr>
      <vt:lpstr>Office Theme</vt:lpstr>
      <vt:lpstr>Day 1: PLC Fundamentals and Basic Ladder Logic</vt:lpstr>
      <vt:lpstr>Introduction to PLC and Ladder Logic</vt:lpstr>
      <vt:lpstr>Learning Outcomes</vt:lpstr>
      <vt:lpstr>What Is Automation?</vt:lpstr>
      <vt:lpstr>What Is a PLC? PLC stands for Programmable Logic Controller.  A PLC is a rugged industrial computer designed to:</vt:lpstr>
      <vt:lpstr>Why Is a PLC Used?</vt:lpstr>
      <vt:lpstr>Activity</vt:lpstr>
      <vt:lpstr>What Is a Relay?</vt:lpstr>
      <vt:lpstr>Simple example:  Push button → Relay coil → Lamp  When the push button is pressed, the relay coil energizes. Its NO contact closes and switches ON the lamp.  Real-life comparison:  “A relay works like a person operating a switch. The coil receives the command, and the relay contacts perform the switching action.”  Important point:  The word “normal” in NO and NC refers to the contact condition when the relay coil is not energized.  </vt:lpstr>
      <vt:lpstr>PLC vs Traditional Relay Control</vt:lpstr>
      <vt:lpstr>  Real-time industrial example: Conveyor modification  Suppose a factory wants the conveyor to stop 10 seconds after a box is detected: In relay control, a timer relay must be purchased, installed, and wired.  In PLC control, a timer instruction can simply be added to the program. </vt:lpstr>
      <vt:lpstr>Main Components of a PLC System </vt:lpstr>
      <vt:lpstr>FUNCTION OF EACH COMPONENT</vt:lpstr>
      <vt:lpstr>How Does a PLC Work? (PLC Scan Cycle)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Logic gate in PLC:</vt:lpstr>
      <vt:lpstr>AND Logic and OR Logic in Ladder Programming</vt:lpstr>
      <vt:lpstr>PowerPoint Presentation</vt:lpstr>
      <vt:lpstr>PowerPoint Presentation</vt:lpstr>
      <vt:lpstr>PowerPoint Presentation</vt:lpstr>
      <vt:lpstr>PowerPoint Presentation</vt:lpstr>
      <vt:lpstr>Latching (Seal-In) Logic</vt:lpstr>
      <vt:lpstr>Logic expression</vt:lpstr>
      <vt:lpstr>PowerPoint Presentation</vt:lpstr>
      <vt:lpstr>SET and RESET Instructions</vt:lpstr>
      <vt:lpstr>Difference from a normal output coil</vt:lpstr>
      <vt:lpstr>SET/RESET versus seal-in latching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Amin Ahmed.G</cp:lastModifiedBy>
  <cp:revision>17</cp:revision>
  <dcterms:created xsi:type="dcterms:W3CDTF">2026-08-04T10:25:16Z</dcterms:created>
  <dcterms:modified xsi:type="dcterms:W3CDTF">2026-08-06T14:30:47Z</dcterms:modified>
</cp:coreProperties>
</file>
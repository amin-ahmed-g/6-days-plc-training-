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90" r:id="rId39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91" r:id="rId40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presProps" Target="presProps.xml"/><Relationship Id="rId39" Type="http://schemas.openxmlformats.org/officeDocument/2006/relationships/slide" Target="slides/slide16.xml"/><Relationship Id="rId40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move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A5FEA0B-394E-4906-9141-7E6B717AF88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E66A99-7D3C-4022-B874-A1C95E1339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CCB535-20E0-4061-851C-7F4018AF4E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3411B9-2EF0-4C9D-9FCC-6C04CF238F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590C22-A9F3-41F2-8F21-06EED4CF00F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6923EA-0E48-4A47-977C-09DEAB1EA8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7FCF9C-C7D6-4B5C-8126-248BCECD30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CA5A28-5303-4954-85C3-11B66633BB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EA154F-89F0-4FD3-99A1-E0F4DB1E2F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7F406A-7014-4B7F-8D51-551EEE216C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0E1D0A-1182-48E7-B3AA-93605ED277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49B96C-D878-421A-BAB1-518E4C7547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BCF061-1867-434E-8E4B-8BBFC8E37B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E7D6CC-9049-4CFB-B375-B0D9979F53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7D50B1-B725-4D20-A41D-63FD0B9329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D895BF-C4A5-4E24-91AD-8AE3D60412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4B00C-B4D1-4E27-9715-6644B09A73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A71387-8CEC-414A-8993-B3C4DB2CD4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181C1A-4A4C-4064-8332-F5AEE041DC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54E254-B74F-4F14-B6EA-652E4CD4198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5465AE-1F22-4A5B-9B36-A590D66097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91E4F0-1A37-4815-AC79-555E8E71CB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5B566F-F91A-4D43-A4CB-41798D4A72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996858-AA28-4549-927B-0F81998A67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C8CE65-9828-4A87-ACB7-D71393AFDE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A6553F-F663-48D4-AA7E-08DD900931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8F9309-58AF-4BF6-BEEC-83141B37CF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58B69A-722A-44CA-A0B7-BD6CBD4E46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764381-A395-4AA1-A88D-DA36447AF0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692F16-642C-4EA5-A8E7-1118901D29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3AB0C2-03F5-4889-B4C4-52B5872716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10F45B-D60F-4C04-BF64-35A479599D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73E953-714F-4FB6-AF4A-F5901E6C17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4C8CE3-5A74-4AC1-984E-F72F169518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24FEEF-91D3-40AB-9543-3D2B7EBCD6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1828800"/>
            <a:ext cx="5943240" cy="5943240"/>
          </a:xfrm>
          <a:prstGeom prst="ellipse">
            <a:avLst/>
          </a:prstGeom>
          <a:solidFill>
            <a:srgbClr val="065a82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2011680" y="4206240"/>
            <a:ext cx="5028840" cy="502884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85800" y="640080"/>
            <a:ext cx="3291480" cy="45684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658440"/>
            <a:ext cx="3108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199" strike="noStrike">
                <a:solidFill>
                  <a:srgbClr val="21295c"/>
                </a:solidFill>
                <a:latin typeface="Calibri"/>
                <a:ea typeface="Calibri"/>
              </a:rPr>
              <a:t>DAY 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85800" y="1920240"/>
            <a:ext cx="96008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Timers, Counters &amp;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Troubleshooting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13160" y="397764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cadcfc"/>
                </a:solidFill>
                <a:latin typeface="Calibri"/>
                <a:ea typeface="Calibri"/>
              </a:rPr>
              <a:t>How machines wait, count, and get fixed — explained in plain English. No coding experience needed.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0149840" y="3657600"/>
            <a:ext cx="1371240" cy="2742840"/>
          </a:xfrm>
          <a:prstGeom prst="roundRect">
            <a:avLst>
              <a:gd name="adj" fmla="val 10000"/>
            </a:avLst>
          </a:prstGeom>
          <a:solidFill>
            <a:srgbClr val="1a2340"/>
          </a:solidFill>
          <a:ln w="12700">
            <a:solidFill>
              <a:srgbClr val="3b4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0469880" y="3931920"/>
            <a:ext cx="731160" cy="73116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0469880" y="4709160"/>
            <a:ext cx="731160" cy="731160"/>
          </a:xfrm>
          <a:prstGeom prst="ellipse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0469880" y="5486400"/>
            <a:ext cx="731160" cy="731160"/>
          </a:xfrm>
          <a:prstGeom prst="ellipse">
            <a:avLst/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TODAY'S ROADMAP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What We'll Cover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548640" y="1920240"/>
            <a:ext cx="2605680" cy="3291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822960" y="2240280"/>
            <a:ext cx="914040" cy="914040"/>
          </a:xfrm>
          <a:prstGeom prst="roundRect">
            <a:avLst>
              <a:gd name="adj" fmla="val 15000"/>
            </a:avLst>
          </a:prstGeom>
          <a:solidFill>
            <a:srgbClr val="065a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822960" y="224028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65a82"/>
                </a:solidFill>
                <a:latin typeface="Cambria"/>
                <a:ea typeface="Cambria"/>
              </a:rPr>
              <a:t>01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777240" y="33375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1295c"/>
                </a:solidFill>
                <a:latin typeface="Cambria"/>
                <a:ea typeface="Cambria"/>
              </a:rPr>
              <a:t>Timers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777240" y="388620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b7a85"/>
                </a:solidFill>
                <a:latin typeface="Calibri"/>
                <a:ea typeface="Calibri"/>
              </a:rPr>
              <a:t>Waiting on purpose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3383280" y="1920240"/>
            <a:ext cx="2605680" cy="3291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3657600" y="2240280"/>
            <a:ext cx="914040" cy="914040"/>
          </a:xfrm>
          <a:prstGeom prst="roundRect">
            <a:avLst>
              <a:gd name="adj" fmla="val 15000"/>
            </a:avLst>
          </a:prstGeom>
          <a:solidFill>
            <a:srgbClr val="1c7293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3657600" y="224028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c7293"/>
                </a:solidFill>
                <a:latin typeface="Cambria"/>
                <a:ea typeface="Cambria"/>
              </a:rPr>
              <a:t>02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3611880" y="33375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1295c"/>
                </a:solidFill>
                <a:latin typeface="Cambria"/>
                <a:ea typeface="Cambria"/>
              </a:rPr>
              <a:t>Counters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3611880" y="388620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b7a85"/>
                </a:solidFill>
                <a:latin typeface="Calibri"/>
                <a:ea typeface="Calibri"/>
              </a:rPr>
              <a:t>Keeping track of numbers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6217920" y="1920240"/>
            <a:ext cx="2605680" cy="3291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6492240" y="2240280"/>
            <a:ext cx="914040" cy="914040"/>
          </a:xfrm>
          <a:prstGeom prst="roundRect">
            <a:avLst>
              <a:gd name="adj" fmla="val 15000"/>
            </a:avLst>
          </a:prstGeom>
          <a:solidFill>
            <a:srgbClr val="e8a33d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6492240" y="224028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8a33d"/>
                </a:solidFill>
                <a:latin typeface="Cambria"/>
                <a:ea typeface="Cambria"/>
              </a:rPr>
              <a:t>03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6446520" y="33375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1295c"/>
                </a:solidFill>
                <a:latin typeface="Cambria"/>
                <a:ea typeface="Cambria"/>
              </a:rPr>
              <a:t>Watching &amp; Fixing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6446520" y="388620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b7a85"/>
                </a:solidFill>
                <a:latin typeface="Calibri"/>
                <a:ea typeface="Calibri"/>
              </a:rPr>
              <a:t>Finding what went wrong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9052560" y="1920240"/>
            <a:ext cx="2605680" cy="3291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8"/>
          <p:cNvSpPr/>
          <p:nvPr/>
        </p:nvSpPr>
        <p:spPr>
          <a:xfrm>
            <a:off x="9326880" y="2240280"/>
            <a:ext cx="914040" cy="914040"/>
          </a:xfrm>
          <a:prstGeom prst="roundRect">
            <a:avLst>
              <a:gd name="adj" fmla="val 15000"/>
            </a:avLst>
          </a:prstGeom>
          <a:solidFill>
            <a:srgbClr val="c0392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9326880" y="224028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0392b"/>
                </a:solidFill>
                <a:latin typeface="Cambria"/>
                <a:ea typeface="Cambria"/>
              </a:rPr>
              <a:t>04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9281160" y="33375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1295c"/>
                </a:solidFill>
                <a:latin typeface="Cambria"/>
                <a:ea typeface="Cambria"/>
              </a:rPr>
              <a:t>Traffic Light Project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9281160" y="388620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b7a85"/>
                </a:solidFill>
                <a:latin typeface="Calibri"/>
                <a:ea typeface="Calibri"/>
              </a:rPr>
              <a:t>Putting it all together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3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QUICK RECAP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What Is Ladder Logic?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48640" y="1600200"/>
            <a:ext cx="557748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Picture a row of light switches wired together — that's the whole idea.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Two side rails carry power, just like the two side-rails of a ladder.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Each horizontal row is called a rung — one simple rule: “if this, then that.”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If the conditions on the left are true, the device on the right turns 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6537960" y="1828800"/>
            <a:ext cx="493740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6812280" y="201168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1c7293"/>
                </a:solidFill>
                <a:latin typeface="Calibri"/>
                <a:ea typeface="Calibri"/>
              </a:rPr>
              <a:t>ONE SIMPLE RUNG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6995160" y="2651760"/>
            <a:ext cx="360" cy="128016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11018520" y="2651760"/>
            <a:ext cx="360" cy="128016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6995160" y="3291840"/>
            <a:ext cx="4023360" cy="36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7726680" y="3035880"/>
            <a:ext cx="91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8092440" y="3035880"/>
            <a:ext cx="91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7315200" y="358452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Button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Pressed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9784080" y="3054240"/>
            <a:ext cx="475200" cy="475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9281160" y="358452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Light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Turns 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6812280" y="448056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b7a85"/>
                </a:solidFill>
                <a:latin typeface="Calibri"/>
                <a:ea typeface="Calibri"/>
              </a:rPr>
              <a:t>Read it left to right:  button pressed  →  light turns 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9692640" y="-1463040"/>
            <a:ext cx="4754520" cy="475452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-1645920" y="5120640"/>
            <a:ext cx="3840120" cy="384012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640080" y="182880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065a82"/>
                </a:solidFill>
                <a:latin typeface="Cambria"/>
                <a:ea typeface="Cambria"/>
              </a:rPr>
              <a:t>01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685800" y="32461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199" strike="noStrike">
                <a:solidFill>
                  <a:srgbClr val="e8a33d"/>
                </a:solidFill>
                <a:latin typeface="Calibri"/>
                <a:ea typeface="Calibri"/>
              </a:rPr>
              <a:t>PART ONE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640080" y="3566160"/>
            <a:ext cx="9600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Timers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685800" y="45262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How machines wait on purpose before they act.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TIMERS · PART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Meet the Timer That Waits — TON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548640" y="1600200"/>
            <a:ext cx="5394600" cy="1965600"/>
          </a:xfrm>
          <a:prstGeom prst="roundRect">
            <a:avLst>
              <a:gd name="adj" fmla="val 4651"/>
            </a:avLst>
          </a:prstGeom>
          <a:solidFill>
            <a:srgbClr val="065a82">
              <a:alpha val="8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777240" y="17373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65a82"/>
                </a:solidFill>
                <a:latin typeface="Calibri"/>
                <a:ea typeface="Calibri"/>
              </a:rPr>
              <a:t>EVERYDAY EXAMPLE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777240" y="2057400"/>
            <a:ext cx="4937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A crosswalk button: you press it, but the “Walk” sign doesn’t light up right away — it waits a set number of seconds first.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548640" y="3794760"/>
            <a:ext cx="53946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TON stands for Timer On-Delay.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The output waits, then turns ON — only after the input has stayed ON for the full set time.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If the input turns off early, the wait starts over from zero next time.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6263640" y="1600200"/>
            <a:ext cx="5394600" cy="443448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6492240" y="17373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WHAT IT LOOKS LIKE OVER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6492240" y="251460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Button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(input)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6492240" y="397764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Walk sign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(output)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7680960" y="3188880"/>
            <a:ext cx="118872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8869680" y="2731680"/>
            <a:ext cx="237744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8869680" y="2731680"/>
            <a:ext cx="360" cy="45720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7680960" y="4651920"/>
            <a:ext cx="237744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10058400" y="4194720"/>
            <a:ext cx="118872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10058400" y="4194720"/>
            <a:ext cx="360" cy="45720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6"/>
          <p:cNvSpPr/>
          <p:nvPr/>
        </p:nvSpPr>
        <p:spPr>
          <a:xfrm>
            <a:off x="8869680" y="4907880"/>
            <a:ext cx="360" cy="16452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10058400" y="4907880"/>
            <a:ext cx="360" cy="16452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8"/>
          <p:cNvSpPr/>
          <p:nvPr/>
        </p:nvSpPr>
        <p:spPr>
          <a:xfrm>
            <a:off x="8869680" y="4990320"/>
            <a:ext cx="1188720" cy="36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8595360" y="50360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7a85"/>
                </a:solidFill>
                <a:latin typeface="Calibri"/>
                <a:ea typeface="Calibri"/>
              </a:rPr>
              <a:t>wait time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6492240" y="5440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7a85"/>
                </a:solidFill>
                <a:latin typeface="Calibri"/>
                <a:ea typeface="Calibri"/>
              </a:rPr>
              <a:t>Notice the gap — the output turns on late, after the wait time passes.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TIMERS · PART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TON on the Ladder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548640" y="1600200"/>
            <a:ext cx="5668920" cy="3108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777240" y="176472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THE RUNG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960120" y="2377440"/>
            <a:ext cx="360" cy="182880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5806440" y="2377440"/>
            <a:ext cx="360" cy="182880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960120" y="3291840"/>
            <a:ext cx="4846320" cy="36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2316960" y="303588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2609640" y="303588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1814040" y="35845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Start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Button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4352400" y="2999160"/>
            <a:ext cx="1259640" cy="585000"/>
          </a:xfrm>
          <a:prstGeom prst="roundRect">
            <a:avLst>
              <a:gd name="adj" fmla="val 12500"/>
            </a:avLst>
          </a:prstGeom>
          <a:solidFill>
            <a:srgbClr val="e8a33d">
              <a:alpha val="85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4032360" y="3639240"/>
            <a:ext cx="189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Wait 5 Sec,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Then Run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Motor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548640" y="4892040"/>
            <a:ext cx="5668920" cy="1234080"/>
          </a:xfrm>
          <a:prstGeom prst="roundRect">
            <a:avLst>
              <a:gd name="adj" fmla="val 7407"/>
            </a:avLst>
          </a:prstGeom>
          <a:solidFill>
            <a:srgbClr val="1c7293">
              <a:alpha val="1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777240" y="501084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c7293"/>
                </a:solidFill>
                <a:latin typeface="Calibri"/>
                <a:ea typeface="Calibri"/>
              </a:rPr>
              <a:t>REAL FACTORY EXAMPLE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777240" y="5285160"/>
            <a:ext cx="5211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6313b"/>
                </a:solidFill>
                <a:latin typeface="Calibri"/>
                <a:ea typeface="Calibri"/>
              </a:rPr>
              <a:t>When the operator presses Start, the conveyor motor waits 5 seconds before it begins moving. That short pause gives the operator time to step back safely.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6492240" y="1600200"/>
            <a:ext cx="5166000" cy="452592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6720840" y="17557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TIMING 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6720840" y="256032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Start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button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6720840" y="402336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Motor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running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7909560" y="3234600"/>
            <a:ext cx="111240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0"/>
          <p:cNvSpPr/>
          <p:nvPr/>
        </p:nvSpPr>
        <p:spPr>
          <a:xfrm>
            <a:off x="9021960" y="2777400"/>
            <a:ext cx="222516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1"/>
          <p:cNvSpPr/>
          <p:nvPr/>
        </p:nvSpPr>
        <p:spPr>
          <a:xfrm>
            <a:off x="9021960" y="2777400"/>
            <a:ext cx="360" cy="45720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2"/>
          <p:cNvSpPr/>
          <p:nvPr/>
        </p:nvSpPr>
        <p:spPr>
          <a:xfrm>
            <a:off x="7909560" y="4697640"/>
            <a:ext cx="222480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10134360" y="4240440"/>
            <a:ext cx="111276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4"/>
          <p:cNvSpPr/>
          <p:nvPr/>
        </p:nvSpPr>
        <p:spPr>
          <a:xfrm>
            <a:off x="10134360" y="4240440"/>
            <a:ext cx="360" cy="45720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5"/>
          <p:cNvSpPr/>
          <p:nvPr/>
        </p:nvSpPr>
        <p:spPr>
          <a:xfrm>
            <a:off x="9021960" y="4953600"/>
            <a:ext cx="360" cy="16452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10134360" y="4953600"/>
            <a:ext cx="360" cy="16452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7"/>
          <p:cNvSpPr/>
          <p:nvPr/>
        </p:nvSpPr>
        <p:spPr>
          <a:xfrm>
            <a:off x="9021960" y="5036040"/>
            <a:ext cx="1112400" cy="36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8"/>
          <p:cNvSpPr/>
          <p:nvPr/>
        </p:nvSpPr>
        <p:spPr>
          <a:xfrm>
            <a:off x="8747640" y="5081760"/>
            <a:ext cx="166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7a85"/>
                </a:solidFill>
                <a:latin typeface="Calibri"/>
                <a:ea typeface="Calibri"/>
              </a:rPr>
              <a:t>5 sec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9"/>
          <p:cNvSpPr/>
          <p:nvPr/>
        </p:nvSpPr>
        <p:spPr>
          <a:xfrm>
            <a:off x="6720840" y="55778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7a85"/>
                </a:solidFill>
                <a:latin typeface="Calibri"/>
                <a:ea typeface="Calibri"/>
              </a:rPr>
              <a:t>Same TON idea as the crosswalk — just a motor instead of a light.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0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31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TIMERS · PART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A Closer Look at the Wait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548640" y="1645920"/>
            <a:ext cx="512028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The wait time is a number you set inside the timer — for example, 5.0 seconds.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While the timer is counting, its current value climbs from 0 up toward that set time.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The instant the current value reaches the set time, the output switches ON.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If the input drops OFF before the timer finishes, the current value resets to 0 — no partial credit.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6126480" y="1737360"/>
            <a:ext cx="5394600" cy="42973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6400800" y="19202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TIMER FILLING UP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6675120" y="2560320"/>
            <a:ext cx="4297320" cy="822600"/>
          </a:xfrm>
          <a:prstGeom prst="roundRect">
            <a:avLst>
              <a:gd name="adj" fmla="val 13333"/>
            </a:avLst>
          </a:prstGeom>
          <a:solidFill>
            <a:srgbClr val="e9eef2"/>
          </a:solidFill>
          <a:ln w="12700">
            <a:solidFill>
              <a:srgbClr val="c7d2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6675120" y="2560320"/>
            <a:ext cx="2664360" cy="8226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6675120" y="34747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6313b"/>
                </a:solidFill>
                <a:latin typeface="Calibri"/>
                <a:ea typeface="Calibri"/>
              </a:rPr>
              <a:t>3.1 / 5.0 sec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6675120" y="38404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b7a85"/>
                </a:solidFill>
                <a:latin typeface="Calibri"/>
                <a:ea typeface="Calibri"/>
              </a:rPr>
              <a:t>Current value climbing toward the set time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6675120" y="4206240"/>
            <a:ext cx="4297320" cy="776880"/>
          </a:xfrm>
          <a:prstGeom prst="roundRect">
            <a:avLst>
              <a:gd name="adj" fmla="val 11765"/>
            </a:avLst>
          </a:prstGeom>
          <a:solidFill>
            <a:srgbClr val="e8a33d">
              <a:alpha val="15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6812280" y="42062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When the bar fills completely → output turns 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6675120" y="5257800"/>
            <a:ext cx="4297320" cy="776880"/>
          </a:xfrm>
          <a:prstGeom prst="roundRect">
            <a:avLst>
              <a:gd name="adj" fmla="val 11765"/>
            </a:avLst>
          </a:prstGeom>
          <a:solidFill>
            <a:srgbClr val="c0392b">
              <a:alpha val="12000"/>
            </a:srgbClr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6812280" y="525780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If input drops early → bar empties back to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4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TIMERS · PART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TON Example #2 — Elevator Call Button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548640" y="1691640"/>
            <a:ext cx="5394600" cy="4343040"/>
          </a:xfrm>
          <a:prstGeom prst="roundRect">
            <a:avLst>
              <a:gd name="adj" fmla="val 2105"/>
            </a:avLst>
          </a:prstGeom>
          <a:solidFill>
            <a:srgbClr val="065a82">
              <a:alpha val="8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777240" y="18745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65a82"/>
                </a:solidFill>
                <a:latin typeface="Calibri"/>
                <a:ea typeface="Calibri"/>
              </a:rPr>
              <a:t>SITUATION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777240" y="2194560"/>
            <a:ext cx="4937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A visitor presses the elevator call button in a lobby. The building doesn’t want the elevator dispatched for a light, accidental tap — so it only responds once the button has been held for a short, deliberate moment.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777240" y="3794760"/>
            <a:ext cx="49374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Input: call button pressed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TON set time: 0.5 seconds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Output: “elevator requested” turns 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A quick accidental brush of the button never reaches 0.5 seconds, so nothing happens — the timer resets instantly.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6263640" y="1691640"/>
            <a:ext cx="5394600" cy="4343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6492240" y="18561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THE RUNG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6675120" y="2468880"/>
            <a:ext cx="360" cy="306324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11247120" y="2468880"/>
            <a:ext cx="360" cy="306324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6675120" y="4000320"/>
            <a:ext cx="4572000" cy="36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7955280" y="374436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8247960" y="374436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7452360" y="429300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Call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Button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9875520" y="3708000"/>
            <a:ext cx="1188360" cy="585000"/>
          </a:xfrm>
          <a:prstGeom prst="roundRect">
            <a:avLst>
              <a:gd name="adj" fmla="val 12500"/>
            </a:avLst>
          </a:prstGeom>
          <a:solidFill>
            <a:srgbClr val="e8a33d">
              <a:alpha val="85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9555480" y="43480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Set “Requested”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(after 0.5 sec)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TIMERS · PART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Meet the Timer That Lingers — TOF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548640" y="1600200"/>
            <a:ext cx="5394600" cy="1965600"/>
          </a:xfrm>
          <a:prstGeom prst="roundRect">
            <a:avLst>
              <a:gd name="adj" fmla="val 4651"/>
            </a:avLst>
          </a:prstGeom>
          <a:solidFill>
            <a:srgbClr val="1c7293">
              <a:alpha val="1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777240" y="17373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EVERYDAY EXAMPLE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777240" y="2057400"/>
            <a:ext cx="4937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A closet light that stays on for a few extra seconds after you close the door — so you’re not left in the dark right away.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548640" y="3794760"/>
            <a:ext cx="53946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TOF stands for Timer Off-Delay.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The output turns ON immediately with the input — no waiting there.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When the input turns OFF, the output stays on a little longer before it finally switches off.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6263640" y="1600200"/>
            <a:ext cx="5394600" cy="443448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6492240" y="17373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WHAT IT LOOKS LIKE OVER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6492240" y="251460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Door open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(input)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6492240" y="397764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Closet light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(output)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7680960" y="3188880"/>
            <a:ext cx="118872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8869680" y="2731680"/>
            <a:ext cx="118872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10058400" y="3188880"/>
            <a:ext cx="118872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8869680" y="2731680"/>
            <a:ext cx="360" cy="45720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10058400" y="2731680"/>
            <a:ext cx="360" cy="45720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5"/>
          <p:cNvSpPr/>
          <p:nvPr/>
        </p:nvSpPr>
        <p:spPr>
          <a:xfrm>
            <a:off x="7680960" y="4651920"/>
            <a:ext cx="118872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6"/>
          <p:cNvSpPr/>
          <p:nvPr/>
        </p:nvSpPr>
        <p:spPr>
          <a:xfrm>
            <a:off x="8869680" y="4194720"/>
            <a:ext cx="202068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7"/>
          <p:cNvSpPr/>
          <p:nvPr/>
        </p:nvSpPr>
        <p:spPr>
          <a:xfrm>
            <a:off x="10890360" y="4651920"/>
            <a:ext cx="35676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8"/>
          <p:cNvSpPr/>
          <p:nvPr/>
        </p:nvSpPr>
        <p:spPr>
          <a:xfrm>
            <a:off x="8869680" y="4194720"/>
            <a:ext cx="360" cy="45720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10890360" y="4194720"/>
            <a:ext cx="360" cy="45720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0"/>
          <p:cNvSpPr/>
          <p:nvPr/>
        </p:nvSpPr>
        <p:spPr>
          <a:xfrm>
            <a:off x="10058400" y="4907880"/>
            <a:ext cx="360" cy="16452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1"/>
          <p:cNvSpPr/>
          <p:nvPr/>
        </p:nvSpPr>
        <p:spPr>
          <a:xfrm>
            <a:off x="10890360" y="4907880"/>
            <a:ext cx="360" cy="16452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2"/>
          <p:cNvSpPr/>
          <p:nvPr/>
        </p:nvSpPr>
        <p:spPr>
          <a:xfrm>
            <a:off x="10058400" y="4990320"/>
            <a:ext cx="831960" cy="36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3"/>
          <p:cNvSpPr/>
          <p:nvPr/>
        </p:nvSpPr>
        <p:spPr>
          <a:xfrm>
            <a:off x="9784080" y="5036040"/>
            <a:ext cx="165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7a85"/>
                </a:solidFill>
                <a:latin typeface="Calibri"/>
                <a:ea typeface="Calibri"/>
              </a:rPr>
              <a:t>lingers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4"/>
          <p:cNvSpPr/>
          <p:nvPr/>
        </p:nvSpPr>
        <p:spPr>
          <a:xfrm>
            <a:off x="6492240" y="5440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7a85"/>
                </a:solidFill>
                <a:latin typeface="Calibri"/>
                <a:ea typeface="Calibri"/>
              </a:rPr>
              <a:t>Notice the light stays on a bit past the moment the door input turns off.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6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TIMERS · PART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TOF on the Ladder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548640" y="1600200"/>
            <a:ext cx="5668920" cy="3108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777240" y="176472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THE RUNG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960120" y="2377440"/>
            <a:ext cx="360" cy="182880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5"/>
          <p:cNvSpPr/>
          <p:nvPr/>
        </p:nvSpPr>
        <p:spPr>
          <a:xfrm>
            <a:off x="5806440" y="2377440"/>
            <a:ext cx="360" cy="182880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960120" y="3291840"/>
            <a:ext cx="4846320" cy="36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2316960" y="303588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2609640" y="303588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1814040" y="35845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Machine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Running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4352400" y="2999160"/>
            <a:ext cx="1259640" cy="585000"/>
          </a:xfrm>
          <a:prstGeom prst="roundRect">
            <a:avLst>
              <a:gd name="adj" fmla="val 12500"/>
            </a:avLst>
          </a:prstGeom>
          <a:solidFill>
            <a:srgbClr val="e8a33d">
              <a:alpha val="85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4032360" y="3639240"/>
            <a:ext cx="189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Keep Exhaust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Fan 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(30 sec after)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548640" y="4892040"/>
            <a:ext cx="5668920" cy="1234080"/>
          </a:xfrm>
          <a:prstGeom prst="roundRect">
            <a:avLst>
              <a:gd name="adj" fmla="val 7407"/>
            </a:avLst>
          </a:prstGeom>
          <a:solidFill>
            <a:srgbClr val="1c7293">
              <a:alpha val="1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777240" y="501084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c7293"/>
                </a:solidFill>
                <a:latin typeface="Calibri"/>
                <a:ea typeface="Calibri"/>
              </a:rPr>
              <a:t>REAL FACTORY EXAMPLE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777240" y="5285160"/>
            <a:ext cx="5211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6313b"/>
                </a:solidFill>
                <a:latin typeface="Calibri"/>
                <a:ea typeface="Calibri"/>
              </a:rPr>
              <a:t>An exhaust fan clears fumes while a machine runs. When the machine stops, the fan keeps running 30 more seconds to finish clearing the air.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5"/>
          <p:cNvSpPr/>
          <p:nvPr/>
        </p:nvSpPr>
        <p:spPr>
          <a:xfrm>
            <a:off x="6492240" y="1600200"/>
            <a:ext cx="5166000" cy="452592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6720840" y="17557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TIMING 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6720840" y="256032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Machine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running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8"/>
          <p:cNvSpPr/>
          <p:nvPr/>
        </p:nvSpPr>
        <p:spPr>
          <a:xfrm>
            <a:off x="6720840" y="402336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Exhaust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fan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9"/>
          <p:cNvSpPr/>
          <p:nvPr/>
        </p:nvSpPr>
        <p:spPr>
          <a:xfrm>
            <a:off x="7909560" y="3234600"/>
            <a:ext cx="111240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0"/>
          <p:cNvSpPr/>
          <p:nvPr/>
        </p:nvSpPr>
        <p:spPr>
          <a:xfrm>
            <a:off x="9021960" y="2777400"/>
            <a:ext cx="111240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1"/>
          <p:cNvSpPr/>
          <p:nvPr/>
        </p:nvSpPr>
        <p:spPr>
          <a:xfrm>
            <a:off x="10134360" y="3234600"/>
            <a:ext cx="111276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2"/>
          <p:cNvSpPr/>
          <p:nvPr/>
        </p:nvSpPr>
        <p:spPr>
          <a:xfrm>
            <a:off x="9021960" y="2777400"/>
            <a:ext cx="360" cy="45720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3"/>
          <p:cNvSpPr/>
          <p:nvPr/>
        </p:nvSpPr>
        <p:spPr>
          <a:xfrm>
            <a:off x="10134360" y="2777400"/>
            <a:ext cx="360" cy="45720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4"/>
          <p:cNvSpPr/>
          <p:nvPr/>
        </p:nvSpPr>
        <p:spPr>
          <a:xfrm>
            <a:off x="7909560" y="4697640"/>
            <a:ext cx="111240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5"/>
          <p:cNvSpPr/>
          <p:nvPr/>
        </p:nvSpPr>
        <p:spPr>
          <a:xfrm>
            <a:off x="9021960" y="4240440"/>
            <a:ext cx="189108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6"/>
          <p:cNvSpPr/>
          <p:nvPr/>
        </p:nvSpPr>
        <p:spPr>
          <a:xfrm>
            <a:off x="10913040" y="4697640"/>
            <a:ext cx="334080" cy="36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7"/>
          <p:cNvSpPr/>
          <p:nvPr/>
        </p:nvSpPr>
        <p:spPr>
          <a:xfrm>
            <a:off x="9021960" y="4240440"/>
            <a:ext cx="360" cy="45720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8"/>
          <p:cNvSpPr/>
          <p:nvPr/>
        </p:nvSpPr>
        <p:spPr>
          <a:xfrm>
            <a:off x="10913040" y="4240440"/>
            <a:ext cx="360" cy="457200"/>
          </a:xfrm>
          <a:prstGeom prst="line">
            <a:avLst/>
          </a:prstGeom>
          <a:ln w="317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9"/>
          <p:cNvSpPr/>
          <p:nvPr/>
        </p:nvSpPr>
        <p:spPr>
          <a:xfrm>
            <a:off x="10134360" y="4953600"/>
            <a:ext cx="360" cy="16452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0"/>
          <p:cNvSpPr/>
          <p:nvPr/>
        </p:nvSpPr>
        <p:spPr>
          <a:xfrm>
            <a:off x="10913040" y="4953600"/>
            <a:ext cx="360" cy="16452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1"/>
          <p:cNvSpPr/>
          <p:nvPr/>
        </p:nvSpPr>
        <p:spPr>
          <a:xfrm>
            <a:off x="10134360" y="5036040"/>
            <a:ext cx="778680" cy="360"/>
          </a:xfrm>
          <a:prstGeom prst="line">
            <a:avLst/>
          </a:prstGeom>
          <a:ln w="127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32"/>
          <p:cNvSpPr/>
          <p:nvPr/>
        </p:nvSpPr>
        <p:spPr>
          <a:xfrm>
            <a:off x="9860400" y="5081760"/>
            <a:ext cx="16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7a85"/>
                </a:solidFill>
                <a:latin typeface="Calibri"/>
                <a:ea typeface="Calibri"/>
              </a:rPr>
              <a:t>30 sec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33"/>
          <p:cNvSpPr/>
          <p:nvPr/>
        </p:nvSpPr>
        <p:spPr>
          <a:xfrm>
            <a:off x="6720840" y="55778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7a85"/>
                </a:solidFill>
                <a:latin typeface="Calibri"/>
                <a:ea typeface="Calibri"/>
              </a:rPr>
              <a:t>Same TOF idea as the closet light — just a fan instead of a lamp.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4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35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TIMERS · RECAP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TON vs. TOF, Side by Side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548640" y="1737360"/>
            <a:ext cx="5120280" cy="42058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548640" y="1737360"/>
            <a:ext cx="5120280" cy="63972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777240" y="173736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TON — Turns On 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777240" y="2606040"/>
            <a:ext cx="46630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1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Delays the ON.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Output waits for the set time after the input turns on.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Example: crosswalk “Walk” sign, conveyor start delay.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Good for: safety pauses, letting things settle before starting.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6492240" y="1737360"/>
            <a:ext cx="5120280" cy="42058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6492240" y="1737360"/>
            <a:ext cx="5120280" cy="63972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6720840" y="173736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TOF — Turns Off 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6720840" y="2606040"/>
            <a:ext cx="46630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1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Delays the OFF.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Output turns on immediately, but lingers after the input turns off.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Example: closet light, exhaust fan run-on.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Good for: finishing a job smoothly after the trigger stops.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9692640" y="-1463040"/>
            <a:ext cx="4754520" cy="475452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>
            <a:off x="-1645920" y="5120640"/>
            <a:ext cx="3840120" cy="384012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640080" y="182880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065a82"/>
                </a:solidFill>
                <a:latin typeface="Cambria"/>
                <a:ea typeface="Cambria"/>
              </a:rPr>
              <a:t>02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685800" y="32461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199" strike="noStrike">
                <a:solidFill>
                  <a:srgbClr val="e8a33d"/>
                </a:solidFill>
                <a:latin typeface="Calibri"/>
                <a:ea typeface="Calibri"/>
              </a:rPr>
              <a:t>PART TWO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640080" y="3566160"/>
            <a:ext cx="9600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Counters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685800" y="45262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How machines keep score of what's happened.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12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COUNTERS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What Is a Counter?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548640" y="1737360"/>
            <a:ext cx="52117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50" spc="-1" strike="noStrike">
                <a:solidFill>
                  <a:srgbClr val="26313b"/>
                </a:solidFill>
                <a:latin typeface="Calibri"/>
                <a:ea typeface="Calibri"/>
              </a:rPr>
              <a:t>A counter simply keeps track of how many times something has happened.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50" spc="-1" strike="noStrike">
                <a:solidFill>
                  <a:srgbClr val="26313b"/>
                </a:solidFill>
                <a:latin typeface="Calibri"/>
                <a:ea typeface="Calibri"/>
              </a:rPr>
              <a:t>Every time the right event happens once, the number goes up (or down) by exactly one.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50" spc="-1" strike="noStrike">
                <a:solidFill>
                  <a:srgbClr val="26313b"/>
                </a:solidFill>
                <a:latin typeface="Calibri"/>
                <a:ea typeface="Calibri"/>
              </a:rPr>
              <a:t>It doesn’t care how long the event took — only that it happened.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"/>
          <p:cNvSpPr/>
          <p:nvPr/>
        </p:nvSpPr>
        <p:spPr>
          <a:xfrm>
            <a:off x="548640" y="4434840"/>
            <a:ext cx="5211720" cy="1599840"/>
          </a:xfrm>
          <a:prstGeom prst="roundRect">
            <a:avLst>
              <a:gd name="adj" fmla="val 5714"/>
            </a:avLst>
          </a:prstGeom>
          <a:solidFill>
            <a:srgbClr val="1c7293">
              <a:alpha val="1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777240" y="457200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EVERYDAY EXAMPLE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777240" y="486468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6313b"/>
                </a:solidFill>
                <a:latin typeface="Calibri"/>
                <a:ea typeface="Calibri"/>
              </a:rPr>
              <a:t>A turnstile at a stadium gate: every time one person walks through, the number goes up by one — no matter how fast or slow they walked.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6"/>
          <p:cNvSpPr/>
          <p:nvPr/>
        </p:nvSpPr>
        <p:spPr>
          <a:xfrm>
            <a:off x="6263640" y="1737360"/>
            <a:ext cx="5394600" cy="42973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6537960" y="19202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PEOPLE COUNTED TODAY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8"/>
          <p:cNvSpPr/>
          <p:nvPr/>
        </p:nvSpPr>
        <p:spPr>
          <a:xfrm>
            <a:off x="7955280" y="2377440"/>
            <a:ext cx="2011320" cy="105120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7955280" y="2377440"/>
            <a:ext cx="2011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8a33d"/>
                </a:solidFill>
                <a:latin typeface="Courier New"/>
                <a:ea typeface="Courier New"/>
              </a:rPr>
              <a:t>047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6537960" y="35204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a85"/>
                </a:solidFill>
                <a:latin typeface="Calibri"/>
                <a:ea typeface="Calibri"/>
              </a:rPr>
              <a:t>Each person through the gate: +1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2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COUNTERS · PART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Counting Up — CTU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548640" y="1600200"/>
            <a:ext cx="5668920" cy="3108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777240" y="176472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THE RUNG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4"/>
          <p:cNvSpPr/>
          <p:nvPr/>
        </p:nvSpPr>
        <p:spPr>
          <a:xfrm>
            <a:off x="960120" y="2377440"/>
            <a:ext cx="360" cy="182880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5806440" y="2377440"/>
            <a:ext cx="360" cy="182880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6"/>
          <p:cNvSpPr/>
          <p:nvPr/>
        </p:nvSpPr>
        <p:spPr>
          <a:xfrm>
            <a:off x="960120" y="3291840"/>
            <a:ext cx="4846320" cy="36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7"/>
          <p:cNvSpPr/>
          <p:nvPr/>
        </p:nvSpPr>
        <p:spPr>
          <a:xfrm>
            <a:off x="2316960" y="303588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8"/>
          <p:cNvSpPr/>
          <p:nvPr/>
        </p:nvSpPr>
        <p:spPr>
          <a:xfrm>
            <a:off x="2609640" y="303588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1814040" y="35845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Box Passes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Sensor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0"/>
          <p:cNvSpPr/>
          <p:nvPr/>
        </p:nvSpPr>
        <p:spPr>
          <a:xfrm>
            <a:off x="4352400" y="2999160"/>
            <a:ext cx="1259640" cy="585000"/>
          </a:xfrm>
          <a:prstGeom prst="roundRect">
            <a:avLst>
              <a:gd name="adj" fmla="val 12500"/>
            </a:avLst>
          </a:prstGeom>
          <a:solidFill>
            <a:srgbClr val="e8a33d">
              <a:alpha val="85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1"/>
          <p:cNvSpPr/>
          <p:nvPr/>
        </p:nvSpPr>
        <p:spPr>
          <a:xfrm>
            <a:off x="4032360" y="3639240"/>
            <a:ext cx="189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Add 1 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Box Count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548640" y="4892040"/>
            <a:ext cx="5668920" cy="1234080"/>
          </a:xfrm>
          <a:prstGeom prst="roundRect">
            <a:avLst>
              <a:gd name="adj" fmla="val 7407"/>
            </a:avLst>
          </a:prstGeom>
          <a:solidFill>
            <a:srgbClr val="065a82">
              <a:alpha val="8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777240" y="501084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65a82"/>
                </a:solidFill>
                <a:latin typeface="Calibri"/>
                <a:ea typeface="Calibri"/>
              </a:rPr>
              <a:t>REAL FACTORY EXAMPLE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777240" y="5285160"/>
            <a:ext cx="5211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6313b"/>
                </a:solidFill>
                <a:latin typeface="Calibri"/>
                <a:ea typeface="Calibri"/>
              </a:rPr>
              <a:t>A sensor watches boxes go by on a conveyor. Each box adds 1 to the count — once it reaches 10, that’s a full pallet, ready to wrap and ship.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5"/>
          <p:cNvSpPr/>
          <p:nvPr/>
        </p:nvSpPr>
        <p:spPr>
          <a:xfrm>
            <a:off x="6492240" y="1600200"/>
            <a:ext cx="5166000" cy="452592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6"/>
          <p:cNvSpPr/>
          <p:nvPr/>
        </p:nvSpPr>
        <p:spPr>
          <a:xfrm>
            <a:off x="6720840" y="17557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CTU COUNTS UP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7"/>
          <p:cNvSpPr/>
          <p:nvPr/>
        </p:nvSpPr>
        <p:spPr>
          <a:xfrm>
            <a:off x="7955280" y="2286000"/>
            <a:ext cx="2194200" cy="1096920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8"/>
          <p:cNvSpPr/>
          <p:nvPr/>
        </p:nvSpPr>
        <p:spPr>
          <a:xfrm>
            <a:off x="7955280" y="228600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e8a33d"/>
                </a:solidFill>
                <a:latin typeface="Courier New"/>
                <a:ea typeface="Courier New"/>
              </a:rPr>
              <a:t>07 / 10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9"/>
          <p:cNvSpPr/>
          <p:nvPr/>
        </p:nvSpPr>
        <p:spPr>
          <a:xfrm>
            <a:off x="6720840" y="3657600"/>
            <a:ext cx="47088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Starts at 0, adds 1 each time a box passes.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Stops (or signals “done”) once it reaches the target number you set.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0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1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COUNTERS · PART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Counting Down — CTD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548640" y="1600200"/>
            <a:ext cx="5668920" cy="3108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777240" y="176472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THE RUNG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960120" y="2377440"/>
            <a:ext cx="360" cy="182880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5"/>
          <p:cNvSpPr/>
          <p:nvPr/>
        </p:nvSpPr>
        <p:spPr>
          <a:xfrm>
            <a:off x="5806440" y="2377440"/>
            <a:ext cx="360" cy="182880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960120" y="3291840"/>
            <a:ext cx="4846320" cy="360"/>
          </a:xfrm>
          <a:prstGeom prst="line">
            <a:avLst/>
          </a:prstGeom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7"/>
          <p:cNvSpPr/>
          <p:nvPr/>
        </p:nvSpPr>
        <p:spPr>
          <a:xfrm>
            <a:off x="2316960" y="303588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2609640" y="3035880"/>
            <a:ext cx="82080" cy="5115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9"/>
          <p:cNvSpPr/>
          <p:nvPr/>
        </p:nvSpPr>
        <p:spPr>
          <a:xfrm>
            <a:off x="1814040" y="35845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Part Taken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313b"/>
                </a:solidFill>
                <a:latin typeface="Calibri"/>
                <a:ea typeface="Calibri"/>
              </a:rPr>
              <a:t>from Bin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10"/>
          <p:cNvSpPr/>
          <p:nvPr/>
        </p:nvSpPr>
        <p:spPr>
          <a:xfrm>
            <a:off x="4352400" y="2999160"/>
            <a:ext cx="1259640" cy="585000"/>
          </a:xfrm>
          <a:prstGeom prst="roundRect">
            <a:avLst>
              <a:gd name="adj" fmla="val 12500"/>
            </a:avLst>
          </a:prstGeom>
          <a:solidFill>
            <a:srgbClr val="e8a33d">
              <a:alpha val="85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1"/>
          <p:cNvSpPr/>
          <p:nvPr/>
        </p:nvSpPr>
        <p:spPr>
          <a:xfrm>
            <a:off x="4032360" y="3639240"/>
            <a:ext cx="189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Subtract 1 from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Remaining Count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2"/>
          <p:cNvSpPr/>
          <p:nvPr/>
        </p:nvSpPr>
        <p:spPr>
          <a:xfrm>
            <a:off x="548640" y="4892040"/>
            <a:ext cx="5668920" cy="1234080"/>
          </a:xfrm>
          <a:prstGeom prst="roundRect">
            <a:avLst>
              <a:gd name="adj" fmla="val 7407"/>
            </a:avLst>
          </a:prstGeom>
          <a:solidFill>
            <a:srgbClr val="1c7293">
              <a:alpha val="1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3"/>
          <p:cNvSpPr/>
          <p:nvPr/>
        </p:nvSpPr>
        <p:spPr>
          <a:xfrm>
            <a:off x="777240" y="501084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c7293"/>
                </a:solidFill>
                <a:latin typeface="Calibri"/>
                <a:ea typeface="Calibri"/>
              </a:rPr>
              <a:t>REAL FACTORY EXAMPLE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777240" y="5285160"/>
            <a:ext cx="5211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6313b"/>
                </a:solidFill>
                <a:latin typeface="Calibri"/>
                <a:ea typeface="Calibri"/>
              </a:rPr>
              <a:t>A bin starts with 50 parts loaded in it. Every time one part is used, the count goes down by one — when it reaches zero, it’s time to refill the bin.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5"/>
          <p:cNvSpPr/>
          <p:nvPr/>
        </p:nvSpPr>
        <p:spPr>
          <a:xfrm>
            <a:off x="6492240" y="1600200"/>
            <a:ext cx="5166000" cy="452592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6"/>
          <p:cNvSpPr/>
          <p:nvPr/>
        </p:nvSpPr>
        <p:spPr>
          <a:xfrm>
            <a:off x="6720840" y="17557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CTD COUNTS DOWN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7"/>
          <p:cNvSpPr/>
          <p:nvPr/>
        </p:nvSpPr>
        <p:spPr>
          <a:xfrm>
            <a:off x="7955280" y="2286000"/>
            <a:ext cx="2194200" cy="1096920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18"/>
          <p:cNvSpPr/>
          <p:nvPr/>
        </p:nvSpPr>
        <p:spPr>
          <a:xfrm>
            <a:off x="7955280" y="228600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e8a33d"/>
                </a:solidFill>
                <a:latin typeface="Courier New"/>
                <a:ea typeface="Courier New"/>
              </a:rPr>
              <a:t>12 / 50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9"/>
          <p:cNvSpPr/>
          <p:nvPr/>
        </p:nvSpPr>
        <p:spPr>
          <a:xfrm>
            <a:off x="6720840" y="3657600"/>
            <a:ext cx="47088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Starts at a number you set, subtracts 1 each time a part is used.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Signals “empty” once it reaches zero.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0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1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COUNTERS · PART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One Clean Pulse — Edge Detection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548640" y="1737360"/>
            <a:ext cx="548604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A sensor that stays ON even briefly gets checked on every scan before the program moves to the next step — wire it straight into a counter and one press can add far more than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The fix is a one-shot, also called ONS or edge detection: it turns TRUE for exactly one scan when the input first flips from OFF to ON, then drops back to FALSE — even while the button stays held.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That single clean pulse is what actually feeds the counter, so one press always means exactly one count, no matter how long the sensor stays 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This same trick shows up anywhere you want something to happen once per event instead of once per scan — logging an alarm, starting a cycle, and more.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6400800" y="1737360"/>
            <a:ext cx="5257440" cy="42973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6629400" y="187452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1c7293"/>
                </a:solidFill>
                <a:latin typeface="Calibri"/>
                <a:ea typeface="Calibri"/>
              </a:rPr>
              <a:t>THE ONE-SHOT (ONS) IN ACTION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6629400" y="2423160"/>
            <a:ext cx="4571640" cy="959760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6812280" y="2423160"/>
            <a:ext cx="4205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Sensor held down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for 2 full seconds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7"/>
          <p:cNvSpPr/>
          <p:nvPr/>
        </p:nvSpPr>
        <p:spPr>
          <a:xfrm>
            <a:off x="8915400" y="3383280"/>
            <a:ext cx="360" cy="182880"/>
          </a:xfrm>
          <a:prstGeom prst="line">
            <a:avLst/>
          </a:prstGeom>
          <a:ln w="254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6629400" y="3566160"/>
            <a:ext cx="4571640" cy="959760"/>
          </a:xfrm>
          <a:prstGeom prst="roundRect">
            <a:avLst>
              <a:gd name="adj" fmla="val 9524"/>
            </a:avLst>
          </a:prstGeom>
          <a:solidFill>
            <a:srgbClr val="e8a33d">
              <a:alpha val="12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6812280" y="3566160"/>
            <a:ext cx="4205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Without ONS wired 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counts jump by ~200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8915400" y="4526280"/>
            <a:ext cx="360" cy="182880"/>
          </a:xfrm>
          <a:prstGeom prst="line">
            <a:avLst/>
          </a:prstGeom>
          <a:ln w="254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6629400" y="4709160"/>
            <a:ext cx="4571640" cy="959760"/>
          </a:xfrm>
          <a:prstGeom prst="roundRect">
            <a:avLst>
              <a:gd name="adj" fmla="val 9524"/>
            </a:avLst>
          </a:prstGeom>
          <a:solidFill>
            <a:srgbClr val="1e8449">
              <a:alpha val="12000"/>
            </a:srgbClr>
          </a:solidFill>
          <a:ln w="1905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6812280" y="4709160"/>
            <a:ext cx="4205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With ONS wired 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counts by exactly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COUNTERS · PART 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How Counters Reset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548640" y="1737360"/>
            <a:ext cx="548604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A counter doesn’t stop counting by itself — something in the program has to reset it back to its starting number.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For CTU, reset usually means: the pallet is full, wrap it and send it, then reset the count back to 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For CTD, reset usually means: the bin was refilled, so set the count back up to its starting number.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Without a reset step, a CTU counter would just keep climbing past its target instead of starting a fresh pallet.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6400800" y="1737360"/>
            <a:ext cx="5257440" cy="42973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6629400" y="187452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1c7293"/>
                </a:solidFill>
                <a:latin typeface="Calibri"/>
                <a:ea typeface="Calibri"/>
              </a:rPr>
              <a:t>THE RESET CYCLE (CTU EXAMPLE)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6629400" y="2423160"/>
            <a:ext cx="4571640" cy="959760"/>
          </a:xfrm>
          <a:prstGeom prst="roundRect">
            <a:avLst>
              <a:gd name="adj" fmla="val 9524"/>
            </a:avLst>
          </a:prstGeom>
          <a:solidFill>
            <a:srgbClr val="065a82">
              <a:alpha val="12000"/>
            </a:srgbClr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6812280" y="2423160"/>
            <a:ext cx="4205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Count climbs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0 → 10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7"/>
          <p:cNvSpPr/>
          <p:nvPr/>
        </p:nvSpPr>
        <p:spPr>
          <a:xfrm>
            <a:off x="8915400" y="3383280"/>
            <a:ext cx="360" cy="182880"/>
          </a:xfrm>
          <a:prstGeom prst="line">
            <a:avLst/>
          </a:prstGeom>
          <a:ln w="254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6629400" y="3566160"/>
            <a:ext cx="4571640" cy="959760"/>
          </a:xfrm>
          <a:prstGeom prst="roundRect">
            <a:avLst>
              <a:gd name="adj" fmla="val 9524"/>
            </a:avLst>
          </a:prstGeom>
          <a:solidFill>
            <a:srgbClr val="e8a33d">
              <a:alpha val="12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6812280" y="3566160"/>
            <a:ext cx="4205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Target hit: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pallet full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8915400" y="4526280"/>
            <a:ext cx="360" cy="182880"/>
          </a:xfrm>
          <a:prstGeom prst="line">
            <a:avLst/>
          </a:prstGeom>
          <a:ln w="25400">
            <a:solidFill>
              <a:srgbClr val="6b7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6629400" y="4709160"/>
            <a:ext cx="4571640" cy="959760"/>
          </a:xfrm>
          <a:prstGeom prst="roundRect">
            <a:avLst>
              <a:gd name="adj" fmla="val 9524"/>
            </a:avLst>
          </a:prstGeom>
          <a:solidFill>
            <a:srgbClr val="1e8449">
              <a:alpha val="12000"/>
            </a:srgbClr>
          </a:solidFill>
          <a:ln w="1905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6812280" y="4709160"/>
            <a:ext cx="4205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Reset count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back to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COUNTERS · PART 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Counters Working Together — Inventory Tracking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2"/>
          <p:cNvSpPr/>
          <p:nvPr/>
        </p:nvSpPr>
        <p:spPr>
          <a:xfrm>
            <a:off x="548640" y="16002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A stockroom can use both counter types on the same part number to always know how many are on the shelf.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548640" y="2331720"/>
            <a:ext cx="5120280" cy="3565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4"/>
          <p:cNvSpPr/>
          <p:nvPr/>
        </p:nvSpPr>
        <p:spPr>
          <a:xfrm>
            <a:off x="777240" y="25146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mbria"/>
                <a:ea typeface="Cambria"/>
              </a:rPr>
              <a:t>CTU — Parts Delivered 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777240" y="301752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6313b"/>
                </a:solidFill>
                <a:latin typeface="Calibri"/>
                <a:ea typeface="Calibri"/>
              </a:rPr>
              <a:t>Each time a new shipment arrives and parts are shelved, the CTU adds to the running total.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6"/>
          <p:cNvSpPr/>
          <p:nvPr/>
        </p:nvSpPr>
        <p:spPr>
          <a:xfrm>
            <a:off x="777240" y="4023360"/>
            <a:ext cx="4663080" cy="1554120"/>
          </a:xfrm>
          <a:prstGeom prst="roundRect">
            <a:avLst>
              <a:gd name="adj" fmla="val 5882"/>
            </a:avLst>
          </a:prstGeom>
          <a:solidFill>
            <a:srgbClr val="065a82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960120" y="4480560"/>
            <a:ext cx="429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+ arriving shipment  →  count goes 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5943600" y="2331720"/>
            <a:ext cx="5120280" cy="3565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9"/>
          <p:cNvSpPr/>
          <p:nvPr/>
        </p:nvSpPr>
        <p:spPr>
          <a:xfrm>
            <a:off x="6172200" y="25146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7293"/>
                </a:solidFill>
                <a:latin typeface="Cambria"/>
                <a:ea typeface="Cambria"/>
              </a:rPr>
              <a:t>CTD — Parts Picked Out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0"/>
          <p:cNvSpPr/>
          <p:nvPr/>
        </p:nvSpPr>
        <p:spPr>
          <a:xfrm>
            <a:off x="6172200" y="301752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6313b"/>
                </a:solidFill>
                <a:latin typeface="Calibri"/>
                <a:ea typeface="Calibri"/>
              </a:rPr>
              <a:t>Each time a worker picks a part off the shelf to use, the CTD subtracts from the running total.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6172200" y="4023360"/>
            <a:ext cx="4663080" cy="1554120"/>
          </a:xfrm>
          <a:prstGeom prst="roundRect">
            <a:avLst>
              <a:gd name="adj" fmla="val 5882"/>
            </a:avLst>
          </a:prstGeom>
          <a:solidFill>
            <a:srgbClr val="1c7293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2"/>
          <p:cNvSpPr/>
          <p:nvPr/>
        </p:nvSpPr>
        <p:spPr>
          <a:xfrm>
            <a:off x="6355080" y="4480560"/>
            <a:ext cx="429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− </a:t>
            </a: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part picked  →  count goes DOWN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4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QUICK REFERENCE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Timers &amp; Counters at a Glance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6" name="Table 0"/>
          <p:cNvGraphicFramePr/>
          <p:nvPr/>
        </p:nvGraphicFramePr>
        <p:xfrm>
          <a:off x="548640" y="1828800"/>
          <a:ext cx="1106388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466344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Name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Does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Everyday Example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822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TON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Waits, then turns ON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Crosswalk “Walk” sign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TOF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Turns on now, but turns OFF later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Closet light lingering after the door closes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  <a:tr h="822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CTU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Counts up to a target number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Boxes counted into a pallet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CTD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Counts down to zero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Parts remaining in a bin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327" name="Text 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REAL WORLD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Where You Already See This Every Day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548640" y="1920240"/>
            <a:ext cx="2605680" cy="3291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3"/>
          <p:cNvSpPr/>
          <p:nvPr/>
        </p:nvSpPr>
        <p:spPr>
          <a:xfrm>
            <a:off x="822960" y="2240280"/>
            <a:ext cx="822600" cy="822600"/>
          </a:xfrm>
          <a:prstGeom prst="ellipse">
            <a:avLst/>
          </a:prstGeom>
          <a:solidFill>
            <a:srgbClr val="065a82">
              <a:alpha val="15000"/>
            </a:srgbClr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777240" y="333756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mbria"/>
                <a:ea typeface="Cambria"/>
              </a:rPr>
              <a:t>Elevator Doors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777240" y="4023360"/>
            <a:ext cx="2148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6b7a85"/>
                </a:solidFill>
                <a:latin typeface="Calibri"/>
                <a:ea typeface="Calibri"/>
              </a:rPr>
              <a:t>Wait a moment before closing, then close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3383280" y="1920240"/>
            <a:ext cx="2605680" cy="3291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7"/>
          <p:cNvSpPr/>
          <p:nvPr/>
        </p:nvSpPr>
        <p:spPr>
          <a:xfrm>
            <a:off x="3657600" y="2240280"/>
            <a:ext cx="822600" cy="822600"/>
          </a:xfrm>
          <a:prstGeom prst="ellipse">
            <a:avLst/>
          </a:prstGeom>
          <a:solidFill>
            <a:srgbClr val="1c7293">
              <a:alpha val="15000"/>
            </a:srgbClr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8"/>
          <p:cNvSpPr/>
          <p:nvPr/>
        </p:nvSpPr>
        <p:spPr>
          <a:xfrm>
            <a:off x="3611880" y="333756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mbria"/>
                <a:ea typeface="Cambria"/>
              </a:rPr>
              <a:t>Parking Garage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3611880" y="4023360"/>
            <a:ext cx="2148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6b7a85"/>
                </a:solidFill>
                <a:latin typeface="Calibri"/>
                <a:ea typeface="Calibri"/>
              </a:rPr>
              <a:t>Counts cars in and out to show “FULL”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6217920" y="1920240"/>
            <a:ext cx="2605680" cy="3291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6492240" y="2240280"/>
            <a:ext cx="822600" cy="822600"/>
          </a:xfrm>
          <a:prstGeom prst="ellipse">
            <a:avLst/>
          </a:prstGeom>
          <a:solidFill>
            <a:srgbClr val="e8a33d">
              <a:alpha val="15000"/>
            </a:srgbClr>
          </a:solidFill>
          <a:ln w="1905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6446520" y="333756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mbria"/>
                <a:ea typeface="Cambria"/>
              </a:rPr>
              <a:t>Washing Machine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6446520" y="4023360"/>
            <a:ext cx="2148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6b7a85"/>
                </a:solidFill>
                <a:latin typeface="Calibri"/>
                <a:ea typeface="Calibri"/>
              </a:rPr>
              <a:t>Runs each cycle for a set number of minutes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4"/>
          <p:cNvSpPr/>
          <p:nvPr/>
        </p:nvSpPr>
        <p:spPr>
          <a:xfrm>
            <a:off x="9052560" y="1920240"/>
            <a:ext cx="2605680" cy="3291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5"/>
          <p:cNvSpPr/>
          <p:nvPr/>
        </p:nvSpPr>
        <p:spPr>
          <a:xfrm>
            <a:off x="9326880" y="2240280"/>
            <a:ext cx="822600" cy="822600"/>
          </a:xfrm>
          <a:prstGeom prst="ellipse">
            <a:avLst/>
          </a:prstGeom>
          <a:solidFill>
            <a:srgbClr val="c0392b">
              <a:alpha val="15000"/>
            </a:srgbClr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9281160" y="333756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mbria"/>
                <a:ea typeface="Cambria"/>
              </a:rPr>
              <a:t>Traffic Lights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7"/>
          <p:cNvSpPr/>
          <p:nvPr/>
        </p:nvSpPr>
        <p:spPr>
          <a:xfrm>
            <a:off x="9281160" y="4023360"/>
            <a:ext cx="2148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6b7a85"/>
                </a:solidFill>
                <a:latin typeface="Calibri"/>
                <a:ea typeface="Calibri"/>
              </a:rPr>
              <a:t>Each color stays on for a set number of seconds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9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9692640" y="-1463040"/>
            <a:ext cx="4754520" cy="475452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1"/>
          <p:cNvSpPr/>
          <p:nvPr/>
        </p:nvSpPr>
        <p:spPr>
          <a:xfrm>
            <a:off x="-1645920" y="5120640"/>
            <a:ext cx="3840120" cy="384012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640080" y="182880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065a82"/>
                </a:solidFill>
                <a:latin typeface="Cambria"/>
                <a:ea typeface="Cambria"/>
              </a:rPr>
              <a:t>03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685800" y="32461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199" strike="noStrike">
                <a:solidFill>
                  <a:srgbClr val="e8a33d"/>
                </a:solidFill>
                <a:latin typeface="Calibri"/>
                <a:ea typeface="Calibri"/>
              </a:rPr>
              <a:t>PART THREE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4"/>
          <p:cNvSpPr/>
          <p:nvPr/>
        </p:nvSpPr>
        <p:spPr>
          <a:xfrm>
            <a:off x="640080" y="3566160"/>
            <a:ext cx="9600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Watching &amp; Fixing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685800" y="45262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How to see what a running program is doing — and find what went wrong.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21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WATCHING &amp; FIXING · PART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Watching the Program Run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2"/>
          <p:cNvSpPr/>
          <p:nvPr/>
        </p:nvSpPr>
        <p:spPr>
          <a:xfrm>
            <a:off x="548640" y="1737360"/>
            <a:ext cx="53946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You can see which rungs are “lit up” and active right now.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You can see the exact count or time value a timer or counter currently holds.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313b"/>
                </a:solidFill>
                <a:latin typeface="Calibri"/>
                <a:ea typeface="Calibri"/>
              </a:rPr>
              <a:t>Nothing here changes the program — you are only observing 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548640" y="4709160"/>
            <a:ext cx="5394600" cy="1325520"/>
          </a:xfrm>
          <a:prstGeom prst="roundRect">
            <a:avLst>
              <a:gd name="adj" fmla="val 6897"/>
            </a:avLst>
          </a:prstGeom>
          <a:solidFill>
            <a:srgbClr val="1c7293">
              <a:alpha val="1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4"/>
          <p:cNvSpPr/>
          <p:nvPr/>
        </p:nvSpPr>
        <p:spPr>
          <a:xfrm>
            <a:off x="777240" y="48279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1c7293"/>
                </a:solidFill>
                <a:latin typeface="Calibri"/>
                <a:ea typeface="Calibri"/>
              </a:rPr>
              <a:t>LIVE VALUES ON SCREEN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777240" y="510228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6313b"/>
                </a:solidFill>
                <a:latin typeface="Calibri"/>
                <a:ea typeface="Calibri"/>
              </a:rPr>
              <a:t>Just like watching a video game’s live scoreboard, you can see numbers and lights changing on screen while the machine keeps running.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6"/>
          <p:cNvSpPr/>
          <p:nvPr/>
        </p:nvSpPr>
        <p:spPr>
          <a:xfrm>
            <a:off x="6263640" y="1737360"/>
            <a:ext cx="5394600" cy="429732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a99a8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7"/>
          <p:cNvSpPr/>
          <p:nvPr/>
        </p:nvSpPr>
        <p:spPr>
          <a:xfrm>
            <a:off x="6537960" y="19202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8fe3c7"/>
                </a:solidFill>
                <a:latin typeface="Calibri"/>
                <a:ea typeface="Calibri"/>
              </a:rPr>
              <a:t>LIVE MONITOR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8"/>
          <p:cNvSpPr/>
          <p:nvPr/>
        </p:nvSpPr>
        <p:spPr>
          <a:xfrm>
            <a:off x="6720840" y="2514600"/>
            <a:ext cx="360" cy="914400"/>
          </a:xfrm>
          <a:prstGeom prst="line">
            <a:avLst/>
          </a:prstGeom>
          <a:ln w="38100">
            <a:solidFill>
              <a:srgbClr val="2fcb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9"/>
          <p:cNvSpPr/>
          <p:nvPr/>
        </p:nvSpPr>
        <p:spPr>
          <a:xfrm>
            <a:off x="11201400" y="2514600"/>
            <a:ext cx="360" cy="914400"/>
          </a:xfrm>
          <a:prstGeom prst="line">
            <a:avLst/>
          </a:prstGeom>
          <a:ln w="38100">
            <a:solidFill>
              <a:srgbClr val="2fcb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0"/>
          <p:cNvSpPr/>
          <p:nvPr/>
        </p:nvSpPr>
        <p:spPr>
          <a:xfrm>
            <a:off x="6720840" y="2971800"/>
            <a:ext cx="4480560" cy="360"/>
          </a:xfrm>
          <a:prstGeom prst="line">
            <a:avLst/>
          </a:prstGeom>
          <a:ln w="38100">
            <a:solidFill>
              <a:srgbClr val="2fcb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8065080" y="2734200"/>
            <a:ext cx="82080" cy="475200"/>
          </a:xfrm>
          <a:prstGeom prst="rect">
            <a:avLst/>
          </a:prstGeom>
          <a:solidFill>
            <a:srgbClr val="2fcb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12"/>
          <p:cNvSpPr/>
          <p:nvPr/>
        </p:nvSpPr>
        <p:spPr>
          <a:xfrm>
            <a:off x="8339400" y="2734200"/>
            <a:ext cx="82080" cy="475200"/>
          </a:xfrm>
          <a:prstGeom prst="rect">
            <a:avLst/>
          </a:prstGeom>
          <a:solidFill>
            <a:srgbClr val="2fcb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13"/>
          <p:cNvSpPr/>
          <p:nvPr/>
        </p:nvSpPr>
        <p:spPr>
          <a:xfrm>
            <a:off x="10378440" y="2752200"/>
            <a:ext cx="438480" cy="438480"/>
          </a:xfrm>
          <a:prstGeom prst="ellipse">
            <a:avLst/>
          </a:prstGeom>
          <a:solidFill>
            <a:srgbClr val="2fcb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14"/>
          <p:cNvSpPr/>
          <p:nvPr/>
        </p:nvSpPr>
        <p:spPr>
          <a:xfrm>
            <a:off x="6720840" y="356616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8fe3c7"/>
                </a:solidFill>
                <a:latin typeface="Calibri"/>
                <a:ea typeface="Calibri"/>
              </a:rPr>
              <a:t>ACTIVE — energized right now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5"/>
          <p:cNvSpPr/>
          <p:nvPr/>
        </p:nvSpPr>
        <p:spPr>
          <a:xfrm>
            <a:off x="6629400" y="4389120"/>
            <a:ext cx="4663080" cy="731160"/>
          </a:xfrm>
          <a:prstGeom prst="roundRect">
            <a:avLst>
              <a:gd name="adj" fmla="val 10000"/>
            </a:avLst>
          </a:prstGeom>
          <a:solidFill>
            <a:srgbClr val="2b3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16"/>
          <p:cNvSpPr/>
          <p:nvPr/>
        </p:nvSpPr>
        <p:spPr>
          <a:xfrm>
            <a:off x="6812280" y="438912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Timer T4:0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17"/>
          <p:cNvSpPr/>
          <p:nvPr/>
        </p:nvSpPr>
        <p:spPr>
          <a:xfrm>
            <a:off x="8732520" y="438912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8e"/>
                </a:solidFill>
                <a:latin typeface="Courier New"/>
                <a:ea typeface="Courier New"/>
              </a:rPr>
              <a:t>3.2 / 5.0 sec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18"/>
          <p:cNvSpPr/>
          <p:nvPr/>
        </p:nvSpPr>
        <p:spPr>
          <a:xfrm>
            <a:off x="6629400" y="5303520"/>
            <a:ext cx="4663080" cy="731160"/>
          </a:xfrm>
          <a:prstGeom prst="roundRect">
            <a:avLst>
              <a:gd name="adj" fmla="val 10000"/>
            </a:avLst>
          </a:prstGeom>
          <a:solidFill>
            <a:srgbClr val="2b3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9"/>
          <p:cNvSpPr/>
          <p:nvPr/>
        </p:nvSpPr>
        <p:spPr>
          <a:xfrm>
            <a:off x="6812280" y="530352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Counter C5:0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20"/>
          <p:cNvSpPr/>
          <p:nvPr/>
        </p:nvSpPr>
        <p:spPr>
          <a:xfrm>
            <a:off x="8732520" y="530352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8e"/>
                </a:solidFill>
                <a:latin typeface="Courier New"/>
                <a:ea typeface="Courier New"/>
              </a:rPr>
              <a:t>07 / 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21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2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WATCHING &amp; FIXING · PART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“</a:t>
            </a: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Forcing” — Testing Without the Real Parts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2"/>
          <p:cNvSpPr/>
          <p:nvPr/>
        </p:nvSpPr>
        <p:spPr>
          <a:xfrm>
            <a:off x="548640" y="164592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26313b"/>
                </a:solidFill>
                <a:latin typeface="Calibri"/>
                <a:ea typeface="Calibri"/>
              </a:rPr>
              <a:t>Forcing means pretending a switch or sensor is on or off, even though nobody is actually touching it. It’s a handy way to test the program before all the real equipment is wired up.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"/>
          <p:cNvSpPr/>
          <p:nvPr/>
        </p:nvSpPr>
        <p:spPr>
          <a:xfrm>
            <a:off x="548640" y="2880360"/>
            <a:ext cx="5211720" cy="3108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4"/>
          <p:cNvSpPr/>
          <p:nvPr/>
        </p:nvSpPr>
        <p:spPr>
          <a:xfrm>
            <a:off x="777240" y="310896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65a82"/>
                </a:solidFill>
                <a:latin typeface="Calibri"/>
                <a:ea typeface="Calibri"/>
              </a:rPr>
              <a:t>NORMAL OPERATION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5"/>
          <p:cNvSpPr/>
          <p:nvPr/>
        </p:nvSpPr>
        <p:spPr>
          <a:xfrm>
            <a:off x="2651760" y="3657600"/>
            <a:ext cx="1005480" cy="1005480"/>
          </a:xfrm>
          <a:prstGeom prst="ellipse">
            <a:avLst/>
          </a:prstGeom>
          <a:solidFill>
            <a:srgbClr val="065a82">
              <a:alpha val="12000"/>
            </a:srgbClr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6"/>
          <p:cNvSpPr/>
          <p:nvPr/>
        </p:nvSpPr>
        <p:spPr>
          <a:xfrm>
            <a:off x="777240" y="484632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A real sensor decides ON or OFF based on what’s actually happening in the world.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7"/>
          <p:cNvSpPr/>
          <p:nvPr/>
        </p:nvSpPr>
        <p:spPr>
          <a:xfrm>
            <a:off x="6263640" y="2880360"/>
            <a:ext cx="5211720" cy="3108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e8a33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8"/>
          <p:cNvSpPr/>
          <p:nvPr/>
        </p:nvSpPr>
        <p:spPr>
          <a:xfrm>
            <a:off x="6492240" y="310896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e8a33d"/>
                </a:solidFill>
                <a:latin typeface="Calibri"/>
                <a:ea typeface="Calibri"/>
              </a:rPr>
              <a:t>FORCED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9"/>
          <p:cNvSpPr/>
          <p:nvPr/>
        </p:nvSpPr>
        <p:spPr>
          <a:xfrm>
            <a:off x="8366760" y="3657600"/>
            <a:ext cx="1005480" cy="1005480"/>
          </a:xfrm>
          <a:prstGeom prst="ellipse">
            <a:avLst/>
          </a:prstGeom>
          <a:solidFill>
            <a:srgbClr val="e8a33d">
              <a:alpha val="25000"/>
            </a:srgbClr>
          </a:solidFill>
          <a:ln w="2540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10"/>
          <p:cNvSpPr/>
          <p:nvPr/>
        </p:nvSpPr>
        <p:spPr>
          <a:xfrm>
            <a:off x="6492240" y="484632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313b"/>
                </a:solidFill>
                <a:latin typeface="Calibri"/>
                <a:ea typeface="Calibri"/>
              </a:rPr>
              <a:t>You override it by hand — telling the software the sensor is ON or OFF, whether or not it really is.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11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2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WATCHING &amp; FIXING · PART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Forcing — Do’s and Don’ts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95" name="Table 0"/>
          <p:cNvGraphicFramePr/>
          <p:nvPr/>
        </p:nvGraphicFramePr>
        <p:xfrm>
          <a:off x="548640" y="1828800"/>
          <a:ext cx="11063880" cy="397764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Do</a:t>
                      </a:r>
                      <a:endParaRPr b="0" lang="en-US" sz="14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Don’t</a:t>
                      </a:r>
                      <a:endParaRPr b="0" lang="en-US" sz="14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11430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Use forcing to test the logic before real parts are hooked up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Leave a force turned on and walk away from the panel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Always check for a lit “FORCE” warning light first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Assume forcing keeps every safety feature working — it doesn’t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  <a:tr h="11430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Turn off every force before leaving the machine running for real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Force anything on a real, running machine without proper safety steps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6" name="Text 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3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WATCHING &amp; FIXING · PART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Something’s Wrong — Where Do You Look First?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2"/>
          <p:cNvSpPr/>
          <p:nvPr/>
        </p:nvSpPr>
        <p:spPr>
          <a:xfrm>
            <a:off x="548640" y="1783080"/>
            <a:ext cx="3428640" cy="29257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3"/>
          <p:cNvSpPr/>
          <p:nvPr/>
        </p:nvSpPr>
        <p:spPr>
          <a:xfrm>
            <a:off x="1851840" y="205740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4"/>
          <p:cNvSpPr/>
          <p:nvPr/>
        </p:nvSpPr>
        <p:spPr>
          <a:xfrm>
            <a:off x="1851840" y="20574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5"/>
          <p:cNvSpPr/>
          <p:nvPr/>
        </p:nvSpPr>
        <p:spPr>
          <a:xfrm>
            <a:off x="777240" y="306324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1295c"/>
                </a:solidFill>
                <a:latin typeface="Cambria"/>
                <a:ea typeface="Cambria"/>
              </a:rPr>
              <a:t>Is it even turned on?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6"/>
          <p:cNvSpPr/>
          <p:nvPr/>
        </p:nvSpPr>
        <p:spPr>
          <a:xfrm>
            <a:off x="777240" y="379476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Check that the machine has power and is actually running.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7"/>
          <p:cNvSpPr/>
          <p:nvPr/>
        </p:nvSpPr>
        <p:spPr>
          <a:xfrm>
            <a:off x="3996000" y="2971800"/>
            <a:ext cx="32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6b7a85"/>
                </a:solidFill>
                <a:latin typeface="Calibri"/>
                <a:ea typeface="Calibri"/>
              </a:rPr>
              <a:t>→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8"/>
          <p:cNvSpPr/>
          <p:nvPr/>
        </p:nvSpPr>
        <p:spPr>
          <a:xfrm>
            <a:off x="4343400" y="1783080"/>
            <a:ext cx="3428640" cy="29257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9"/>
          <p:cNvSpPr/>
          <p:nvPr/>
        </p:nvSpPr>
        <p:spPr>
          <a:xfrm>
            <a:off x="5646600" y="2057400"/>
            <a:ext cx="822600" cy="8226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10"/>
          <p:cNvSpPr/>
          <p:nvPr/>
        </p:nvSpPr>
        <p:spPr>
          <a:xfrm>
            <a:off x="5646600" y="20574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1"/>
          <p:cNvSpPr/>
          <p:nvPr/>
        </p:nvSpPr>
        <p:spPr>
          <a:xfrm>
            <a:off x="4572000" y="306324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1295c"/>
                </a:solidFill>
                <a:latin typeface="Cambria"/>
                <a:ea typeface="Cambria"/>
              </a:rPr>
              <a:t>What are the lights telling you?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2"/>
          <p:cNvSpPr/>
          <p:nvPr/>
        </p:nvSpPr>
        <p:spPr>
          <a:xfrm>
            <a:off x="4572000" y="379476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Warning lights often point straight at the real problem.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13"/>
          <p:cNvSpPr/>
          <p:nvPr/>
        </p:nvSpPr>
        <p:spPr>
          <a:xfrm>
            <a:off x="7790760" y="2971800"/>
            <a:ext cx="32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6b7a85"/>
                </a:solidFill>
                <a:latin typeface="Calibri"/>
                <a:ea typeface="Calibri"/>
              </a:rPr>
              <a:t>→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14"/>
          <p:cNvSpPr/>
          <p:nvPr/>
        </p:nvSpPr>
        <p:spPr>
          <a:xfrm>
            <a:off x="8138160" y="1783080"/>
            <a:ext cx="3428640" cy="29257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5"/>
          <p:cNvSpPr/>
          <p:nvPr/>
        </p:nvSpPr>
        <p:spPr>
          <a:xfrm>
            <a:off x="9441360" y="2057400"/>
            <a:ext cx="822600" cy="82260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16"/>
          <p:cNvSpPr/>
          <p:nvPr/>
        </p:nvSpPr>
        <p:spPr>
          <a:xfrm>
            <a:off x="9441360" y="20574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17"/>
          <p:cNvSpPr/>
          <p:nvPr/>
        </p:nvSpPr>
        <p:spPr>
          <a:xfrm>
            <a:off x="8366760" y="306324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1295c"/>
                </a:solidFill>
                <a:latin typeface="Cambria"/>
                <a:ea typeface="Cambria"/>
              </a:rPr>
              <a:t>Only then, look at the program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18"/>
          <p:cNvSpPr/>
          <p:nvPr/>
        </p:nvSpPr>
        <p:spPr>
          <a:xfrm>
            <a:off x="8366760" y="379476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Check the logic last — once power and warnings are ruled out.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19"/>
          <p:cNvSpPr/>
          <p:nvPr/>
        </p:nvSpPr>
        <p:spPr>
          <a:xfrm>
            <a:off x="548640" y="5029200"/>
            <a:ext cx="11063880" cy="105120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20"/>
          <p:cNvSpPr/>
          <p:nvPr/>
        </p:nvSpPr>
        <p:spPr>
          <a:xfrm>
            <a:off x="822960" y="5029200"/>
            <a:ext cx="10515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Why this order matters: chasing a program bug for twenty minutes is a waste of time if the real issue was simply a power switch left off.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21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22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WATCHING &amp; FIXING · PART 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Common Beginner Mistakes to Avoid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2"/>
          <p:cNvSpPr/>
          <p:nvPr/>
        </p:nvSpPr>
        <p:spPr>
          <a:xfrm>
            <a:off x="548640" y="1737360"/>
            <a:ext cx="5257440" cy="2057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0392b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3"/>
          <p:cNvSpPr/>
          <p:nvPr/>
        </p:nvSpPr>
        <p:spPr>
          <a:xfrm>
            <a:off x="777240" y="1965960"/>
            <a:ext cx="456840" cy="456840"/>
          </a:xfrm>
          <a:prstGeom prst="ellipse">
            <a:avLst/>
          </a:prstGeom>
          <a:solidFill>
            <a:srgbClr val="c0392b">
              <a:alpha val="15000"/>
            </a:srgbClr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4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0392b"/>
                </a:solidFill>
                <a:latin typeface="Cambria"/>
                <a:ea typeface="Cambria"/>
              </a:rPr>
              <a:t>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5"/>
          <p:cNvSpPr/>
          <p:nvPr/>
        </p:nvSpPr>
        <p:spPr>
          <a:xfrm>
            <a:off x="1417320" y="193860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1295c"/>
                </a:solidFill>
                <a:latin typeface="Cambria"/>
                <a:ea typeface="Cambria"/>
              </a:rPr>
              <a:t>Chasing the program first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6"/>
          <p:cNvSpPr/>
          <p:nvPr/>
        </p:nvSpPr>
        <p:spPr>
          <a:xfrm>
            <a:off x="822960" y="260604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6313b"/>
                </a:solidFill>
                <a:latin typeface="Calibri"/>
                <a:ea typeface="Calibri"/>
              </a:rPr>
              <a:t>Skipping the power-and-lights check and jumping straight to the logic, wasting time on a problem that isn’t there.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7"/>
          <p:cNvSpPr/>
          <p:nvPr/>
        </p:nvSpPr>
        <p:spPr>
          <a:xfrm>
            <a:off x="6172200" y="1737360"/>
            <a:ext cx="5257440" cy="2057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0392b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8"/>
          <p:cNvSpPr/>
          <p:nvPr/>
        </p:nvSpPr>
        <p:spPr>
          <a:xfrm>
            <a:off x="6400800" y="1965960"/>
            <a:ext cx="456840" cy="456840"/>
          </a:xfrm>
          <a:prstGeom prst="ellipse">
            <a:avLst/>
          </a:prstGeom>
          <a:solidFill>
            <a:srgbClr val="c0392b">
              <a:alpha val="15000"/>
            </a:srgbClr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9"/>
          <p:cNvSpPr/>
          <p:nvPr/>
        </p:nvSpPr>
        <p:spPr>
          <a:xfrm>
            <a:off x="64008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0392b"/>
                </a:solidFill>
                <a:latin typeface="Cambria"/>
                <a:ea typeface="Cambria"/>
              </a:rPr>
              <a:t>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0"/>
          <p:cNvSpPr/>
          <p:nvPr/>
        </p:nvSpPr>
        <p:spPr>
          <a:xfrm>
            <a:off x="7040880" y="193860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1295c"/>
                </a:solidFill>
                <a:latin typeface="Cambria"/>
                <a:ea typeface="Cambria"/>
              </a:rPr>
              <a:t>Forgetting a force is still 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1"/>
          <p:cNvSpPr/>
          <p:nvPr/>
        </p:nvSpPr>
        <p:spPr>
          <a:xfrm>
            <a:off x="6446520" y="260604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6313b"/>
                </a:solidFill>
                <a:latin typeface="Calibri"/>
                <a:ea typeface="Calibri"/>
              </a:rPr>
              <a:t>Leaving a sensor forced ON from testing, so the machine behaves strangely later and nobody knows why.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2"/>
          <p:cNvSpPr/>
          <p:nvPr/>
        </p:nvSpPr>
        <p:spPr>
          <a:xfrm>
            <a:off x="548640" y="4069080"/>
            <a:ext cx="5257440" cy="2057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0392b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3"/>
          <p:cNvSpPr/>
          <p:nvPr/>
        </p:nvSpPr>
        <p:spPr>
          <a:xfrm>
            <a:off x="777240" y="4297680"/>
            <a:ext cx="456840" cy="456840"/>
          </a:xfrm>
          <a:prstGeom prst="ellipse">
            <a:avLst/>
          </a:prstGeom>
          <a:solidFill>
            <a:srgbClr val="c0392b">
              <a:alpha val="15000"/>
            </a:srgbClr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14"/>
          <p:cNvSpPr/>
          <p:nvPr/>
        </p:nvSpPr>
        <p:spPr>
          <a:xfrm>
            <a:off x="777240" y="4297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0392b"/>
                </a:solidFill>
                <a:latin typeface="Cambria"/>
                <a:ea typeface="Cambria"/>
              </a:rPr>
              <a:t>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15"/>
          <p:cNvSpPr/>
          <p:nvPr/>
        </p:nvSpPr>
        <p:spPr>
          <a:xfrm>
            <a:off x="1417320" y="427032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1295c"/>
                </a:solidFill>
                <a:latin typeface="Cambria"/>
                <a:ea typeface="Cambria"/>
              </a:rPr>
              <a:t>Misreading TON vs. TOF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16"/>
          <p:cNvSpPr/>
          <p:nvPr/>
        </p:nvSpPr>
        <p:spPr>
          <a:xfrm>
            <a:off x="822960" y="493776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6313b"/>
                </a:solidFill>
                <a:latin typeface="Calibri"/>
                <a:ea typeface="Calibri"/>
              </a:rPr>
              <a:t>Expecting an output to switch off right away, when the timer was actually built to linger a bit.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7"/>
          <p:cNvSpPr/>
          <p:nvPr/>
        </p:nvSpPr>
        <p:spPr>
          <a:xfrm>
            <a:off x="6172200" y="4069080"/>
            <a:ext cx="5257440" cy="2057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0392b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8"/>
          <p:cNvSpPr/>
          <p:nvPr/>
        </p:nvSpPr>
        <p:spPr>
          <a:xfrm>
            <a:off x="6400800" y="4297680"/>
            <a:ext cx="456840" cy="456840"/>
          </a:xfrm>
          <a:prstGeom prst="ellipse">
            <a:avLst/>
          </a:prstGeom>
          <a:solidFill>
            <a:srgbClr val="c0392b">
              <a:alpha val="15000"/>
            </a:srgbClr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19"/>
          <p:cNvSpPr/>
          <p:nvPr/>
        </p:nvSpPr>
        <p:spPr>
          <a:xfrm>
            <a:off x="6400800" y="4297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0392b"/>
                </a:solidFill>
                <a:latin typeface="Cambria"/>
                <a:ea typeface="Cambria"/>
              </a:rPr>
              <a:t>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20"/>
          <p:cNvSpPr/>
          <p:nvPr/>
        </p:nvSpPr>
        <p:spPr>
          <a:xfrm>
            <a:off x="7040880" y="427032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1295c"/>
                </a:solidFill>
                <a:latin typeface="Cambria"/>
                <a:ea typeface="Cambria"/>
              </a:rPr>
              <a:t>Ignoring the reset step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1"/>
          <p:cNvSpPr/>
          <p:nvPr/>
        </p:nvSpPr>
        <p:spPr>
          <a:xfrm>
            <a:off x="6446520" y="4937760"/>
            <a:ext cx="4708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6313b"/>
                </a:solidFill>
                <a:latin typeface="Calibri"/>
                <a:ea typeface="Calibri"/>
              </a:rPr>
              <a:t>Wondering why a counter never starts over, when the program just never told it to reset.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3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TIMERS · PART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TON vs. RTO — When Timers Remember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548640" y="1737360"/>
            <a:ext cx="5120280" cy="42058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548640" y="1737360"/>
            <a:ext cx="5120280" cy="63972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777240" y="173736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TON — Resets Every Time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777240" y="2606040"/>
            <a:ext cx="46630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1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Forgets everything the instant the input goes off.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Elapsed time always starts back at 0 the next time it runs.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Example: a delay-before-alarm timer that should reset clean each time.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Good for: one-off delays where old elapsed time never matters.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6492240" y="1737360"/>
            <a:ext cx="5120280" cy="42058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6492240" y="1737360"/>
            <a:ext cx="5120280" cy="63972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6720840" y="173736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RTO — Remembers Across Stops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6720840" y="2606040"/>
            <a:ext cx="46630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1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Keeps adding up elapsed time even after the input switches off.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Only a separate reset step ever sets it back to 0.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Example: total motor run-hours logged for a maintenance schedule.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26313b"/>
              </a:buClr>
              <a:buFont typeface="Wingdings" charset="2"/>
              <a:buChar char=""/>
            </a:pPr>
            <a:r>
              <a:rPr b="0" lang="en-US" sz="1450" spc="-1" strike="noStrike">
                <a:solidFill>
                  <a:srgbClr val="26313b"/>
                </a:solidFill>
                <a:latin typeface="Calibri"/>
                <a:ea typeface="Calibri"/>
              </a:rPr>
              <a:t>Good for: tracking a running total across many start/stop cycles.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PUTTING IT TOGETHER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Timers + Counters, Working as a Team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47" name="Table 0"/>
          <p:cNvGraphicFramePr/>
          <p:nvPr/>
        </p:nvGraphicFramePr>
        <p:xfrm>
          <a:off x="548640" y="1783080"/>
          <a:ext cx="11063880" cy="420624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Combination</a:t>
                      </a:r>
                      <a:endParaRPr b="0" lang="en-US" sz="14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Solves</a:t>
                      </a:r>
                      <a:endParaRPr b="0" lang="en-US" sz="14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Sensor → Counter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Counts one event per real occurrence, not extra counts by mistake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Sensor → Wait → Counter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Ignores a flicker or brief false reading that isn’t a real event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Timer that remembers its total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Adds up run-time across several separate start-and-stop cycles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A timer for each stage, one after another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Drives a looping sequence — exactly what today’s project needs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448" name="Text 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3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28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0"/>
          <p:cNvSpPr/>
          <p:nvPr/>
        </p:nvSpPr>
        <p:spPr>
          <a:xfrm>
            <a:off x="9692640" y="-1463040"/>
            <a:ext cx="4754520" cy="475452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1"/>
          <p:cNvSpPr/>
          <p:nvPr/>
        </p:nvSpPr>
        <p:spPr>
          <a:xfrm>
            <a:off x="-1645920" y="5120640"/>
            <a:ext cx="3840120" cy="384012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2"/>
          <p:cNvSpPr/>
          <p:nvPr/>
        </p:nvSpPr>
        <p:spPr>
          <a:xfrm>
            <a:off x="640080" y="182880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065a82"/>
                </a:solidFill>
                <a:latin typeface="Cambria"/>
                <a:ea typeface="Cambria"/>
              </a:rPr>
              <a:t>04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3"/>
          <p:cNvSpPr/>
          <p:nvPr/>
        </p:nvSpPr>
        <p:spPr>
          <a:xfrm>
            <a:off x="685800" y="32461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199" strike="noStrike">
                <a:solidFill>
                  <a:srgbClr val="e8a33d"/>
                </a:solidFill>
                <a:latin typeface="Calibri"/>
                <a:ea typeface="Calibri"/>
              </a:rPr>
              <a:t>PART FOUR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4"/>
          <p:cNvSpPr/>
          <p:nvPr/>
        </p:nvSpPr>
        <p:spPr>
          <a:xfrm>
            <a:off x="640080" y="3566160"/>
            <a:ext cx="9600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Traffic Light Project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685800" y="45262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Putting timers, counters, and memory to work in one program.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7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29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TODAY'S PROJECT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The Traffic Light Controller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548640" y="1600200"/>
            <a:ext cx="658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26313b"/>
                </a:solidFill>
                <a:latin typeface="Calibri"/>
                <a:ea typeface="Calibri"/>
              </a:rPr>
              <a:t>Red, then Green, then Yellow, then back to Red — looping forever, each color staying lit for a set number of seconds.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"/>
          <p:cNvSpPr/>
          <p:nvPr/>
        </p:nvSpPr>
        <p:spPr>
          <a:xfrm>
            <a:off x="548640" y="2743200"/>
            <a:ext cx="255600" cy="25560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4"/>
          <p:cNvSpPr/>
          <p:nvPr/>
        </p:nvSpPr>
        <p:spPr>
          <a:xfrm>
            <a:off x="960120" y="262440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1295c"/>
                </a:solidFill>
                <a:latin typeface="Calibri"/>
                <a:ea typeface="Calibri"/>
              </a:rPr>
              <a:t>Red  </a:t>
            </a: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stays lit while traffic waits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5"/>
          <p:cNvSpPr/>
          <p:nvPr/>
        </p:nvSpPr>
        <p:spPr>
          <a:xfrm>
            <a:off x="548640" y="3429000"/>
            <a:ext cx="255600" cy="255600"/>
          </a:xfrm>
          <a:prstGeom prst="ellipse">
            <a:avLst/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960120" y="331020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1295c"/>
                </a:solidFill>
                <a:latin typeface="Calibri"/>
                <a:ea typeface="Calibri"/>
              </a:rPr>
              <a:t>Green  </a:t>
            </a: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stays lit while traffic moves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7"/>
          <p:cNvSpPr/>
          <p:nvPr/>
        </p:nvSpPr>
        <p:spPr>
          <a:xfrm>
            <a:off x="548640" y="4114800"/>
            <a:ext cx="255600" cy="255600"/>
          </a:xfrm>
          <a:prstGeom prst="ellipse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8"/>
          <p:cNvSpPr/>
          <p:nvPr/>
        </p:nvSpPr>
        <p:spPr>
          <a:xfrm>
            <a:off x="960120" y="399600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1295c"/>
                </a:solidFill>
                <a:latin typeface="Calibri"/>
                <a:ea typeface="Calibri"/>
              </a:rPr>
              <a:t>Yellow  </a:t>
            </a: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stays lit briefly as a warning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9"/>
          <p:cNvSpPr/>
          <p:nvPr/>
        </p:nvSpPr>
        <p:spPr>
          <a:xfrm>
            <a:off x="548640" y="4800600"/>
            <a:ext cx="255600" cy="25560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10"/>
          <p:cNvSpPr/>
          <p:nvPr/>
        </p:nvSpPr>
        <p:spPr>
          <a:xfrm>
            <a:off x="960120" y="468180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1295c"/>
                </a:solidFill>
                <a:latin typeface="Calibri"/>
                <a:ea typeface="Calibri"/>
              </a:rPr>
              <a:t>Then it loops back to Red  </a:t>
            </a: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and repeats forever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1"/>
          <p:cNvSpPr/>
          <p:nvPr/>
        </p:nvSpPr>
        <p:spPr>
          <a:xfrm>
            <a:off x="9052560" y="1737360"/>
            <a:ext cx="1462680" cy="3108600"/>
          </a:xfrm>
          <a:prstGeom prst="roundRect">
            <a:avLst>
              <a:gd name="adj" fmla="val 11250"/>
            </a:avLst>
          </a:prstGeom>
          <a:solidFill>
            <a:srgbClr val="1a2340"/>
          </a:solidFill>
          <a:ln w="19050">
            <a:solidFill>
              <a:srgbClr val="3b4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12"/>
          <p:cNvSpPr/>
          <p:nvPr/>
        </p:nvSpPr>
        <p:spPr>
          <a:xfrm>
            <a:off x="9372600" y="2011680"/>
            <a:ext cx="822600" cy="82260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13"/>
          <p:cNvSpPr/>
          <p:nvPr/>
        </p:nvSpPr>
        <p:spPr>
          <a:xfrm>
            <a:off x="9372600" y="2926080"/>
            <a:ext cx="822600" cy="822600"/>
          </a:xfrm>
          <a:prstGeom prst="ellipse">
            <a:avLst/>
          </a:prstGeom>
          <a:solidFill>
            <a:srgbClr val="d4a017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4"/>
          <p:cNvSpPr/>
          <p:nvPr/>
        </p:nvSpPr>
        <p:spPr>
          <a:xfrm>
            <a:off x="9372600" y="3840480"/>
            <a:ext cx="822600" cy="822600"/>
          </a:xfrm>
          <a:prstGeom prst="ellipse">
            <a:avLst/>
          </a:prstGeom>
          <a:solidFill>
            <a:srgbClr val="1e8449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1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16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30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TODAY'S PROJECT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How the Program “Remembers” Which Color Is 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2"/>
          <p:cNvSpPr/>
          <p:nvPr/>
        </p:nvSpPr>
        <p:spPr>
          <a:xfrm>
            <a:off x="548640" y="1691640"/>
            <a:ext cx="55774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Up until now, every rung only looked at what’s happening right this second.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The traffic light needs to remember something extra: which color is currently active.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That remembered piece of information is simply called the state.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50" spc="-1" strike="noStrike">
                <a:solidFill>
                  <a:srgbClr val="26313b"/>
                </a:solidFill>
                <a:latin typeface="Calibri"/>
                <a:ea typeface="Calibri"/>
              </a:rPr>
              <a:t>When that color’s timer finishes counting down, the state switches to the next color, and a new timer starts.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"/>
          <p:cNvSpPr/>
          <p:nvPr/>
        </p:nvSpPr>
        <p:spPr>
          <a:xfrm>
            <a:off x="6355080" y="1691640"/>
            <a:ext cx="5303160" cy="379440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76320" dir="5400000" dist="25560" kx="0" ky="0" rotWithShape="0" sx="100000" sy="100000">
              <a:srgbClr val="8a99a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4"/>
          <p:cNvSpPr/>
          <p:nvPr/>
        </p:nvSpPr>
        <p:spPr>
          <a:xfrm>
            <a:off x="6583680" y="182880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THE LOOP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5"/>
          <p:cNvSpPr/>
          <p:nvPr/>
        </p:nvSpPr>
        <p:spPr>
          <a:xfrm>
            <a:off x="8412480" y="1828800"/>
            <a:ext cx="1188360" cy="1188360"/>
          </a:xfrm>
          <a:prstGeom prst="ellipse">
            <a:avLst/>
          </a:prstGeom>
          <a:solidFill>
            <a:srgbClr val="c0392b">
              <a:alpha val="85000"/>
            </a:srgbClr>
          </a:solidFill>
          <a:ln w="254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6"/>
          <p:cNvSpPr/>
          <p:nvPr/>
        </p:nvSpPr>
        <p:spPr>
          <a:xfrm>
            <a:off x="8412480" y="1828800"/>
            <a:ext cx="1188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wait 10 sec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7"/>
          <p:cNvSpPr/>
          <p:nvPr/>
        </p:nvSpPr>
        <p:spPr>
          <a:xfrm>
            <a:off x="7283160" y="3790080"/>
            <a:ext cx="1188360" cy="1188360"/>
          </a:xfrm>
          <a:prstGeom prst="ellipse">
            <a:avLst/>
          </a:prstGeom>
          <a:solidFill>
            <a:srgbClr val="1e8449">
              <a:alpha val="85000"/>
            </a:srgbClr>
          </a:solidFill>
          <a:ln w="254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8"/>
          <p:cNvSpPr/>
          <p:nvPr/>
        </p:nvSpPr>
        <p:spPr>
          <a:xfrm>
            <a:off x="7283160" y="3790080"/>
            <a:ext cx="1188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GREEN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wait 8 sec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9"/>
          <p:cNvSpPr/>
          <p:nvPr/>
        </p:nvSpPr>
        <p:spPr>
          <a:xfrm>
            <a:off x="9541800" y="3790080"/>
            <a:ext cx="1188360" cy="1188360"/>
          </a:xfrm>
          <a:prstGeom prst="ellipse">
            <a:avLst/>
          </a:prstGeom>
          <a:solidFill>
            <a:srgbClr val="d4a017">
              <a:alpha val="85000"/>
            </a:srgbClr>
          </a:solidFill>
          <a:ln w="254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10"/>
          <p:cNvSpPr/>
          <p:nvPr/>
        </p:nvSpPr>
        <p:spPr>
          <a:xfrm>
            <a:off x="9541800" y="3790080"/>
            <a:ext cx="1188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YELLOW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wait 3 sec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11"/>
          <p:cNvSpPr/>
          <p:nvPr/>
        </p:nvSpPr>
        <p:spPr>
          <a:xfrm>
            <a:off x="6583680" y="51022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b7a85"/>
                </a:solidFill>
                <a:latin typeface="Calibri"/>
                <a:ea typeface="Calibri"/>
              </a:rPr>
              <a:t>↺ </a:t>
            </a:r>
            <a:r>
              <a:rPr b="0" i="1" lang="en-US" sz="1150" spc="-1" strike="noStrike">
                <a:solidFill>
                  <a:srgbClr val="6b7a85"/>
                </a:solidFill>
                <a:latin typeface="Calibri"/>
                <a:ea typeface="Calibri"/>
              </a:rPr>
              <a:t>back to RED, and the loop repeats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12"/>
          <p:cNvSpPr/>
          <p:nvPr/>
        </p:nvSpPr>
        <p:spPr>
          <a:xfrm>
            <a:off x="548640" y="5806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b7a85"/>
                </a:solidFill>
                <a:latin typeface="Calibri"/>
                <a:ea typeface="Calibri"/>
              </a:rPr>
              <a:t>This is the one new idea in today’s project: the program now depends on its own memory, not only on what’s happening this instant.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13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14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31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TODAY'S PROJECT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A Peek at the Rungs Behind It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2"/>
          <p:cNvSpPr/>
          <p:nvPr/>
        </p:nvSpPr>
        <p:spPr>
          <a:xfrm>
            <a:off x="548640" y="1691640"/>
            <a:ext cx="110638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Rung 1: While the state is RED, keep the red light on and run a timer for 10 seconds.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Rung 2: When that timer finishes, change the state to GREEN and reset the timer.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Rung 3: While the state is GREEN, keep the green light on and run a timer for 8 seconds.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26313b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The same pattern repeats for YELLOW, then loops back to RED — same idea, three times over.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3"/>
          <p:cNvSpPr/>
          <p:nvPr/>
        </p:nvSpPr>
        <p:spPr>
          <a:xfrm>
            <a:off x="548640" y="3703320"/>
            <a:ext cx="110638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4"/>
          <p:cNvSpPr/>
          <p:nvPr/>
        </p:nvSpPr>
        <p:spPr>
          <a:xfrm>
            <a:off x="822960" y="3840480"/>
            <a:ext cx="360" cy="50292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5"/>
          <p:cNvSpPr/>
          <p:nvPr/>
        </p:nvSpPr>
        <p:spPr>
          <a:xfrm>
            <a:off x="11338560" y="3840480"/>
            <a:ext cx="360" cy="50292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6"/>
          <p:cNvSpPr/>
          <p:nvPr/>
        </p:nvSpPr>
        <p:spPr>
          <a:xfrm>
            <a:off x="822960" y="4091760"/>
            <a:ext cx="1051560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7"/>
          <p:cNvSpPr/>
          <p:nvPr/>
        </p:nvSpPr>
        <p:spPr>
          <a:xfrm>
            <a:off x="2286000" y="3858840"/>
            <a:ext cx="72720" cy="4568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8"/>
          <p:cNvSpPr/>
          <p:nvPr/>
        </p:nvSpPr>
        <p:spPr>
          <a:xfrm>
            <a:off x="2541960" y="3858840"/>
            <a:ext cx="72720" cy="4568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9"/>
          <p:cNvSpPr/>
          <p:nvPr/>
        </p:nvSpPr>
        <p:spPr>
          <a:xfrm>
            <a:off x="960120" y="37216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a85"/>
                </a:solidFill>
                <a:latin typeface="Calibri"/>
                <a:ea typeface="Calibri"/>
              </a:rPr>
              <a:t>State = RED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0"/>
          <p:cNvSpPr/>
          <p:nvPr/>
        </p:nvSpPr>
        <p:spPr>
          <a:xfrm>
            <a:off x="8229600" y="3822120"/>
            <a:ext cx="2834280" cy="529920"/>
          </a:xfrm>
          <a:prstGeom prst="roundRect">
            <a:avLst>
              <a:gd name="adj" fmla="val 12069"/>
            </a:avLst>
          </a:prstGeom>
          <a:solidFill>
            <a:srgbClr val="c0392b">
              <a:alpha val="85000"/>
            </a:srgbClr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11"/>
          <p:cNvSpPr/>
          <p:nvPr/>
        </p:nvSpPr>
        <p:spPr>
          <a:xfrm>
            <a:off x="8229600" y="3822120"/>
            <a:ext cx="2834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Red ON, wait 10s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12"/>
          <p:cNvSpPr/>
          <p:nvPr/>
        </p:nvSpPr>
        <p:spPr>
          <a:xfrm>
            <a:off x="548640" y="4663440"/>
            <a:ext cx="110638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3"/>
          <p:cNvSpPr/>
          <p:nvPr/>
        </p:nvSpPr>
        <p:spPr>
          <a:xfrm>
            <a:off x="822960" y="4800600"/>
            <a:ext cx="360" cy="50292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4"/>
          <p:cNvSpPr/>
          <p:nvPr/>
        </p:nvSpPr>
        <p:spPr>
          <a:xfrm>
            <a:off x="11338560" y="4800600"/>
            <a:ext cx="360" cy="50292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5"/>
          <p:cNvSpPr/>
          <p:nvPr/>
        </p:nvSpPr>
        <p:spPr>
          <a:xfrm>
            <a:off x="822960" y="5051880"/>
            <a:ext cx="1051560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16"/>
          <p:cNvSpPr/>
          <p:nvPr/>
        </p:nvSpPr>
        <p:spPr>
          <a:xfrm>
            <a:off x="2286000" y="4818960"/>
            <a:ext cx="72720" cy="4568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17"/>
          <p:cNvSpPr/>
          <p:nvPr/>
        </p:nvSpPr>
        <p:spPr>
          <a:xfrm>
            <a:off x="2541960" y="4818960"/>
            <a:ext cx="72720" cy="4568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18"/>
          <p:cNvSpPr/>
          <p:nvPr/>
        </p:nvSpPr>
        <p:spPr>
          <a:xfrm>
            <a:off x="960120" y="46818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a85"/>
                </a:solidFill>
                <a:latin typeface="Calibri"/>
                <a:ea typeface="Calibri"/>
              </a:rPr>
              <a:t>State = GREEN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19"/>
          <p:cNvSpPr/>
          <p:nvPr/>
        </p:nvSpPr>
        <p:spPr>
          <a:xfrm>
            <a:off x="8229600" y="4782240"/>
            <a:ext cx="2834280" cy="529920"/>
          </a:xfrm>
          <a:prstGeom prst="roundRect">
            <a:avLst>
              <a:gd name="adj" fmla="val 12069"/>
            </a:avLst>
          </a:prstGeom>
          <a:solidFill>
            <a:srgbClr val="1e8449">
              <a:alpha val="85000"/>
            </a:srgbClr>
          </a:solidFill>
          <a:ln w="1905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20"/>
          <p:cNvSpPr/>
          <p:nvPr/>
        </p:nvSpPr>
        <p:spPr>
          <a:xfrm>
            <a:off x="8229600" y="4782240"/>
            <a:ext cx="2834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Green ON, wait 8s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21"/>
          <p:cNvSpPr/>
          <p:nvPr/>
        </p:nvSpPr>
        <p:spPr>
          <a:xfrm>
            <a:off x="548640" y="5623560"/>
            <a:ext cx="110638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22"/>
          <p:cNvSpPr/>
          <p:nvPr/>
        </p:nvSpPr>
        <p:spPr>
          <a:xfrm>
            <a:off x="822960" y="5760720"/>
            <a:ext cx="360" cy="50292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3"/>
          <p:cNvSpPr/>
          <p:nvPr/>
        </p:nvSpPr>
        <p:spPr>
          <a:xfrm>
            <a:off x="11338560" y="5760720"/>
            <a:ext cx="360" cy="50292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4"/>
          <p:cNvSpPr/>
          <p:nvPr/>
        </p:nvSpPr>
        <p:spPr>
          <a:xfrm>
            <a:off x="822960" y="6012000"/>
            <a:ext cx="10515600" cy="360"/>
          </a:xfrm>
          <a:prstGeom prst="line">
            <a:avLst/>
          </a:prstGeom>
          <a:ln w="317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5"/>
          <p:cNvSpPr/>
          <p:nvPr/>
        </p:nvSpPr>
        <p:spPr>
          <a:xfrm>
            <a:off x="2286000" y="5779080"/>
            <a:ext cx="72720" cy="4568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26"/>
          <p:cNvSpPr/>
          <p:nvPr/>
        </p:nvSpPr>
        <p:spPr>
          <a:xfrm>
            <a:off x="2541960" y="5779080"/>
            <a:ext cx="72720" cy="4568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27"/>
          <p:cNvSpPr/>
          <p:nvPr/>
        </p:nvSpPr>
        <p:spPr>
          <a:xfrm>
            <a:off x="960120" y="564192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b7a85"/>
                </a:solidFill>
                <a:latin typeface="Calibri"/>
                <a:ea typeface="Calibri"/>
              </a:rPr>
              <a:t>State = YELLOW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8"/>
          <p:cNvSpPr/>
          <p:nvPr/>
        </p:nvSpPr>
        <p:spPr>
          <a:xfrm>
            <a:off x="8229600" y="5742360"/>
            <a:ext cx="2834280" cy="529920"/>
          </a:xfrm>
          <a:prstGeom prst="roundRect">
            <a:avLst>
              <a:gd name="adj" fmla="val 12069"/>
            </a:avLst>
          </a:prstGeom>
          <a:solidFill>
            <a:srgbClr val="d4a017">
              <a:alpha val="85000"/>
            </a:srgbClr>
          </a:solidFill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29"/>
          <p:cNvSpPr/>
          <p:nvPr/>
        </p:nvSpPr>
        <p:spPr>
          <a:xfrm>
            <a:off x="8229600" y="5742360"/>
            <a:ext cx="2834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Yellow ON, wait 3s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30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31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32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TODAY'S PROJECT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Building &amp; Testing Your Traffic Light Program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"/>
          <p:cNvSpPr/>
          <p:nvPr/>
        </p:nvSpPr>
        <p:spPr>
          <a:xfrm>
            <a:off x="548640" y="1737360"/>
            <a:ext cx="52574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3"/>
          <p:cNvSpPr/>
          <p:nvPr/>
        </p:nvSpPr>
        <p:spPr>
          <a:xfrm>
            <a:off x="777240" y="19933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4"/>
          <p:cNvSpPr/>
          <p:nvPr/>
        </p:nvSpPr>
        <p:spPr>
          <a:xfrm>
            <a:off x="777240" y="19933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5"/>
          <p:cNvSpPr/>
          <p:nvPr/>
        </p:nvSpPr>
        <p:spPr>
          <a:xfrm>
            <a:off x="1444680" y="1874520"/>
            <a:ext cx="416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Lay out the three rungs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6"/>
          <p:cNvSpPr/>
          <p:nvPr/>
        </p:nvSpPr>
        <p:spPr>
          <a:xfrm>
            <a:off x="1444680" y="2304360"/>
            <a:ext cx="4160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One rung per color, following the pattern from the previous slide.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7"/>
          <p:cNvSpPr/>
          <p:nvPr/>
        </p:nvSpPr>
        <p:spPr>
          <a:xfrm>
            <a:off x="6172200" y="1737360"/>
            <a:ext cx="52574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8"/>
          <p:cNvSpPr/>
          <p:nvPr/>
        </p:nvSpPr>
        <p:spPr>
          <a:xfrm>
            <a:off x="6400800" y="19933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9"/>
          <p:cNvSpPr/>
          <p:nvPr/>
        </p:nvSpPr>
        <p:spPr>
          <a:xfrm>
            <a:off x="6400800" y="19933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10"/>
          <p:cNvSpPr/>
          <p:nvPr/>
        </p:nvSpPr>
        <p:spPr>
          <a:xfrm>
            <a:off x="7068240" y="1874520"/>
            <a:ext cx="416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Enter the wait times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11"/>
          <p:cNvSpPr/>
          <p:nvPr/>
        </p:nvSpPr>
        <p:spPr>
          <a:xfrm>
            <a:off x="7068240" y="2304360"/>
            <a:ext cx="4160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10 seconds for Red, 8 for Green, 3 for Yellow — or your own choices.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2"/>
          <p:cNvSpPr/>
          <p:nvPr/>
        </p:nvSpPr>
        <p:spPr>
          <a:xfrm>
            <a:off x="548640" y="3337560"/>
            <a:ext cx="52574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3"/>
          <p:cNvSpPr/>
          <p:nvPr/>
        </p:nvSpPr>
        <p:spPr>
          <a:xfrm>
            <a:off x="777240" y="35935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14"/>
          <p:cNvSpPr/>
          <p:nvPr/>
        </p:nvSpPr>
        <p:spPr>
          <a:xfrm>
            <a:off x="777240" y="3593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15"/>
          <p:cNvSpPr/>
          <p:nvPr/>
        </p:nvSpPr>
        <p:spPr>
          <a:xfrm>
            <a:off x="1444680" y="3474720"/>
            <a:ext cx="416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Download the program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16"/>
          <p:cNvSpPr/>
          <p:nvPr/>
        </p:nvSpPr>
        <p:spPr>
          <a:xfrm>
            <a:off x="1444680" y="3904560"/>
            <a:ext cx="4160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Send it from the software to the controller.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17"/>
          <p:cNvSpPr/>
          <p:nvPr/>
        </p:nvSpPr>
        <p:spPr>
          <a:xfrm>
            <a:off x="6172200" y="3337560"/>
            <a:ext cx="52574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18"/>
          <p:cNvSpPr/>
          <p:nvPr/>
        </p:nvSpPr>
        <p:spPr>
          <a:xfrm>
            <a:off x="6400800" y="35935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19"/>
          <p:cNvSpPr/>
          <p:nvPr/>
        </p:nvSpPr>
        <p:spPr>
          <a:xfrm>
            <a:off x="6400800" y="3593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20"/>
          <p:cNvSpPr/>
          <p:nvPr/>
        </p:nvSpPr>
        <p:spPr>
          <a:xfrm>
            <a:off x="7068240" y="3474720"/>
            <a:ext cx="416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Watch it live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21"/>
          <p:cNvSpPr/>
          <p:nvPr/>
        </p:nvSpPr>
        <p:spPr>
          <a:xfrm>
            <a:off x="7068240" y="3904560"/>
            <a:ext cx="4160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Confirm each color lights up and hands off to the next, right on schedule.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22"/>
          <p:cNvSpPr/>
          <p:nvPr/>
        </p:nvSpPr>
        <p:spPr>
          <a:xfrm>
            <a:off x="548640" y="4937760"/>
            <a:ext cx="52574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23"/>
          <p:cNvSpPr/>
          <p:nvPr/>
        </p:nvSpPr>
        <p:spPr>
          <a:xfrm>
            <a:off x="777240" y="51937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24"/>
          <p:cNvSpPr/>
          <p:nvPr/>
        </p:nvSpPr>
        <p:spPr>
          <a:xfrm>
            <a:off x="777240" y="5193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25"/>
          <p:cNvSpPr/>
          <p:nvPr/>
        </p:nvSpPr>
        <p:spPr>
          <a:xfrm>
            <a:off x="1444680" y="5074920"/>
            <a:ext cx="416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Force a state to test edge cases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26"/>
          <p:cNvSpPr/>
          <p:nvPr/>
        </p:nvSpPr>
        <p:spPr>
          <a:xfrm>
            <a:off x="1444680" y="5504760"/>
            <a:ext cx="4160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Briefly force the state to YELLOW to confirm that rung works on its own.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27"/>
          <p:cNvSpPr/>
          <p:nvPr/>
        </p:nvSpPr>
        <p:spPr>
          <a:xfrm>
            <a:off x="6172200" y="4937760"/>
            <a:ext cx="52574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28"/>
          <p:cNvSpPr/>
          <p:nvPr/>
        </p:nvSpPr>
        <p:spPr>
          <a:xfrm>
            <a:off x="6400800" y="51937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29"/>
          <p:cNvSpPr/>
          <p:nvPr/>
        </p:nvSpPr>
        <p:spPr>
          <a:xfrm>
            <a:off x="6400800" y="5193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30"/>
          <p:cNvSpPr/>
          <p:nvPr/>
        </p:nvSpPr>
        <p:spPr>
          <a:xfrm>
            <a:off x="7068240" y="5074920"/>
            <a:ext cx="416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Turn off every force when done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31"/>
          <p:cNvSpPr/>
          <p:nvPr/>
        </p:nvSpPr>
        <p:spPr>
          <a:xfrm>
            <a:off x="7068240" y="5504760"/>
            <a:ext cx="4160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a85"/>
                </a:solidFill>
                <a:latin typeface="Calibri"/>
                <a:ea typeface="Calibri"/>
              </a:rPr>
              <a:t>Leave the machine in normal, unforced operation before walking away.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3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33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REFERENCE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Glossary of Terms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8" name="Table 0"/>
          <p:cNvGraphicFramePr/>
          <p:nvPr/>
        </p:nvGraphicFramePr>
        <p:xfrm>
          <a:off x="548640" y="1783080"/>
          <a:ext cx="11063880" cy="451344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641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Rung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One horizontal row of ladder logic — one “if this, then that” rule.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  <a:tr h="5641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TON / TOF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Timer On-Delay / Timer Off-Delay — timers that delay turning ON or OFF.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1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RTO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Retentive Timer — a timer whose elapsed time survives the input going off; needs an explicit reset.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1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CTU / CTD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Count Up / Count Down — counters that add or subtract by one per event.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  <a:tr h="5641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ONS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One-Shot — fires a single one-scan pulse on an input's OFF-to-ON edge, for edge detection.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  <a:tr h="5641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Forcing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Manually overriding an input or output for testing, regardless of the real world.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1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State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A piece of information the program remembers, such as which color is active.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0f4f7"/>
                    </a:solidFill>
                  </a:tcPr>
                </a:tc>
              </a:tr>
              <a:tr h="5641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50" spc="-1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</a:rPr>
                        <a:t>Setpoint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50" spc="-1" strike="noStrike">
                          <a:solidFill>
                            <a:srgbClr val="26313b"/>
                          </a:solidFill>
                          <a:latin typeface="Calibri"/>
                          <a:ea typeface="Calibri"/>
                        </a:rPr>
                        <a:t>The target number — a wait time or a count — that you configure in advance.</a:t>
                      </a:r>
                      <a:endParaRPr b="0" lang="en-US" sz="14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3e9ed"/>
                      </a:solidFill>
                      <a:prstDash val="solid"/>
                    </a:lnL>
                    <a:lnR w="12240">
                      <a:solidFill>
                        <a:srgbClr val="e3e9ed"/>
                      </a:solidFill>
                      <a:prstDash val="solid"/>
                    </a:lnR>
                    <a:lnT w="12240">
                      <a:solidFill>
                        <a:srgbClr val="e3e9ed"/>
                      </a:solidFill>
                      <a:prstDash val="solid"/>
                    </a:lnT>
                    <a:lnB w="12240">
                      <a:solidFill>
                        <a:srgbClr val="e3e9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9" name="Text 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3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34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0"/>
          <p:cNvSpPr/>
          <p:nvPr/>
        </p:nvSpPr>
        <p:spPr>
          <a:xfrm>
            <a:off x="9509760" y="-1645920"/>
            <a:ext cx="5028840" cy="502884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1"/>
          <p:cNvSpPr/>
          <p:nvPr/>
        </p:nvSpPr>
        <p:spPr>
          <a:xfrm>
            <a:off x="640080" y="502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e8a33d"/>
                </a:solidFill>
                <a:latin typeface="Calibri"/>
                <a:ea typeface="Calibri"/>
              </a:rPr>
              <a:t>RECAP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2"/>
          <p:cNvSpPr/>
          <p:nvPr/>
        </p:nvSpPr>
        <p:spPr>
          <a:xfrm>
            <a:off x="594360" y="8229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Key Takeaways from Today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640080" y="1783080"/>
            <a:ext cx="10881000" cy="603000"/>
          </a:xfrm>
          <a:prstGeom prst="roundRect">
            <a:avLst>
              <a:gd name="adj" fmla="val 12121"/>
            </a:avLst>
          </a:prstGeom>
          <a:solidFill>
            <a:srgbClr val="2b3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4"/>
          <p:cNvSpPr/>
          <p:nvPr/>
        </p:nvSpPr>
        <p:spPr>
          <a:xfrm>
            <a:off x="822960" y="1947600"/>
            <a:ext cx="273960" cy="27396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5"/>
          <p:cNvSpPr/>
          <p:nvPr/>
        </p:nvSpPr>
        <p:spPr>
          <a:xfrm>
            <a:off x="822960" y="19476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6"/>
          <p:cNvSpPr/>
          <p:nvPr/>
        </p:nvSpPr>
        <p:spPr>
          <a:xfrm>
            <a:off x="1280160" y="1783080"/>
            <a:ext cx="9966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df7"/>
                </a:solidFill>
                <a:latin typeface="Calibri"/>
                <a:ea typeface="Calibri"/>
              </a:rPr>
              <a:t>Timers control waiting: TON waits before turning ON, TOF waits before turning OFF.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7"/>
          <p:cNvSpPr/>
          <p:nvPr/>
        </p:nvSpPr>
        <p:spPr>
          <a:xfrm>
            <a:off x="640080" y="2468880"/>
            <a:ext cx="10881000" cy="603000"/>
          </a:xfrm>
          <a:prstGeom prst="roundRect">
            <a:avLst>
              <a:gd name="adj" fmla="val 12121"/>
            </a:avLst>
          </a:prstGeom>
          <a:solidFill>
            <a:srgbClr val="2b3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8"/>
          <p:cNvSpPr/>
          <p:nvPr/>
        </p:nvSpPr>
        <p:spPr>
          <a:xfrm>
            <a:off x="822960" y="2633400"/>
            <a:ext cx="273960" cy="27396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9"/>
          <p:cNvSpPr/>
          <p:nvPr/>
        </p:nvSpPr>
        <p:spPr>
          <a:xfrm>
            <a:off x="822960" y="2633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10"/>
          <p:cNvSpPr/>
          <p:nvPr/>
        </p:nvSpPr>
        <p:spPr>
          <a:xfrm>
            <a:off x="1280160" y="2468880"/>
            <a:ext cx="9966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df7"/>
                </a:solidFill>
                <a:latin typeface="Calibri"/>
                <a:ea typeface="Calibri"/>
              </a:rPr>
              <a:t>Counters keep score: CTU counts up to a target, CTD counts down to zero.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Shape 11"/>
          <p:cNvSpPr/>
          <p:nvPr/>
        </p:nvSpPr>
        <p:spPr>
          <a:xfrm>
            <a:off x="640080" y="3154680"/>
            <a:ext cx="10881000" cy="603000"/>
          </a:xfrm>
          <a:prstGeom prst="roundRect">
            <a:avLst>
              <a:gd name="adj" fmla="val 12121"/>
            </a:avLst>
          </a:prstGeom>
          <a:solidFill>
            <a:srgbClr val="2b3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12"/>
          <p:cNvSpPr/>
          <p:nvPr/>
        </p:nvSpPr>
        <p:spPr>
          <a:xfrm>
            <a:off x="822960" y="3319200"/>
            <a:ext cx="273960" cy="27396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3"/>
          <p:cNvSpPr/>
          <p:nvPr/>
        </p:nvSpPr>
        <p:spPr>
          <a:xfrm>
            <a:off x="822960" y="33192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14"/>
          <p:cNvSpPr/>
          <p:nvPr/>
        </p:nvSpPr>
        <p:spPr>
          <a:xfrm>
            <a:off x="1280160" y="3154680"/>
            <a:ext cx="9966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df7"/>
                </a:solidFill>
                <a:latin typeface="Calibri"/>
                <a:ea typeface="Calibri"/>
              </a:rPr>
              <a:t>Watching the program live lets you see what’s really happening, without changing anything.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Shape 15"/>
          <p:cNvSpPr/>
          <p:nvPr/>
        </p:nvSpPr>
        <p:spPr>
          <a:xfrm>
            <a:off x="640080" y="3840480"/>
            <a:ext cx="10881000" cy="603000"/>
          </a:xfrm>
          <a:prstGeom prst="roundRect">
            <a:avLst>
              <a:gd name="adj" fmla="val 12121"/>
            </a:avLst>
          </a:prstGeom>
          <a:solidFill>
            <a:srgbClr val="2b3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Shape 16"/>
          <p:cNvSpPr/>
          <p:nvPr/>
        </p:nvSpPr>
        <p:spPr>
          <a:xfrm>
            <a:off x="822960" y="4005000"/>
            <a:ext cx="273960" cy="27396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17"/>
          <p:cNvSpPr/>
          <p:nvPr/>
        </p:nvSpPr>
        <p:spPr>
          <a:xfrm>
            <a:off x="822960" y="4005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18"/>
          <p:cNvSpPr/>
          <p:nvPr/>
        </p:nvSpPr>
        <p:spPr>
          <a:xfrm>
            <a:off x="1280160" y="3840480"/>
            <a:ext cx="9966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df7"/>
                </a:solidFill>
                <a:latin typeface="Calibri"/>
                <a:ea typeface="Calibri"/>
              </a:rPr>
              <a:t>“</a:t>
            </a:r>
            <a:r>
              <a:rPr b="0" lang="en-US" sz="1300" spc="-1" strike="noStrike">
                <a:solidFill>
                  <a:srgbClr val="e8edf7"/>
                </a:solidFill>
                <a:latin typeface="Calibri"/>
                <a:ea typeface="Calibri"/>
              </a:rPr>
              <a:t>Forcing” is a testing shortcut — always remember to turn it back off.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19"/>
          <p:cNvSpPr/>
          <p:nvPr/>
        </p:nvSpPr>
        <p:spPr>
          <a:xfrm>
            <a:off x="640080" y="4526280"/>
            <a:ext cx="10881000" cy="603000"/>
          </a:xfrm>
          <a:prstGeom prst="roundRect">
            <a:avLst>
              <a:gd name="adj" fmla="val 12121"/>
            </a:avLst>
          </a:prstGeom>
          <a:solidFill>
            <a:srgbClr val="2b3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20"/>
          <p:cNvSpPr/>
          <p:nvPr/>
        </p:nvSpPr>
        <p:spPr>
          <a:xfrm>
            <a:off x="822960" y="4690800"/>
            <a:ext cx="273960" cy="27396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21"/>
          <p:cNvSpPr/>
          <p:nvPr/>
        </p:nvSpPr>
        <p:spPr>
          <a:xfrm>
            <a:off x="822960" y="4690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Text 22"/>
          <p:cNvSpPr/>
          <p:nvPr/>
        </p:nvSpPr>
        <p:spPr>
          <a:xfrm>
            <a:off x="1280160" y="4526280"/>
            <a:ext cx="9966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df7"/>
                </a:solidFill>
                <a:latin typeface="Calibri"/>
                <a:ea typeface="Calibri"/>
              </a:rPr>
              <a:t>When something breaks: check power first, then warning lights, then the program.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23"/>
          <p:cNvSpPr/>
          <p:nvPr/>
        </p:nvSpPr>
        <p:spPr>
          <a:xfrm>
            <a:off x="640080" y="5212080"/>
            <a:ext cx="10881000" cy="603000"/>
          </a:xfrm>
          <a:prstGeom prst="roundRect">
            <a:avLst>
              <a:gd name="adj" fmla="val 12121"/>
            </a:avLst>
          </a:prstGeom>
          <a:solidFill>
            <a:srgbClr val="2b3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Shape 24"/>
          <p:cNvSpPr/>
          <p:nvPr/>
        </p:nvSpPr>
        <p:spPr>
          <a:xfrm>
            <a:off x="822960" y="5376600"/>
            <a:ext cx="273960" cy="27396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25"/>
          <p:cNvSpPr/>
          <p:nvPr/>
        </p:nvSpPr>
        <p:spPr>
          <a:xfrm>
            <a:off x="822960" y="53766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26"/>
          <p:cNvSpPr/>
          <p:nvPr/>
        </p:nvSpPr>
        <p:spPr>
          <a:xfrm>
            <a:off x="1280160" y="5212080"/>
            <a:ext cx="9966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df7"/>
                </a:solidFill>
                <a:latin typeface="Calibri"/>
                <a:ea typeface="Calibri"/>
              </a:rPr>
              <a:t>Today’s project showed a program that remembers its own state — not just the current instant.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2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28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eb9e8"/>
                </a:solidFill>
                <a:latin typeface="Calibri"/>
                <a:ea typeface="Calibri"/>
              </a:rPr>
              <a:t>35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LET'S DISCUSS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1"/>
          <p:cNvSpPr/>
          <p:nvPr/>
        </p:nvSpPr>
        <p:spPr>
          <a:xfrm>
            <a:off x="548640" y="59436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Wrap-Up Questions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"/>
          <p:cNvSpPr/>
          <p:nvPr/>
        </p:nvSpPr>
        <p:spPr>
          <a:xfrm>
            <a:off x="548640" y="1828800"/>
            <a:ext cx="110638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"/>
          <p:cNvSpPr/>
          <p:nvPr/>
        </p:nvSpPr>
        <p:spPr>
          <a:xfrm>
            <a:off x="822960" y="2057400"/>
            <a:ext cx="456840" cy="456840"/>
          </a:xfrm>
          <a:prstGeom prst="ellipse">
            <a:avLst/>
          </a:prstGeom>
          <a:solidFill>
            <a:srgbClr val="065a82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 4"/>
          <p:cNvSpPr/>
          <p:nvPr/>
        </p:nvSpPr>
        <p:spPr>
          <a:xfrm>
            <a:off x="822960" y="20574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Q1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5"/>
          <p:cNvSpPr/>
          <p:nvPr/>
        </p:nvSpPr>
        <p:spPr>
          <a:xfrm>
            <a:off x="1508760" y="1828800"/>
            <a:ext cx="9875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What is the one key difference between a timer and a counter?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6"/>
          <p:cNvSpPr/>
          <p:nvPr/>
        </p:nvSpPr>
        <p:spPr>
          <a:xfrm>
            <a:off x="548640" y="2926080"/>
            <a:ext cx="110638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7"/>
          <p:cNvSpPr/>
          <p:nvPr/>
        </p:nvSpPr>
        <p:spPr>
          <a:xfrm>
            <a:off x="822960" y="3154680"/>
            <a:ext cx="456840" cy="456840"/>
          </a:xfrm>
          <a:prstGeom prst="ellipse">
            <a:avLst/>
          </a:prstGeom>
          <a:solidFill>
            <a:srgbClr val="1c7293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8"/>
          <p:cNvSpPr/>
          <p:nvPr/>
        </p:nvSpPr>
        <p:spPr>
          <a:xfrm>
            <a:off x="822960" y="3154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Q2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9"/>
          <p:cNvSpPr/>
          <p:nvPr/>
        </p:nvSpPr>
        <p:spPr>
          <a:xfrm>
            <a:off x="1508760" y="2926080"/>
            <a:ext cx="9875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Why might a closet light (TOF-style) be better than a crosswalk light (TON-style) for a hallway?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10"/>
          <p:cNvSpPr/>
          <p:nvPr/>
        </p:nvSpPr>
        <p:spPr>
          <a:xfrm>
            <a:off x="548640" y="4023360"/>
            <a:ext cx="110638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11"/>
          <p:cNvSpPr/>
          <p:nvPr/>
        </p:nvSpPr>
        <p:spPr>
          <a:xfrm>
            <a:off x="822960" y="4251960"/>
            <a:ext cx="456840" cy="456840"/>
          </a:xfrm>
          <a:prstGeom prst="ellipse">
            <a:avLst/>
          </a:prstGeom>
          <a:solidFill>
            <a:srgbClr val="e8a33d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12"/>
          <p:cNvSpPr/>
          <p:nvPr/>
        </p:nvSpPr>
        <p:spPr>
          <a:xfrm>
            <a:off x="822960" y="4251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Q3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13"/>
          <p:cNvSpPr/>
          <p:nvPr/>
        </p:nvSpPr>
        <p:spPr>
          <a:xfrm>
            <a:off x="1508760" y="4023360"/>
            <a:ext cx="9875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If you find a machine acting strangely, what should you check before touching the program?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14"/>
          <p:cNvSpPr/>
          <p:nvPr/>
        </p:nvSpPr>
        <p:spPr>
          <a:xfrm>
            <a:off x="548640" y="5120640"/>
            <a:ext cx="110638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d"/>
            </a:solidFill>
            <a:round/>
          </a:ln>
          <a:effectLst>
            <a:outerShdw algn="bl" blurRad="63360" dir="5400000" dist="25560" kx="0" ky="0" rotWithShape="0" sx="100000" sy="100000">
              <a:srgbClr val="8a99a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15"/>
          <p:cNvSpPr/>
          <p:nvPr/>
        </p:nvSpPr>
        <p:spPr>
          <a:xfrm>
            <a:off x="822960" y="5349240"/>
            <a:ext cx="456840" cy="456840"/>
          </a:xfrm>
          <a:prstGeom prst="ellipse">
            <a:avLst/>
          </a:prstGeom>
          <a:solidFill>
            <a:srgbClr val="1e8449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16"/>
          <p:cNvSpPr/>
          <p:nvPr/>
        </p:nvSpPr>
        <p:spPr>
          <a:xfrm>
            <a:off x="822960" y="534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Q4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17"/>
          <p:cNvSpPr/>
          <p:nvPr/>
        </p:nvSpPr>
        <p:spPr>
          <a:xfrm>
            <a:off x="1508760" y="5120640"/>
            <a:ext cx="9875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6313b"/>
                </a:solidFill>
                <a:latin typeface="Calibri"/>
                <a:ea typeface="Calibri"/>
              </a:rPr>
              <a:t>In the traffic light project, what happens if we forget to move to the next state after Yellow finishes?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18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Day 2 — Timers, Counters &amp; Troubleshooting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19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5"/>
                </a:solidFill>
                <a:latin typeface="Calibri"/>
                <a:ea typeface="Calibri"/>
              </a:rPr>
              <a:t>36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2026-08-06T09:48:40Z</dcterms:created>
  <dc:creator>PptxGenJS</dc:creator>
  <dc:description/>
  <dc:language>en-US</dc:language>
  <cp:lastModifiedBy>PptxGenJS</cp:lastModifiedBy>
  <dcterms:modified xsi:type="dcterms:W3CDTF">2026-08-06T09:48:40Z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34</vt:i4>
  </property>
  <property fmtid="{D5CDD505-2E9C-101B-9397-08002B2CF9AE}" pid="3" name="PresentationFormat">
    <vt:lpwstr>On-screen Show (16:9)</vt:lpwstr>
  </property>
  <property fmtid="{D5CDD505-2E9C-101B-9397-08002B2CF9AE}" pid="4" name="Slides">
    <vt:i4>34</vt:i4>
  </property>
</Properties>
</file>
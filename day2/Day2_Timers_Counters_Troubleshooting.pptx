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72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Timers, Counters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37966"/>
              </p:ext>
            </p:extLst>
          </p:nvPr>
        </p:nvGraphicFramePr>
        <p:xfrm>
          <a:off x="502920" y="1280160"/>
          <a:ext cx="6168466" cy="1828800"/>
        </p:xfrm>
        <a:graphic>
          <a:graphicData uri="http://schemas.openxmlformats.org/drawingml/2006/table">
            <a:tbl>
              <a:tblPr/>
              <a:tblGrid>
                <a:gridCol w="667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5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Timers: TON, TOF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Counters (CTU, CTD) + Edge Detection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Monitoring &amp; Forcing I/O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 Timer + Counter, Group Troubleshooting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Project — Traffic Light Controller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85232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Convention Used Throughout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to whatever platform the lab actually runs — Allen-Bradley/RSLogix, Siemens TIA/S7, or CODESYS/IEC 61131-3 generic.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55680" cy="1356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bit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bit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/ Memory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IEC generic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%I0.0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%Q0.0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%M0.0 (bit), %MW10 (word)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Allen-Bradley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Start_PB (tag)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Motor_Run (tag)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Tag-based — no raw address needed once tags are used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Q0.0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M0.0, MW10, DB1.DBX0.0 (data-block bit)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Timers: TON, TOF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— Timer On-Delay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TON_Instance(IN := StartCondition, PT := T#5s);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:= TON_Instance.Q;   // BOOL, true when ET &gt;= PT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 := TON_Instance.ET;  // TIME, elapsed time, counts up while IN = TRUE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14600"/>
          <a:ext cx="11155680" cy="1447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timer's enable / input condition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(IEC) / DINT ms (AB)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Preset — e.g. AB uses DINT 5000 for 5 seconds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/ DINT (.ACC on AB)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Accumulated value; counts up in ms while IN is true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once ET ≥ PT, false otherwise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— Internal State Machine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86400" cy="320040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526694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IN = TRUE THEN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ET &lt; PT THEN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ET := ET + (time since last scan)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END_IF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ET &gt;= PT THEN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:= TRUE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END_IF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 := 0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:= FALSE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END_IF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0" y="1188720"/>
            <a:ext cx="5897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accumulates by actual elapsed wall-clock time between scans, not a fixed "one tick per scan" — this is why timer accuracy is largely independent of scan-time variation.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typically uses a hardware clock/counter for this, not scan-count — unlike a naively-implemented counter, which is genuinely scan-dependent (relevant again in Block 2c).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— Timing Diagram &amp; Ladder Rung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  ___/‾‾‾‾‾‾‾‾‾\________/‾‾‾\___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   ___/‾‾‾‾‾\____0________/‾\__0_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PT reached      IN drops before PT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 _________/‾‾‾\__________________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(Q never asserts on 2nd pulse — IN dropped before PT)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11155680" cy="1280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2648" y="2999232"/>
            <a:ext cx="109362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Start_PB ]------------------( TON )--|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Timer:  MotorDelay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Preset: 5000  (ms)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Accum:  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4434840"/>
            <a:ext cx="11155680" cy="86868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450799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resets to 0 the scan after IN goes false — it is not held or paused. Non-negotiable for a standard (non-retentive) TON; this is what distinguishes it from the RTO in Block 4a.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kitchen timer that only counts while you hold the start button — release before it dings and it resets to zero.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— Live Demo &amp; Precision Note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wire the TON so Q drives a lamp output, 5-second PT. Open the data monitor and watch .ACC / ET tick upward in real time (commonly 1ms or 10ms resolution).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full-duration hold (Q asserts) and an early release (ET snaps back to 0, Q never asserts).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third variant: release right at the boundary (e.g. 4.9s of a 5s preset) — "almost done" still means "fully reset." No partial credit in this instruction's behavior.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Precision/resolution note: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PLC timer instructions have a stated resolution (e.g. 1ms) separate from scan time.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timer can, in principle, be more precise than the scan cycle it's evaluated within, since accumulation is driven by a hardware clock — but the observable update of Q and ET is still bound to the next scan's logic-solve phase.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timer preset of "5000ms" may assert Q on a scan slightly after the 5000ms mark, never before — worth knowing for tight timing tolerances.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 — Timer Off-Delay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00584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TOF_Instance(IN := MotorRunning, PT := T#30s);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:= TOF_Instance.Q;  // true immediately on IN rising edge,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// stays true PT after IN falls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86400" cy="31089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2648" y="2404872"/>
            <a:ext cx="52669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IN = TRUE THEN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:= TRUE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 := 0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ET &lt; PT THEN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ET := ET + (time since last scan)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:= TRUE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:= FALSE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END_IF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2331720"/>
            <a:ext cx="5897880" cy="164592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897880" y="2404872"/>
            <a:ext cx="56235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on a TOF goes true on the same scan IN goes true (zero delay on rising edge) — the delay only applies to the falling edge. This asymmetry is exactly what confuses students in 1d.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4160520"/>
            <a:ext cx="5897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diagram: IN rises, Q rises with it. IN falls; Q stays true for the full PT (30s), then falls.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 — Real-World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Motor_Running ]------------------( TOF )--|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Timer:  FanRunOn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Preset: 30000  (ms)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FanRunOn.Q ]----------------------( Fan_Output )--|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11155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fan example: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fan keeps running 30 seconds after the motor stops, to dissipate residual heat.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example — security floodlight: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triggered by a motion sensor, wired so the light stays on for 2 minutes after the sensor last detected motion, rather than switching off instantly (visually jarring, defeats the light's purpose).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class to identify IN (motion sensor) and what PT should be (120,000ms) before revealing the rung, so they apply the mental model rather than just watching it applied.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 – 1D · 6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Experimentation &amp; Common Mistake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 — Preset Value Experimentation (6 min)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students edit .PRE / PT live (e.g. 5000ms → 2000ms) and re-run the demo, watching ET reach the new value faster.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platform supports online edits without a full download, use that to keep iteration fast.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student try an unusually short preset (e.g. 100ms) — Q still asserts reliably as long as PT exceeds one scan's worth of time. Ask: what if PT were shorter than a single scan? (Seeds the idea that scan time imposes a practical lower bound on usable timer resolution — callback to Day 1, Block 3.)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— Common Student Mistake (flag proactively)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vs TOF direction confusion. Put both timing diagrams on the board and have students point to the exact scan-cycle moment each Q transitions high and low.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often assume a TOF's Q starts false and only goes true after the delay — backwards. Q is immediately true on IN going true; only the turn-off is delayed. Say it twice, differently, since the instruction names actively mislead first-timer intuition.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 (CTU, CTD)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Edge Detection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 · 8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CTU — Count 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CTU_Instance(CU := PartSensor, RESET := ResetBtn, PV := 10);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:= CTU_Instance.CV;  // INT/DINT, current count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:= CTU_Instance.Q;   // BOOL, true when CV &gt;= PV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23160"/>
          <a:ext cx="11155680" cy="1447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Count-up input, rising-edge sensitive by instruction design (increments once per false→true transition, not while held true)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 — zeroes CV when true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Preset value (AB: .PRE)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accumulated count (AB: .ACC)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CTU — Internal Behavior &amp; Data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 note: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Allen-Bradley counters typically use DINT (32-bit signed, −2,147,483,648 to 2,147,483,647); Siemens S7 counters (S_CU) are often a native 16-bit counter word, range 0–999.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behavior, precisely: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counter instruction maintains a hidden "previous CU state" bit internally — this is why a raw CTU wired directly to a held-true input does not re-trigger every scan on most platforms; the instruction's own internal edge-detection on CU prevents that.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sets up Block 2c: the CTU's own count input is edge-sensitive by design, but a plain contact-to-coil rung is not — 2c is about signals feeding into other logic that lacks this built-in edge sensitivity.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behavior: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CTU implementations do not wrap silently past their data type's maximum — many platforms simply stop incrementing once CV reaches the max representable value. Platform-dependent; check against the lab's specific PLC brand rather than assuming.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· 7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CTD — Count 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CTD_Instance(CD := PartRemoved, LOAD := LoadBtn, PV := StartingCount);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:= CTD_Instance.CV;  // decrements toward 0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:= CTD_Instance.Q;   // true when CV &lt;=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11155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the reset semantics explicitly: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CTU resets CV to zero; CTD typically loads CV to a starting PV value via a LOAD input rather than "resetting" — different instruction, different parameter name. Don't let students assume symmetry that isn't there.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CTUD note: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platforms offer a single up/down counter instruction — CTUD combines both behaviors into one instance with separate CU and CD inputs sharing one CV.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a one-line mention if the lab platform supports it — common enough in real applications (e.g. tracking net inventory where parts both arrive and leave) that students should recognize the name later.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2C · 10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Edge-Triggered Instructions — R_TRIG / F_TRIG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technical core of the whole block. An R_TRIG maintains one bit of internal state — the value of its input from the previous scan. Each scan it compares current input to that stored previous value: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993392"/>
            <a:ext cx="52669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(CurrentInput = TRUE) AND (PreviousInput = FALSE) THEN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:= TRUE                  // exactly one scan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:= FALSE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END_IF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PreviousInput := CurrentInput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 for next scan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0" y="1920240"/>
            <a:ext cx="589788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870448" y="1993392"/>
            <a:ext cx="56784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F_TRIG (mirrored):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(CurrentInput = FALSE) AND (PreviousInput = TRUE) THEN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:= TRUE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:= FALSE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END_IF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PreviousInput := CurrentInput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11155680" cy="68580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4096512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is true for exactly one scan — typically single-digit milliseconds — regardless of how long the physical button stays pressed.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846320"/>
            <a:ext cx="1115568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" y="4919472"/>
            <a:ext cx="10936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PartSensor ]--[ONS]----------------( CountPulse )--|      (Allen-Bradley: One-Shot / OSR — Rising)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CountPulse ]---------------------------( CTU )--|          (Siemens: P-edge contact, denoted P)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Counter: PartCount   Preset: 10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Demonstration — Run This Exactly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Wire a plain contact from PartSensor (not a counter, to isolate the concept from CTU's own internal edge-sensing) directly into an ADD-and-store rung executed every scan the input is true. Hold the button ~2 seconds. If scan time is ~10ms, that's ~200 scans — the value increments ~200 times for one physical press (subject to scan-time variation).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Insert ONS / R_TRIG between PartSensor and the same increment rung. Repeat the same 2-second hold. The value increments by exactly 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114800"/>
            <a:ext cx="11155680" cy="86868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418795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Narrate live: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"Roughly 10ms scan time, ~2000ms hold ≈ 200 scans — that's why you saw the count jump by roughly 200, not exactly 200, since scan time isn't perfectly fixed."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1663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class to predict, before running it, roughly how many counts a 500ms hold would produce at the same scan rate (~50) — turn it into a quick prediction-then-verify exercise rather than a pure demo.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2C — TIE BACK TO 2A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Distinct From CTU's Own Edge-Sensing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55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CTU instruction already debounces its own CU input internally.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R_TRIG/ONS lesson here is about the </a:t>
            </a:r>
            <a:r>
              <a:rPr lang="en-US" sz="16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pattern</a:t>
            </a: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any rung that increments a value, sets a flag, or triggers an action on every scan a condition is true needs explicit edge detection if the intent is "once per event" — because plain contact-to-coil logic has no built-in memory of previous scans.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generalizes far beyond counters — it directly resurfaces on Day 3 for alarm/event logging.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· 10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Edge-Triggered Part Counting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PartSensor (simulated rising edge) → ONS / R_TRIG → CTU with PV=10 → Q drives BatchComplete output; separate ResetBtn → counter RESET.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circulating, check specifically: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ONS placed before the counter's count input, or mistakenly wired to the reset line? Ask: "What happens if you hold the reset button down as currently wired?" to surface the misapplication if present.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ResetBtn itself need its own edge detection wired to RESET, or is a held-true reset acceptable? Discuss briefly — for a RESET input, holding true generally just holds CV at zero rather than causing repeated miscounting. This is meaningfully different from the CU input case — have students articulate the distinction themselves.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Monitoring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Forcing I/O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minutes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 · 8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Live Rung States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Energized rungs/contacts highlight (commonly green, or bold outline) in online/monitor mode.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students read a live rung and state the truth value of each contact and the resulting coil state without prompting.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into reading .ACC / ET values directly off timer and counter instructions on-screen — not just their BOOL Q outputs.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4206240"/>
            <a:ext cx="11155680" cy="91440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4279392"/>
            <a:ext cx="10881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numeric-value monitoring is what actually gets used in Block 4's debugging exercise — make sure students practice locating these fields in the software's instruction display, not just the pass/fail highlight color.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· 10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Forcing Inputs/Outputs — Mechanism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Forcing intercepts the value between the physical I/O module and the logic engine.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forced input substitutes a software-set value for the actual voltage read at the terminal; a forced output substitutes a software-set value for what gets written to the physical terminal, regardless of what the logic computed.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111556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2907792"/>
            <a:ext cx="109362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Normal:  Physical terminal --&gt; Input Image Table --&gt; Logic --&gt; Output Image Table --&gt; Physical terminal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Forced:  [FORCED VALUE]    --&gt; Input Image Table --&gt; Logic --&gt; [FORCED VALUE]        --&gt; Physical terminal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11155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testing logic before field devices are wired; isolating whether a fault is in logic vs. physical wiring/sensor (force the input high — if downstream logic behaves correctly, the fault is upstream in the wiring/sensor, not the program).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second, less obvious use case:</a:t>
            </a: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commissioning a machine in stages — forcing downstream outputs to verify wiring to actuators before the upstream sensors that would normally trigger them are even installed yet. Common enough on real installation jobs to name specifically.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Forcing — Platform Behavior &amp; Safety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many platforms, forces persist even through a program download or a PLC mode change (RUN → PROGRAM and back).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platforms display a distinct "FORCE" indicator LED specifically to warn that active forces exist somewhere in the system — because a forgotten force left active from a previous testing session is a genuine, recurring real-world hazard.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11155680" cy="64008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331927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plainly: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check for and clear active forces before leaving a system in a production state.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caveat:</a:t>
            </a: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forced output bypasses interlocks entirely, because forcing happens after the logic solve — overwriting whatever the logic, including any safety interlock rungs, computed.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live system this requires lockout/tagout procedures; this is a training/simulator-only exercise as presented here.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· 7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Fault / Diagnostic Indicators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fault LEDs (commonly red/amber "FLT" or "ERR" per module), and CPU run/stop/fault state in software (RUN / STOP / FAULT / PROG in the status bar).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as the first diagnostic step: hardware/comm fault vs. logic-level fault are different failure domains requiring different next steps.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sequence to teach as a habit:</a:t>
            </a:r>
            <a:endParaRPr lang="en-US" sz="1450" dirty="0"/>
          </a:p>
          <a:p>
            <a:pPr marL="685800" lvl="1" indent="-342900">
              <a:spcAft>
                <a:spcPts val="600"/>
              </a:spcAft>
              <a:buSzPct val="100000"/>
              <a:buChar char="▪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CPU state first — if FAULT, check the fault log/history for a specific fault code before touching logic.</a:t>
            </a:r>
            <a:endParaRPr lang="en-US" sz="1450" dirty="0"/>
          </a:p>
          <a:p>
            <a:pPr marL="685800" lvl="1" indent="-342900">
              <a:spcAft>
                <a:spcPts val="600"/>
              </a:spcAft>
              <a:buSzPct val="100000"/>
              <a:buChar char="▪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module-level LEDs next — a module fault often points to a specific I/O channel or a comms issue on the backplane.</a:t>
            </a:r>
            <a:endParaRPr lang="en-US" sz="1450" dirty="0"/>
          </a:p>
          <a:p>
            <a:pPr marL="685800" lvl="1" indent="-342900">
              <a:spcAft>
                <a:spcPts val="600"/>
              </a:spcAft>
              <a:buSzPct val="100000"/>
              <a:buChar char="▪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Only after ruling out both, move into online monitoring (3a) to inspect logic-level behavior.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5074920"/>
            <a:ext cx="11155680" cy="91440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5148072"/>
            <a:ext cx="10881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order matters: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 a logic bug for twenty minutes when the actual problem is a faulted I/O module is a very common, very avoidable waste of troubleshooting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FOLDED INTO BLOCK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Forcing Exercise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55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PartSensor high without physical actuation — confirm CTU.CV increments.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Fan_Output on/off directly, independent of FanRunOn.Q.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students to state explicitly which fault category (hardware vs. logic) each forcing action would help isolate in a real troubleshooting scenario.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0"/>
            <a:ext cx="11155680" cy="91440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4279392"/>
            <a:ext cx="10881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check: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students locate and clear any forces they created, reinforcing the "always clear your forces" habit from 3b before moving on to Block 4.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Timer + Counter,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Troubleshooting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minutes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4A · 10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Retentive vs. Non-Retentive Timers — RTO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RTO_Instance(IN := MotorRunSignal, PT := T#8h);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 := RTO_Instance.ET;   // accumulates across multiple IN pulses, survives IN going false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RES_Instance(RTO_Instance);  // separate explicit reset instruction required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11155680" cy="123444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10881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distinction: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 TON's ET/.ACC is implicitly cleared whenever IN goes false. An RTO's ET/.ACC is held across an IN-false period and only cleared by an explicit RES instruction — meaning it can persist even through a PLC power cycle if retentive memory is battery-backed or non-volatile (platform-dependent).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9776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</a:t>
            </a: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motor run-time across multiple start/stop cycles — e.g. preventive maintenance (service every 8 accumulated running-hours, regardless of how many separate times it was started/stopped).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— Second Use Case &amp; Retentive Counters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use case:</a:t>
            </a: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cumulative machine-cycle time for a shift-based production report — accumulating total "actively producing" time across an 8-hour shift with multiple short stops for material changeovers, where each stop should not erase the running shift total.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students to identify why a plain TON would be unusable here (it would reset to zero on every changeover stop, discarding all previously accumulated time) before revealing RTO as the fix — reinforces the distinction by contrast rather than definition alone.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Retentive counters, briefly:</a:t>
            </a: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CTU/CTD instructions are inherently retentive by default (CV holds its value across IN going false, since CU is edge-based rather than level-based).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explicitly with timers, where retentive behavior is the exception (RTO), not the default (TON). Easy for students to assume the two instruction families behave symmetrically when they don't.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 · 10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Debugging Exercise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Pre-plant faults into a working program:</a:t>
            </a:r>
            <a:endParaRPr lang="en-US" sz="1350" dirty="0"/>
          </a:p>
          <a:p>
            <a:pPr marL="685800" lvl="1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Remove the ONS / R_TRIG in front of a CTU — count increments on a held input.</a:t>
            </a:r>
            <a:endParaRPr lang="en-US" sz="1350" dirty="0"/>
          </a:p>
          <a:p>
            <a:pPr marL="685800" lvl="1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Swap an RTO for a TON in a cumulative-runtime rung — accumulated value resets unexpectedly every time the motor stops.</a:t>
            </a:r>
            <a:endParaRPr lang="en-US" sz="1350" dirty="0"/>
          </a:p>
          <a:p>
            <a:pPr marL="685800" lvl="1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 RTO used where a plain TON was actually needed (e.g. a delay-before-alarm rung that should reset cleanly each time the alarm clears, but instead keeps accumulating stale elapsed time because no RES rung exists) — demonstrates retentive behavior is not universally "better," it's situation-dependent, and misuse creates its own bug class.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4754880"/>
            <a:ext cx="11155680" cy="128016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4828032"/>
            <a:ext cx="108813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students use Block 3's online monitoring (live rung state, .ACC/ET values, forcing) to localize each fault rather than reading source code top to bottom — mirrors actual field troubleshooting. Diagnostic habit: check the live .ACC/ET value first, compare it against expected behavior, and only then look at the wired logic — numeric-value-first, not logic-read-first.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4C · 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Counter With Built-In Delay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164592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PartSensor ]--[ONS]--( DebouncePulse )--|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DebouncePulse ]----------------( TON )--|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Timer: DebounceTimer   Preset: 3000 (ms)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DebounceTimer.Q ]---------------( CTU )--|</a:t>
            </a:r>
            <a:endParaRPr lang="en-US" sz="125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Counter: PartCount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3017520"/>
            <a:ext cx="11155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explicitly: the sensor must produce a stable signal for the full 3-second window (the rung as drawn requires the input to remain continuously true, not just pulse). Flag this against the actual simulated sensor behavior — a true debounce-before-count pattern sometimes needs the timer gated differently depending on whether the "noise" is a single glitch or a sustained but jittery signal.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instruction ordering:</a:t>
            </a: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ONS produces a single pulse that does not feed the counter directly — instead it feeds a TON, and the TON's completion (a stable condition sustained the full preset) feeds the counter. Meaningfully different from Block 2's simple ONS-directly-into-CTU pattern — have students articulate the difference before moving to the Day Project.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5 — Day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Light Controller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minutes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Red → Green → Yellow → Red, looping, timed by TONs, driven by an explicit state variable.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Variable — Two Viable Approaches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INT state register (TrafficState, values 0/1/2 for Red/Green/Yellow), compared with EQU instructions to gate each branch.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three mutually exclusive BOOL bits (State_Red, State_Green, State_Yellow), each set by the prior state's timer completion and cleared by its own timer completion.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02920" y="3429000"/>
            <a:ext cx="11155680" cy="169164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3502152"/>
            <a:ext cx="108813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point before design begins: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previous rung this week has been purely combinational — output depends only on the current scan's inputs. A state machine is sequential — output depends on current inputs AND remembered history (which state it's currently in). Name this distinction — combinational vs. sequential logic — explicitly on the board; it's the conceptual leap this project actually tests, not just "more timers."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— 10 min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5568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10936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[Red, TON_Red PT=10s] --Q--&gt; [Green, TON_Green PT=8s] --Q--&gt; [Yellow, TON_Yellow PT=3s] --Q--&gt; back to Red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11155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the state diagram above on the board first.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students annotate, for each state, exactly which output(s) are active and which timer is running — this forces an explicit mapping between "state" (an abstract idea) and "concrete PLC tags" (Red_Light, TON_Red, etc.) before any code is written.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most of the design confusion for a first state-machine project actually originates.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 · ALLEN-BRADLEY STYLE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— Option A (INT State Register)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329184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TrafficState EQU 0 ]-----------------------------( Red_Light )--|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TrafficState EQU 0 ]-----------------------------( TON_Red )--|            Preset: 10000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TON_Red.Q ]--------------------[MOV 1, TrafficState]--( RES TON_Red )--|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TrafficState EQU 1 ]-----------------------------( Green_Light )--|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TrafficState EQU 1 ]-----------------------------( TON_Green )--|          Preset: 8000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TON_Green.Q ]------------------[MOV 2, TrafficState]--( RES TON_Green )--|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TrafficState EQU 2 ]-----------------------------( Yellow_Light )--|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TrafficState EQU 2 ]-----------------------------( TON_Yellow )--|         Preset: 3000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TON_Yellow.Q ]-----------------[MOV 0, TrafficState]--( RES TON_Yellow )--|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4663440"/>
            <a:ext cx="11155680" cy="82296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4736592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explicit RES (reset) instruction on each timer at the moment of state transition — this is the exact mechanism that prevents the bug flagged in Test &amp; Debug.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CONTRAST — BUILD OR SKETCH ALONGSIDE OPTION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— Option B (Three BOOL Bits)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33832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1261872"/>
            <a:ext cx="1093622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State_Red ]----------------------------------------( Red_Light )--|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State_Red ]----------------------------------------( TON_Red )--|              Preset: 10000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TON_Red.Q ]--[SET State_Green]--[RES State_Red]--( RES TON_Red )--|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State_Green ]--------------------------------------( Green_Light )--|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State_Green ]--------------------------------------( TON_Green )--|            Preset: 8000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TON_Green.Q ]--[SET State_Yellow]--[RES State_Green]--( RES TON_Green )--|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State_Yellow ]-------------------------------------( Yellow_Light )--|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State_Yellow ]-------------------------------------( TON_Yellow )--|           Preset: 3000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|--[ TON_Yellow.Q ]--[SET State_Red]--[RES State_Yellow]--( RES TON_Yellow )--|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0"/>
            <a:ext cx="11155680" cy="868680"/>
          </a:xfrm>
          <a:prstGeom prst="rect">
            <a:avLst/>
          </a:prstGeom>
          <a:solidFill>
            <a:srgbClr val="FFF2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4828032"/>
            <a:ext cx="10881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explicit SET/RES pair on the state bits guarantees mutual exclusivity only if implemented correctly on every transition — a missed RES on the outgoing state bit is a distinct, additional bug class beyond the timer-reset bug.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Debug — 35 min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1115568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of the most common bug:</a:t>
            </a: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RES TON_Red is omitted, TON_Red.ET/.ACC is never explicitly zeroed. Depending on platform, a TON whose IN goes false will typically auto-reset ET to 0 the next scan anyway — but if the same instance is reused or the comparison logic overlaps across the transition scan, stale ET values can cause a short first pulse on the next cycle.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students verify, using the .ACC/ET monitor from Block 3a, that each timer's accumulated value is genuinely 0 at the exact scan its state becomes active again.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specific bug:</a:t>
            </a: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forgetting the RES on the outgoing state bit results in two state bits simultaneously true for one or more scans — two lights could briefly both be active. Ask Option B groups to verify, using live monitoring, that exactly one state bit is true at every point in the cycle, never zero and never two.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curious (not a required debugging target):</a:t>
            </a: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 transition rung and timer-gating rung are evaluated in an order where the state changes mid-scan before the old state's timer rung has run that same scan, some platforms' top-to-bottom single-pass scan order can produce a one-scan glitch depending on rung placement.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2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+ IF FINISHED EARLY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Walkthrough &amp; Extension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 (INT + EQU)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E28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 (3 BOOL bits)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to more states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— one register regardless of state count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Doesn't scale cleanly past a handful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 at 3 states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an EQU comparison per state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readable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Exclusivity bookkeeping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Avoided by design — only one value can equal a comparison target at once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explicit SET/RES bookkeeping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337560"/>
            <a:ext cx="11155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finished early:</a:t>
            </a: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PedestrianBtn input that forces TrafficState to a new interrupt state (e.g. state 3 = all-red + walk-signal) regardless of the current normal-cycle state, then returns to state 0 (Red) after its own TON expires.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an explicit priority check at the top of the rung logic — e.g. testing PedestrianBtn before the normal state-transition rungs — a direct preview of priority/override logic needed in more complex sequencing later.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students: should a pedestrian request interrupt an in-progress Green phase immediately, or be "latched" until the current phase naturally completes? Both are defensible (immediate safety response vs. avoiding an abrupt light change to approaching traffic) — no single correct answer; surfacing that ambiguity is itself a useful discussion for a first exposure to interrupt/override design.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Timers, Counters &amp; Troubleshooting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014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5242</Words>
  <Application>Microsoft Office PowerPoint</Application>
  <PresentationFormat>Widescreen</PresentationFormat>
  <Paragraphs>435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Amin Ahmed.G</cp:lastModifiedBy>
  <cp:revision>2</cp:revision>
  <dcterms:created xsi:type="dcterms:W3CDTF">2026-08-06T08:28:27Z</dcterms:created>
  <dcterms:modified xsi:type="dcterms:W3CDTF">2026-08-06T08:32:23Z</dcterms:modified>
</cp:coreProperties>
</file>